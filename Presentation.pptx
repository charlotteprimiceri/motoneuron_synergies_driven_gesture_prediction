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Lst>
  <p:sldSz cy="5143500" cx="9144000"/>
  <p:notesSz cx="6858000" cy="9144000"/>
  <p:embeddedFontLst>
    <p:embeddedFont>
      <p:font typeface="Roboto"/>
      <p:regular r:id="rId125"/>
      <p:bold r:id="rId126"/>
      <p:italic r:id="rId127"/>
      <p:boldItalic r:id="rId128"/>
    </p:embeddedFont>
    <p:embeddedFont>
      <p:font typeface="Merriweather SemiBold"/>
      <p:regular r:id="rId129"/>
      <p:bold r:id="rId130"/>
      <p:italic r:id="rId131"/>
      <p:boldItalic r:id="rId1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font" Target="fonts/MerriweatherSemiBold-regular.fntdata"/><Relationship Id="rId128" Type="http://schemas.openxmlformats.org/officeDocument/2006/relationships/font" Target="fonts/Roboto-boldItalic.fntdata"/><Relationship Id="rId127" Type="http://schemas.openxmlformats.org/officeDocument/2006/relationships/font" Target="fonts/Roboto-italic.fntdata"/><Relationship Id="rId126" Type="http://schemas.openxmlformats.org/officeDocument/2006/relationships/font" Target="fonts/Roboto-bold.fntdata"/><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font" Target="fonts/Roboto-regular.fntdata"/><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2" Type="http://schemas.openxmlformats.org/officeDocument/2006/relationships/font" Target="fonts/MerriweatherSemiBold-boldItalic.fntdata"/><Relationship Id="rId131" Type="http://schemas.openxmlformats.org/officeDocument/2006/relationships/font" Target="fonts/MerriweatherSemiBold-italic.fntdata"/><Relationship Id="rId130" Type="http://schemas.openxmlformats.org/officeDocument/2006/relationships/font" Target="fonts/MerriweatherSemiBold-bold.fntdata"/><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d0e8cd523b_0_4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a:solidFill>
                  <a:srgbClr val="000000"/>
                </a:solidFill>
                <a:latin typeface="Arial"/>
                <a:ea typeface="Arial"/>
                <a:cs typeface="Arial"/>
                <a:sym typeface="Arial"/>
              </a:rPr>
              <a:t>‹#›</a:t>
            </a:fld>
            <a:endParaRPr/>
          </a:p>
        </p:txBody>
      </p:sp>
      <p:sp>
        <p:nvSpPr>
          <p:cNvPr id="107" name="Google Shape;107;g2d0e8cd523b_0_4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g2d0e8cd523b_0_4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5706b14d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5706b14d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5706b14d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5706b14d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5706b14d4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5706b14d4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59e3a444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59e3a444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592a7dd9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592a7dd9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592a7dd9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592a7dd9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57f53e93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57f53e93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59e3a444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59e3a444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57f53e93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f57f53e93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57f53e93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57f53e93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57f53e93e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f57f53e93e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57f53e9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57f53e9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f57f53e93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f57f53e93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57f53e93e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f57f53e93e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57f53e93e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f57f53e93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57f53e93e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f57f53e93e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59e3a444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f59e3a44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584ffb01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f584ffb01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592a7dd9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f592a7dd9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584ffb01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f584ffb01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f5706b14d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f5706b14d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584ffb01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f584ffb01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5706b14d4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5706b14d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f5706b14d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f5706b14d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9ac9c1936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9ac9c1936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h423cd42505f146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h423cd42505f146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h423cd42505f1469f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h423cd42505f1469f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h423cd42505f1469f_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h423cd42505f1469f_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h546a6574b1fe16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h546a6574b1fe16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h4d6d3e7fa42e294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h4d6d3e7fa42e294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h4d6d3e7fa42e29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h4d6d3e7fa42e29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h48ac2792343cdc1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h48ac2792343cdc1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h48ac2792343cdc1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h48ac2792343cdc1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94c9610eb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94c9610eb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f5706b14d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f5706b14d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f5706b14d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f5706b14d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8c67dfdb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8c67dfdb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8c67dfdb3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8c67dfdb3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8c67dfdb3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8c67dfdb3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8c67dfdb3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8c67dfdb3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94c9610eb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94c9610eb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94c9610eb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94c9610eb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94c9610eb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94c9610eb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8deddb43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8deddb43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8ddb17978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8ddb17978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94c9610eb3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94c9610eb3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8ddb17978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8ddb17978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8ddb1797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8ddb1797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8ddb17978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8ddb17978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8ddb17978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8ddb17978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8deddb43c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8deddb43c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8deddb43c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8deddb43c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8deddb43c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8deddb43c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2f6236ecf3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2f6236ecf3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9ac9c1936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9ac9c1936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8deddb43c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38deddb43c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9ac9c19362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39ac9c1936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9af9b0ac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9af9b0ac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9bb115db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9bb115db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7cfca3d3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7cfca3d3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9ac9c1936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9ac9c1936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9bb115dbfc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9bb115dbfc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88106e02c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88106e02c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88106e02c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88106e02c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88db0c089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88db0c089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87cb580d0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387cb580d0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88db0c089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88db0c089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80f7bccdb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80f7bccdb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87cb580d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87cb580d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87cb580d0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87cb580d0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87cb580d0e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87cb580d0e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88db0c089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388db0c089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8505702b06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8505702b06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89834e6a8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389834e6a8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89834e6a8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89834e6a8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88db0c089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388db0c089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8908b22db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38908b22db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89834e6a8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389834e6a8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8a11ef6b1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8a11ef6b1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8a11ef6b1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38a11ef6b1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8a11ef6b1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38a11ef6b1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8a11ef6b14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38a11ef6b14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89d551cc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89d551cc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8a11ef6b1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38a11ef6b1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8a11ef6b14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38a11ef6b14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8af731a9b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38af731a9b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8af731a9b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38af731a9b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8af731a9b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38af731a9b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8af731a9b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8af731a9b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8b20fdd8d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8b20fdd8d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8b20fdd8d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38b20fdd8d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8b20fdd8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38b20fdd8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8908b22db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8908b22db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9ac9c1936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39ac9c1936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8908b22db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38908b22db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892194a9c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892194a9c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892194a9c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3892194a9c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893266c78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3893266c78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8505702b0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5" name="Google Shape;1005;g38505702b0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8505702b0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8505702b0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8c2fde04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38c2fde04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8908b22db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38908b22db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88106e02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388106e02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88106e02c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388106e02c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7d1c6e30a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37d1c6e30a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88db0c089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388db0c089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80f7bccdb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80f7bccdb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2f2c29b43a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2f2c29b43a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89834e6a8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389834e6a8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892194a9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3892194a9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892194a9c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3892194a9c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892194a9c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3892194a9c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892194a9c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3892194a9c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3892194a9c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3892194a9c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892194a9c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3892194a9c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892194a9c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3892194a9c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38af731a9bd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38af731a9bd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38a11ef6b14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38a11ef6b14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 type="subTitle"/>
          </p:nvPr>
        </p:nvSpPr>
        <p:spPr>
          <a:xfrm>
            <a:off x="1143000" y="2701529"/>
            <a:ext cx="6858000" cy="12417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SzPts val="2400"/>
              <a:buFont typeface="Arial"/>
              <a:buNone/>
              <a:defRPr sz="2400"/>
            </a:lvl1pPr>
            <a:lvl2pPr lvl="1" algn="ctr">
              <a:spcBef>
                <a:spcPts val="400"/>
              </a:spcBef>
              <a:spcAft>
                <a:spcPts val="0"/>
              </a:spcAft>
              <a:buClr>
                <a:srgbClr val="000000"/>
              </a:buClr>
              <a:buSzPts val="2000"/>
              <a:buFont typeface="Arial"/>
              <a:buNone/>
              <a:defRPr sz="2000"/>
            </a:lvl2pPr>
            <a:lvl3pPr lvl="2" algn="ctr">
              <a:spcBef>
                <a:spcPts val="360"/>
              </a:spcBef>
              <a:spcAft>
                <a:spcPts val="0"/>
              </a:spcAft>
              <a:buClr>
                <a:srgbClr val="000000"/>
              </a:buClr>
              <a:buSzPts val="1800"/>
              <a:buFont typeface="Arial"/>
              <a:buNone/>
              <a:defRPr sz="1800"/>
            </a:lvl3pPr>
            <a:lvl4pPr lvl="3" algn="ctr">
              <a:spcBef>
                <a:spcPts val="320"/>
              </a:spcBef>
              <a:spcAft>
                <a:spcPts val="0"/>
              </a:spcAft>
              <a:buClr>
                <a:srgbClr val="000000"/>
              </a:buClr>
              <a:buSzPts val="1600"/>
              <a:buFont typeface="Arial"/>
              <a:buNone/>
              <a:defRPr sz="1600"/>
            </a:lvl4pPr>
            <a:lvl5pPr lvl="4" algn="ctr">
              <a:spcBef>
                <a:spcPts val="320"/>
              </a:spcBef>
              <a:spcAft>
                <a:spcPts val="0"/>
              </a:spcAft>
              <a:buClr>
                <a:srgbClr val="000000"/>
              </a:buClr>
              <a:buSzPts val="1600"/>
              <a:buFont typeface="Arial"/>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2"/>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testo e contenuto" type="txAndObj">
  <p:cSld name="TEXT_AND_OBJECT">
    <p:spTree>
      <p:nvGrpSpPr>
        <p:cNvPr id="20" name="Shape 20"/>
        <p:cNvGrpSpPr/>
        <p:nvPr/>
      </p:nvGrpSpPr>
      <p:grpSpPr>
        <a:xfrm>
          <a:off x="0" y="0"/>
          <a:ext cx="0" cy="0"/>
          <a:chOff x="0" y="0"/>
          <a:chExt cx="0" cy="0"/>
        </a:xfrm>
      </p:grpSpPr>
      <p:sp>
        <p:nvSpPr>
          <p:cNvPr id="21" name="Google Shape;21;p3"/>
          <p:cNvSpPr txBox="1"/>
          <p:nvPr>
            <p:ph type="title"/>
          </p:nvPr>
        </p:nvSpPr>
        <p:spPr>
          <a:xfrm>
            <a:off x="1116013" y="307181"/>
            <a:ext cx="7559700" cy="37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 type="body"/>
          </p:nvPr>
        </p:nvSpPr>
        <p:spPr>
          <a:xfrm>
            <a:off x="1116013" y="1314450"/>
            <a:ext cx="3703500" cy="30861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2" type="body"/>
          </p:nvPr>
        </p:nvSpPr>
        <p:spPr>
          <a:xfrm>
            <a:off x="4972050" y="1314450"/>
            <a:ext cx="3703500" cy="30861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7" name="Shape 27"/>
        <p:cNvGrpSpPr/>
        <p:nvPr/>
      </p:nvGrpSpPr>
      <p:grpSpPr>
        <a:xfrm>
          <a:off x="0" y="0"/>
          <a:ext cx="0" cy="0"/>
          <a:chOff x="0" y="0"/>
          <a:chExt cx="0" cy="0"/>
        </a:xfrm>
      </p:grpSpPr>
      <p:sp>
        <p:nvSpPr>
          <p:cNvPr id="28" name="Google Shape;28;p4"/>
          <p:cNvSpPr txBox="1"/>
          <p:nvPr>
            <p:ph type="title"/>
          </p:nvPr>
        </p:nvSpPr>
        <p:spPr>
          <a:xfrm>
            <a:off x="1116012" y="307181"/>
            <a:ext cx="7559700" cy="37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 type="body"/>
          </p:nvPr>
        </p:nvSpPr>
        <p:spPr>
          <a:xfrm>
            <a:off x="1116012" y="1314450"/>
            <a:ext cx="7559700" cy="30861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abella" type="tbl">
  <p:cSld name="TABLE">
    <p:spTree>
      <p:nvGrpSpPr>
        <p:cNvPr id="33" name="Shape 33"/>
        <p:cNvGrpSpPr/>
        <p:nvPr/>
      </p:nvGrpSpPr>
      <p:grpSpPr>
        <a:xfrm>
          <a:off x="0" y="0"/>
          <a:ext cx="0" cy="0"/>
          <a:chOff x="0" y="0"/>
          <a:chExt cx="0" cy="0"/>
        </a:xfrm>
      </p:grpSpPr>
      <p:sp>
        <p:nvSpPr>
          <p:cNvPr id="34" name="Google Shape;34;p5"/>
          <p:cNvSpPr txBox="1"/>
          <p:nvPr>
            <p:ph type="title"/>
          </p:nvPr>
        </p:nvSpPr>
        <p:spPr>
          <a:xfrm>
            <a:off x="1116013" y="307181"/>
            <a:ext cx="7559700" cy="37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grafico" type="chart">
  <p:cSld name="CHART">
    <p:spTree>
      <p:nvGrpSpPr>
        <p:cNvPr id="38" name="Shape 38"/>
        <p:cNvGrpSpPr/>
        <p:nvPr/>
      </p:nvGrpSpPr>
      <p:grpSpPr>
        <a:xfrm>
          <a:off x="0" y="0"/>
          <a:ext cx="0" cy="0"/>
          <a:chOff x="0" y="0"/>
          <a:chExt cx="0" cy="0"/>
        </a:xfrm>
      </p:grpSpPr>
      <p:sp>
        <p:nvSpPr>
          <p:cNvPr id="39" name="Google Shape;39;p6"/>
          <p:cNvSpPr txBox="1"/>
          <p:nvPr>
            <p:ph type="title"/>
          </p:nvPr>
        </p:nvSpPr>
        <p:spPr>
          <a:xfrm>
            <a:off x="1116013" y="307181"/>
            <a:ext cx="7559700" cy="37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p:nvPr>
            <p:ph idx="2" type="chart"/>
          </p:nvPr>
        </p:nvSpPr>
        <p:spPr>
          <a:xfrm>
            <a:off x="1116013" y="1314450"/>
            <a:ext cx="7559700" cy="3086100"/>
          </a:xfrm>
          <a:prstGeom prst="rect">
            <a:avLst/>
          </a:prstGeom>
          <a:noFill/>
          <a:ln>
            <a:noFill/>
          </a:ln>
        </p:spPr>
        <p:txBody>
          <a:bodyPr anchorCtr="0" anchor="t" bIns="45700" lIns="91425" spcFirstLastPara="1" rIns="91425" wrap="square" tIns="45700">
            <a:noAutofit/>
          </a:bodyPr>
          <a:lstStyle>
            <a:lvl1pPr lvl="0" marR="0" rtl="0" algn="l">
              <a:spcBef>
                <a:spcPts val="480"/>
              </a:spcBef>
              <a:spcAft>
                <a:spcPts val="0"/>
              </a:spcAft>
              <a:buClr>
                <a:srgbClr val="822433"/>
              </a:buClr>
              <a:buSzPts val="2400"/>
              <a:buFont typeface="Arial"/>
              <a:buChar char="•"/>
              <a:defRPr sz="2400">
                <a:solidFill>
                  <a:srgbClr val="000000"/>
                </a:solidFill>
                <a:latin typeface="Arial"/>
                <a:ea typeface="Arial"/>
                <a:cs typeface="Arial"/>
                <a:sym typeface="Arial"/>
              </a:defRPr>
            </a:lvl1pPr>
            <a:lvl2pPr lvl="1" marR="0" rtl="0" algn="l">
              <a:spcBef>
                <a:spcPts val="400"/>
              </a:spcBef>
              <a:spcAft>
                <a:spcPts val="0"/>
              </a:spcAft>
              <a:buClr>
                <a:srgbClr val="000000"/>
              </a:buClr>
              <a:buSzPts val="2000"/>
              <a:buFont typeface="Arial"/>
              <a:buChar char="–"/>
              <a:defRPr b="0" i="0" sz="2000" u="none" cap="none" strike="noStrike">
                <a:solidFill>
                  <a:srgbClr val="000000"/>
                </a:solidFill>
                <a:latin typeface="Arial"/>
                <a:ea typeface="Arial"/>
                <a:cs typeface="Arial"/>
                <a:sym typeface="Arial"/>
              </a:defRPr>
            </a:lvl2pPr>
            <a:lvl3pPr lvl="2" marR="0" rtl="0" algn="l">
              <a:spcBef>
                <a:spcPts val="32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lvl="3" marR="0" rtl="0" algn="l">
              <a:spcBef>
                <a:spcPts val="28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rtl="0" algn="l">
              <a:spcBef>
                <a:spcPts val="24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1" name="Google Shape;41;p6"/>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44" name="Shape 44"/>
        <p:cNvGrpSpPr/>
        <p:nvPr/>
      </p:nvGrpSpPr>
      <p:grpSpPr>
        <a:xfrm>
          <a:off x="0" y="0"/>
          <a:ext cx="0" cy="0"/>
          <a:chOff x="0" y="0"/>
          <a:chExt cx="0" cy="0"/>
        </a:xfrm>
      </p:grpSpPr>
      <p:sp>
        <p:nvSpPr>
          <p:cNvPr id="45" name="Google Shape;45;p7"/>
          <p:cNvSpPr txBox="1"/>
          <p:nvPr>
            <p:ph type="title"/>
          </p:nvPr>
        </p:nvSpPr>
        <p:spPr>
          <a:xfrm rot="5400000">
            <a:off x="5684388" y="1409381"/>
            <a:ext cx="4093500" cy="18891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 type="body"/>
          </p:nvPr>
        </p:nvSpPr>
        <p:spPr>
          <a:xfrm rot="5400000">
            <a:off x="1828313" y="-405169"/>
            <a:ext cx="4093500" cy="5518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50" name="Shape 50"/>
        <p:cNvGrpSpPr/>
        <p:nvPr/>
      </p:nvGrpSpPr>
      <p:grpSpPr>
        <a:xfrm>
          <a:off x="0" y="0"/>
          <a:ext cx="0" cy="0"/>
          <a:chOff x="0" y="0"/>
          <a:chExt cx="0" cy="0"/>
        </a:xfrm>
      </p:grpSpPr>
      <p:sp>
        <p:nvSpPr>
          <p:cNvPr id="51" name="Google Shape;51;p8"/>
          <p:cNvSpPr txBox="1"/>
          <p:nvPr>
            <p:ph type="title"/>
          </p:nvPr>
        </p:nvSpPr>
        <p:spPr>
          <a:xfrm>
            <a:off x="1116012" y="307181"/>
            <a:ext cx="7559700" cy="37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 type="body"/>
          </p:nvPr>
        </p:nvSpPr>
        <p:spPr>
          <a:xfrm rot="5400000">
            <a:off x="3352787" y="-922350"/>
            <a:ext cx="3086100" cy="75597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8"/>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56" name="Shape 56"/>
        <p:cNvGrpSpPr/>
        <p:nvPr/>
      </p:nvGrpSpPr>
      <p:grpSpPr>
        <a:xfrm>
          <a:off x="0" y="0"/>
          <a:ext cx="0" cy="0"/>
          <a:chOff x="0" y="0"/>
          <a:chExt cx="0" cy="0"/>
        </a:xfrm>
      </p:grpSpPr>
      <p:sp>
        <p:nvSpPr>
          <p:cNvPr id="57" name="Google Shape;57;p9"/>
          <p:cNvSpPr txBox="1"/>
          <p:nvPr>
            <p:ph type="title"/>
          </p:nvPr>
        </p:nvSpPr>
        <p:spPr>
          <a:xfrm>
            <a:off x="630238" y="342900"/>
            <a:ext cx="2949600" cy="12003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p:nvPr>
            <p:ph idx="2" type="pic"/>
          </p:nvPr>
        </p:nvSpPr>
        <p:spPr>
          <a:xfrm>
            <a:off x="3887788" y="740569"/>
            <a:ext cx="4629300" cy="3655200"/>
          </a:xfrm>
          <a:prstGeom prst="rect">
            <a:avLst/>
          </a:prstGeom>
          <a:noFill/>
          <a:ln>
            <a:noFill/>
          </a:ln>
        </p:spPr>
      </p:sp>
      <p:sp>
        <p:nvSpPr>
          <p:cNvPr id="59" name="Google Shape;59;p9"/>
          <p:cNvSpPr txBox="1"/>
          <p:nvPr>
            <p:ph idx="1" type="body"/>
          </p:nvPr>
        </p:nvSpPr>
        <p:spPr>
          <a:xfrm>
            <a:off x="630238" y="1543050"/>
            <a:ext cx="2949600" cy="2858700"/>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SzPts val="1600"/>
              <a:buFont typeface="Arial"/>
              <a:buNone/>
              <a:defRPr sz="1600"/>
            </a:lvl1pPr>
            <a:lvl2pPr indent="-228600" lvl="1" marL="914400" algn="l">
              <a:spcBef>
                <a:spcPts val="280"/>
              </a:spcBef>
              <a:spcAft>
                <a:spcPts val="0"/>
              </a:spcAft>
              <a:buClr>
                <a:srgbClr val="000000"/>
              </a:buClr>
              <a:buSzPts val="1400"/>
              <a:buFont typeface="Arial"/>
              <a:buNone/>
              <a:defRPr sz="1400"/>
            </a:lvl2pPr>
            <a:lvl3pPr indent="-228600" lvl="2" marL="1371600" algn="l">
              <a:spcBef>
                <a:spcPts val="240"/>
              </a:spcBef>
              <a:spcAft>
                <a:spcPts val="0"/>
              </a:spcAft>
              <a:buClr>
                <a:srgbClr val="000000"/>
              </a:buClr>
              <a:buSzPts val="1200"/>
              <a:buFont typeface="Arial"/>
              <a:buNone/>
              <a:defRPr sz="1200"/>
            </a:lvl3pPr>
            <a:lvl4pPr indent="-228600" lvl="3" marL="1828800" algn="l">
              <a:spcBef>
                <a:spcPts val="200"/>
              </a:spcBef>
              <a:spcAft>
                <a:spcPts val="0"/>
              </a:spcAft>
              <a:buClr>
                <a:srgbClr val="000000"/>
              </a:buClr>
              <a:buSzPts val="1000"/>
              <a:buFont typeface="Arial"/>
              <a:buNone/>
              <a:defRPr sz="1000"/>
            </a:lvl4pPr>
            <a:lvl5pPr indent="-228600" lvl="4" marL="2286000" algn="l">
              <a:spcBef>
                <a:spcPts val="200"/>
              </a:spcBef>
              <a:spcAft>
                <a:spcPts val="0"/>
              </a:spcAft>
              <a:buClr>
                <a:srgbClr val="000000"/>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9"/>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63" name="Shape 63"/>
        <p:cNvGrpSpPr/>
        <p:nvPr/>
      </p:nvGrpSpPr>
      <p:grpSpPr>
        <a:xfrm>
          <a:off x="0" y="0"/>
          <a:ext cx="0" cy="0"/>
          <a:chOff x="0" y="0"/>
          <a:chExt cx="0" cy="0"/>
        </a:xfrm>
      </p:grpSpPr>
      <p:sp>
        <p:nvSpPr>
          <p:cNvPr id="64" name="Google Shape;64;p10"/>
          <p:cNvSpPr txBox="1"/>
          <p:nvPr>
            <p:ph type="title"/>
          </p:nvPr>
        </p:nvSpPr>
        <p:spPr>
          <a:xfrm>
            <a:off x="630238" y="342900"/>
            <a:ext cx="2949600" cy="12003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 type="body"/>
          </p:nvPr>
        </p:nvSpPr>
        <p:spPr>
          <a:xfrm>
            <a:off x="3887788" y="740569"/>
            <a:ext cx="4629300" cy="3655200"/>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SzPts val="3200"/>
              <a:buFont typeface="Arial"/>
              <a:buChar char="•"/>
              <a:defRPr sz="3200"/>
            </a:lvl1pPr>
            <a:lvl2pPr indent="-406400" lvl="1" marL="914400" algn="l">
              <a:spcBef>
                <a:spcPts val="560"/>
              </a:spcBef>
              <a:spcAft>
                <a:spcPts val="0"/>
              </a:spcAft>
              <a:buClr>
                <a:srgbClr val="000000"/>
              </a:buClr>
              <a:buSzPts val="2800"/>
              <a:buFont typeface="Arial"/>
              <a:buChar char="–"/>
              <a:defRPr sz="2800"/>
            </a:lvl2pPr>
            <a:lvl3pPr indent="-381000" lvl="2" marL="1371600" algn="l">
              <a:spcBef>
                <a:spcPts val="480"/>
              </a:spcBef>
              <a:spcAft>
                <a:spcPts val="0"/>
              </a:spcAft>
              <a:buClr>
                <a:srgbClr val="000000"/>
              </a:buClr>
              <a:buSzPts val="2400"/>
              <a:buFont typeface="Arial"/>
              <a:buChar char="•"/>
              <a:defRPr sz="2400"/>
            </a:lvl3pPr>
            <a:lvl4pPr indent="-355600" lvl="3" marL="1828800" algn="l">
              <a:spcBef>
                <a:spcPts val="400"/>
              </a:spcBef>
              <a:spcAft>
                <a:spcPts val="0"/>
              </a:spcAft>
              <a:buClr>
                <a:srgbClr val="000000"/>
              </a:buClr>
              <a:buSzPts val="2000"/>
              <a:buFont typeface="Arial"/>
              <a:buChar char="–"/>
              <a:defRPr sz="2000"/>
            </a:lvl4pPr>
            <a:lvl5pPr indent="-355600" lvl="4" marL="2286000" algn="l">
              <a:spcBef>
                <a:spcPts val="400"/>
              </a:spcBef>
              <a:spcAft>
                <a:spcPts val="0"/>
              </a:spcAft>
              <a:buClr>
                <a:srgbClr val="000000"/>
              </a:buClr>
              <a:buSzPts val="2000"/>
              <a:buFont typeface="Arial"/>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10"/>
          <p:cNvSpPr txBox="1"/>
          <p:nvPr>
            <p:ph idx="2" type="body"/>
          </p:nvPr>
        </p:nvSpPr>
        <p:spPr>
          <a:xfrm>
            <a:off x="630238" y="1543050"/>
            <a:ext cx="2949600" cy="2858700"/>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SzPts val="1600"/>
              <a:buFont typeface="Arial"/>
              <a:buNone/>
              <a:defRPr sz="1600"/>
            </a:lvl1pPr>
            <a:lvl2pPr indent="-228600" lvl="1" marL="914400" algn="l">
              <a:spcBef>
                <a:spcPts val="280"/>
              </a:spcBef>
              <a:spcAft>
                <a:spcPts val="0"/>
              </a:spcAft>
              <a:buClr>
                <a:srgbClr val="000000"/>
              </a:buClr>
              <a:buSzPts val="1400"/>
              <a:buFont typeface="Arial"/>
              <a:buNone/>
              <a:defRPr sz="1400"/>
            </a:lvl2pPr>
            <a:lvl3pPr indent="-228600" lvl="2" marL="1371600" algn="l">
              <a:spcBef>
                <a:spcPts val="240"/>
              </a:spcBef>
              <a:spcAft>
                <a:spcPts val="0"/>
              </a:spcAft>
              <a:buClr>
                <a:srgbClr val="000000"/>
              </a:buClr>
              <a:buSzPts val="1200"/>
              <a:buFont typeface="Arial"/>
              <a:buNone/>
              <a:defRPr sz="1200"/>
            </a:lvl3pPr>
            <a:lvl4pPr indent="-228600" lvl="3" marL="1828800" algn="l">
              <a:spcBef>
                <a:spcPts val="200"/>
              </a:spcBef>
              <a:spcAft>
                <a:spcPts val="0"/>
              </a:spcAft>
              <a:buClr>
                <a:srgbClr val="000000"/>
              </a:buClr>
              <a:buSzPts val="1000"/>
              <a:buFont typeface="Arial"/>
              <a:buNone/>
              <a:defRPr sz="1000"/>
            </a:lvl4pPr>
            <a:lvl5pPr indent="-228600" lvl="4" marL="2286000" algn="l">
              <a:spcBef>
                <a:spcPts val="200"/>
              </a:spcBef>
              <a:spcAft>
                <a:spcPts val="0"/>
              </a:spcAft>
              <a:buClr>
                <a:srgbClr val="000000"/>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0"/>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0"/>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70" name="Shape 70"/>
        <p:cNvGrpSpPr/>
        <p:nvPr/>
      </p:nvGrpSpPr>
      <p:grpSpPr>
        <a:xfrm>
          <a:off x="0" y="0"/>
          <a:ext cx="0" cy="0"/>
          <a:chOff x="0" y="0"/>
          <a:chExt cx="0" cy="0"/>
        </a:xfrm>
      </p:grpSpPr>
      <p:sp>
        <p:nvSpPr>
          <p:cNvPr id="71" name="Google Shape;71;p11"/>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74" name="Shape 74"/>
        <p:cNvGrpSpPr/>
        <p:nvPr/>
      </p:nvGrpSpPr>
      <p:grpSpPr>
        <a:xfrm>
          <a:off x="0" y="0"/>
          <a:ext cx="0" cy="0"/>
          <a:chOff x="0" y="0"/>
          <a:chExt cx="0" cy="0"/>
        </a:xfrm>
      </p:grpSpPr>
      <p:sp>
        <p:nvSpPr>
          <p:cNvPr id="75" name="Google Shape;75;p12"/>
          <p:cNvSpPr txBox="1"/>
          <p:nvPr>
            <p:ph type="title"/>
          </p:nvPr>
        </p:nvSpPr>
        <p:spPr>
          <a:xfrm>
            <a:off x="1116012" y="307181"/>
            <a:ext cx="7559700" cy="37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2"/>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79" name="Shape 79"/>
        <p:cNvGrpSpPr/>
        <p:nvPr/>
      </p:nvGrpSpPr>
      <p:grpSpPr>
        <a:xfrm>
          <a:off x="0" y="0"/>
          <a:ext cx="0" cy="0"/>
          <a:chOff x="0" y="0"/>
          <a:chExt cx="0" cy="0"/>
        </a:xfrm>
      </p:grpSpPr>
      <p:sp>
        <p:nvSpPr>
          <p:cNvPr id="80" name="Google Shape;80;p13"/>
          <p:cNvSpPr txBox="1"/>
          <p:nvPr>
            <p:ph type="title"/>
          </p:nvPr>
        </p:nvSpPr>
        <p:spPr>
          <a:xfrm>
            <a:off x="630238" y="273844"/>
            <a:ext cx="7886700" cy="994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3"/>
          <p:cNvSpPr txBox="1"/>
          <p:nvPr>
            <p:ph idx="1" type="body"/>
          </p:nvPr>
        </p:nvSpPr>
        <p:spPr>
          <a:xfrm>
            <a:off x="630238" y="1260872"/>
            <a:ext cx="3868800" cy="6180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400"/>
              <a:buFont typeface="Arial"/>
              <a:buNone/>
              <a:defRPr b="1" sz="2400"/>
            </a:lvl1pPr>
            <a:lvl2pPr indent="-228600" lvl="1" marL="914400" algn="l">
              <a:spcBef>
                <a:spcPts val="400"/>
              </a:spcBef>
              <a:spcAft>
                <a:spcPts val="0"/>
              </a:spcAft>
              <a:buClr>
                <a:srgbClr val="000000"/>
              </a:buClr>
              <a:buSzPts val="2000"/>
              <a:buFont typeface="Arial"/>
              <a:buNone/>
              <a:defRPr b="1" sz="2000"/>
            </a:lvl2pPr>
            <a:lvl3pPr indent="-228600" lvl="2" marL="1371600" algn="l">
              <a:spcBef>
                <a:spcPts val="360"/>
              </a:spcBef>
              <a:spcAft>
                <a:spcPts val="0"/>
              </a:spcAft>
              <a:buClr>
                <a:srgbClr val="000000"/>
              </a:buClr>
              <a:buSzPts val="1800"/>
              <a:buFont typeface="Arial"/>
              <a:buNone/>
              <a:defRPr b="1" sz="1800"/>
            </a:lvl3pPr>
            <a:lvl4pPr indent="-228600" lvl="3" marL="1828800" algn="l">
              <a:spcBef>
                <a:spcPts val="320"/>
              </a:spcBef>
              <a:spcAft>
                <a:spcPts val="0"/>
              </a:spcAft>
              <a:buClr>
                <a:srgbClr val="000000"/>
              </a:buClr>
              <a:buSzPts val="1600"/>
              <a:buFont typeface="Arial"/>
              <a:buNone/>
              <a:defRPr b="1" sz="1600"/>
            </a:lvl4pPr>
            <a:lvl5pPr indent="-228600" lvl="4" marL="2286000" algn="l">
              <a:spcBef>
                <a:spcPts val="320"/>
              </a:spcBef>
              <a:spcAft>
                <a:spcPts val="0"/>
              </a:spcAft>
              <a:buClr>
                <a:srgbClr val="000000"/>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2" name="Google Shape;82;p13"/>
          <p:cNvSpPr txBox="1"/>
          <p:nvPr>
            <p:ph idx="2" type="body"/>
          </p:nvPr>
        </p:nvSpPr>
        <p:spPr>
          <a:xfrm>
            <a:off x="630238" y="1878806"/>
            <a:ext cx="3868800" cy="27633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13"/>
          <p:cNvSpPr txBox="1"/>
          <p:nvPr>
            <p:ph idx="3" type="body"/>
          </p:nvPr>
        </p:nvSpPr>
        <p:spPr>
          <a:xfrm>
            <a:off x="4629150" y="1260872"/>
            <a:ext cx="3887700" cy="6180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400"/>
              <a:buFont typeface="Arial"/>
              <a:buNone/>
              <a:defRPr b="1" sz="2400"/>
            </a:lvl1pPr>
            <a:lvl2pPr indent="-228600" lvl="1" marL="914400" algn="l">
              <a:spcBef>
                <a:spcPts val="400"/>
              </a:spcBef>
              <a:spcAft>
                <a:spcPts val="0"/>
              </a:spcAft>
              <a:buClr>
                <a:srgbClr val="000000"/>
              </a:buClr>
              <a:buSzPts val="2000"/>
              <a:buFont typeface="Arial"/>
              <a:buNone/>
              <a:defRPr b="1" sz="2000"/>
            </a:lvl2pPr>
            <a:lvl3pPr indent="-228600" lvl="2" marL="1371600" algn="l">
              <a:spcBef>
                <a:spcPts val="360"/>
              </a:spcBef>
              <a:spcAft>
                <a:spcPts val="0"/>
              </a:spcAft>
              <a:buClr>
                <a:srgbClr val="000000"/>
              </a:buClr>
              <a:buSzPts val="1800"/>
              <a:buFont typeface="Arial"/>
              <a:buNone/>
              <a:defRPr b="1" sz="1800"/>
            </a:lvl3pPr>
            <a:lvl4pPr indent="-228600" lvl="3" marL="1828800" algn="l">
              <a:spcBef>
                <a:spcPts val="320"/>
              </a:spcBef>
              <a:spcAft>
                <a:spcPts val="0"/>
              </a:spcAft>
              <a:buClr>
                <a:srgbClr val="000000"/>
              </a:buClr>
              <a:buSzPts val="1600"/>
              <a:buFont typeface="Arial"/>
              <a:buNone/>
              <a:defRPr b="1" sz="1600"/>
            </a:lvl4pPr>
            <a:lvl5pPr indent="-228600" lvl="4" marL="2286000" algn="l">
              <a:spcBef>
                <a:spcPts val="320"/>
              </a:spcBef>
              <a:spcAft>
                <a:spcPts val="0"/>
              </a:spcAft>
              <a:buClr>
                <a:srgbClr val="000000"/>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4" name="Google Shape;84;p13"/>
          <p:cNvSpPr txBox="1"/>
          <p:nvPr>
            <p:ph idx="4" type="body"/>
          </p:nvPr>
        </p:nvSpPr>
        <p:spPr>
          <a:xfrm>
            <a:off x="4629150" y="1878806"/>
            <a:ext cx="3887700" cy="27633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13"/>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3"/>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3"/>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88" name="Shape 88"/>
        <p:cNvGrpSpPr/>
        <p:nvPr/>
      </p:nvGrpSpPr>
      <p:grpSpPr>
        <a:xfrm>
          <a:off x="0" y="0"/>
          <a:ext cx="0" cy="0"/>
          <a:chOff x="0" y="0"/>
          <a:chExt cx="0" cy="0"/>
        </a:xfrm>
      </p:grpSpPr>
      <p:sp>
        <p:nvSpPr>
          <p:cNvPr id="89" name="Google Shape;89;p14"/>
          <p:cNvSpPr txBox="1"/>
          <p:nvPr>
            <p:ph type="title"/>
          </p:nvPr>
        </p:nvSpPr>
        <p:spPr>
          <a:xfrm>
            <a:off x="1116012" y="307181"/>
            <a:ext cx="7559700" cy="37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4"/>
          <p:cNvSpPr txBox="1"/>
          <p:nvPr>
            <p:ph idx="1" type="body"/>
          </p:nvPr>
        </p:nvSpPr>
        <p:spPr>
          <a:xfrm>
            <a:off x="1116013" y="1314450"/>
            <a:ext cx="3703500" cy="30861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14"/>
          <p:cNvSpPr txBox="1"/>
          <p:nvPr>
            <p:ph idx="2" type="body"/>
          </p:nvPr>
        </p:nvSpPr>
        <p:spPr>
          <a:xfrm>
            <a:off x="4972050" y="1314450"/>
            <a:ext cx="3703500" cy="30861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14"/>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4"/>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4"/>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95" name="Shape 95"/>
        <p:cNvGrpSpPr/>
        <p:nvPr/>
      </p:nvGrpSpPr>
      <p:grpSpPr>
        <a:xfrm>
          <a:off x="0" y="0"/>
          <a:ext cx="0" cy="0"/>
          <a:chOff x="0" y="0"/>
          <a:chExt cx="0" cy="0"/>
        </a:xfrm>
      </p:grpSpPr>
      <p:sp>
        <p:nvSpPr>
          <p:cNvPr id="96" name="Google Shape;96;p15"/>
          <p:cNvSpPr txBox="1"/>
          <p:nvPr>
            <p:ph type="title"/>
          </p:nvPr>
        </p:nvSpPr>
        <p:spPr>
          <a:xfrm>
            <a:off x="623888" y="1282303"/>
            <a:ext cx="7886700" cy="2139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5"/>
          <p:cNvSpPr txBox="1"/>
          <p:nvPr>
            <p:ph idx="1" type="body"/>
          </p:nvPr>
        </p:nvSpPr>
        <p:spPr>
          <a:xfrm>
            <a:off x="623888" y="3442097"/>
            <a:ext cx="7886700" cy="1125000"/>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SzPts val="2400"/>
              <a:buFont typeface="Arial"/>
              <a:buNone/>
              <a:defRPr sz="2400"/>
            </a:lvl1pPr>
            <a:lvl2pPr indent="-228600" lvl="1" marL="914400" algn="l">
              <a:spcBef>
                <a:spcPts val="400"/>
              </a:spcBef>
              <a:spcAft>
                <a:spcPts val="0"/>
              </a:spcAft>
              <a:buClr>
                <a:srgbClr val="000000"/>
              </a:buClr>
              <a:buSzPts val="2000"/>
              <a:buFont typeface="Arial"/>
              <a:buNone/>
              <a:defRPr sz="2000"/>
            </a:lvl2pPr>
            <a:lvl3pPr indent="-228600" lvl="2" marL="1371600" algn="l">
              <a:spcBef>
                <a:spcPts val="360"/>
              </a:spcBef>
              <a:spcAft>
                <a:spcPts val="0"/>
              </a:spcAft>
              <a:buClr>
                <a:srgbClr val="000000"/>
              </a:buClr>
              <a:buSzPts val="1800"/>
              <a:buFont typeface="Arial"/>
              <a:buNone/>
              <a:defRPr sz="1800"/>
            </a:lvl3pPr>
            <a:lvl4pPr indent="-228600" lvl="3" marL="1828800" algn="l">
              <a:spcBef>
                <a:spcPts val="320"/>
              </a:spcBef>
              <a:spcAft>
                <a:spcPts val="0"/>
              </a:spcAft>
              <a:buClr>
                <a:srgbClr val="000000"/>
              </a:buClr>
              <a:buSzPts val="1600"/>
              <a:buFont typeface="Arial"/>
              <a:buNone/>
              <a:defRPr sz="1600"/>
            </a:lvl4pPr>
            <a:lvl5pPr indent="-228600" lvl="4" marL="2286000" algn="l">
              <a:spcBef>
                <a:spcPts val="320"/>
              </a:spcBef>
              <a:spcAft>
                <a:spcPts val="0"/>
              </a:spcAft>
              <a:buClr>
                <a:srgbClr val="000000"/>
              </a:buClr>
              <a:buSzPts val="1600"/>
              <a:buFont typeface="Arial"/>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98" name="Google Shape;98;p15"/>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5"/>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5"/>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1" name="Shape 101"/>
        <p:cNvGrpSpPr/>
        <p:nvPr/>
      </p:nvGrpSpPr>
      <p:grpSpPr>
        <a:xfrm>
          <a:off x="0" y="0"/>
          <a:ext cx="0" cy="0"/>
          <a:chOff x="0" y="0"/>
          <a:chExt cx="0" cy="0"/>
        </a:xfrm>
      </p:grpSpPr>
      <p:sp>
        <p:nvSpPr>
          <p:cNvPr id="102" name="Google Shape;102;p16"/>
          <p:cNvSpPr txBox="1"/>
          <p:nvPr>
            <p:ph type="title"/>
          </p:nvPr>
        </p:nvSpPr>
        <p:spPr>
          <a:xfrm>
            <a:off x="311700" y="445025"/>
            <a:ext cx="8520600" cy="572700"/>
          </a:xfrm>
          <a:prstGeom prst="rect">
            <a:avLst/>
          </a:prstGeom>
        </p:spPr>
        <p:txBody>
          <a:bodyPr anchorCtr="0" anchor="t" bIns="45700" lIns="91425" spcFirstLastPara="1" rIns="91425" wrap="square" tIns="4570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3" name="Google Shape;103;p16"/>
          <p:cNvSpPr txBox="1"/>
          <p:nvPr>
            <p:ph idx="1" type="body"/>
          </p:nvPr>
        </p:nvSpPr>
        <p:spPr>
          <a:xfrm>
            <a:off x="311700" y="1152475"/>
            <a:ext cx="8520600" cy="3416400"/>
          </a:xfrm>
          <a:prstGeom prst="rect">
            <a:avLst/>
          </a:prstGeom>
        </p:spPr>
        <p:txBody>
          <a:bodyPr anchorCtr="0" anchor="t" bIns="45700" lIns="91425" spcFirstLastPara="1" rIns="91425" wrap="square" tIns="45700">
            <a:noAutofit/>
          </a:bodyPr>
          <a:lstStyle>
            <a:lvl1pPr indent="-381000" lvl="0" marL="457200" rtl="0">
              <a:spcBef>
                <a:spcPts val="480"/>
              </a:spcBef>
              <a:spcAft>
                <a:spcPts val="0"/>
              </a:spcAft>
              <a:buSzPts val="2400"/>
              <a:buChar char="•"/>
              <a:defRPr/>
            </a:lvl1pPr>
            <a:lvl2pPr indent="-355600" lvl="1" marL="914400" rtl="0">
              <a:spcBef>
                <a:spcPts val="400"/>
              </a:spcBef>
              <a:spcAft>
                <a:spcPts val="0"/>
              </a:spcAft>
              <a:buSzPts val="2000"/>
              <a:buChar char="–"/>
              <a:defRPr/>
            </a:lvl2pPr>
            <a:lvl3pPr indent="-330200" lvl="2" marL="1371600" rtl="0">
              <a:spcBef>
                <a:spcPts val="320"/>
              </a:spcBef>
              <a:spcAft>
                <a:spcPts val="0"/>
              </a:spcAft>
              <a:buSzPts val="1600"/>
              <a:buChar char="•"/>
              <a:defRPr/>
            </a:lvl3pPr>
            <a:lvl4pPr indent="-317500" lvl="3" marL="1828800" rtl="0">
              <a:spcBef>
                <a:spcPts val="280"/>
              </a:spcBef>
              <a:spcAft>
                <a:spcPts val="0"/>
              </a:spcAft>
              <a:buSzPts val="1400"/>
              <a:buChar char="–"/>
              <a:defRPr/>
            </a:lvl4pPr>
            <a:lvl5pPr indent="-304800" lvl="4" marL="2286000" rtl="0">
              <a:spcBef>
                <a:spcPts val="240"/>
              </a:spcBef>
              <a:spcAft>
                <a:spcPts val="0"/>
              </a:spcAft>
              <a:buSzPts val="1200"/>
              <a:buChar char="»"/>
              <a:defRPr/>
            </a:lvl5pPr>
            <a:lvl6pPr indent="-342900" lvl="5" marL="2743200" rtl="0">
              <a:spcBef>
                <a:spcPts val="500"/>
              </a:spcBef>
              <a:spcAft>
                <a:spcPts val="0"/>
              </a:spcAft>
              <a:buSzPts val="1800"/>
              <a:buChar char="•"/>
              <a:defRPr/>
            </a:lvl6pPr>
            <a:lvl7pPr indent="-342900" lvl="6" marL="3200400" rtl="0">
              <a:spcBef>
                <a:spcPts val="500"/>
              </a:spcBef>
              <a:spcAft>
                <a:spcPts val="0"/>
              </a:spcAft>
              <a:buSzPts val="1800"/>
              <a:buChar char="•"/>
              <a:defRPr/>
            </a:lvl7pPr>
            <a:lvl8pPr indent="-342900" lvl="7" marL="3657600" rtl="0">
              <a:spcBef>
                <a:spcPts val="500"/>
              </a:spcBef>
              <a:spcAft>
                <a:spcPts val="0"/>
              </a:spcAft>
              <a:buSzPts val="1800"/>
              <a:buChar char="•"/>
              <a:defRPr/>
            </a:lvl8pPr>
            <a:lvl9pPr indent="-342900" lvl="8" marL="4114800" rtl="0">
              <a:spcBef>
                <a:spcPts val="500"/>
              </a:spcBef>
              <a:spcAft>
                <a:spcPts val="0"/>
              </a:spcAft>
              <a:buSzPts val="1800"/>
              <a:buChar char="•"/>
              <a:defRPr/>
            </a:lvl9pPr>
          </a:lstStyle>
          <a:p/>
        </p:txBody>
      </p:sp>
      <p:sp>
        <p:nvSpPr>
          <p:cNvPr id="104" name="Google Shape;104;p16"/>
          <p:cNvSpPr txBox="1"/>
          <p:nvPr>
            <p:ph idx="12" type="sldNum"/>
          </p:nvPr>
        </p:nvSpPr>
        <p:spPr>
          <a:xfrm>
            <a:off x="8472458" y="4663217"/>
            <a:ext cx="548700" cy="393600"/>
          </a:xfrm>
          <a:prstGeom prst="rect">
            <a:avLst/>
          </a:prstGeom>
        </p:spPr>
        <p:txBody>
          <a:bodyPr anchorCtr="0" anchor="t" bIns="45700" lIns="91425" spcFirstLastPara="1" rIns="91425" wrap="square" tIns="457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
          <p:cNvGrpSpPr/>
          <p:nvPr/>
        </p:nvGrpSpPr>
        <p:grpSpPr>
          <a:xfrm>
            <a:off x="0" y="4610100"/>
            <a:ext cx="9315450" cy="714375"/>
            <a:chOff x="0" y="3840"/>
            <a:chExt cx="5868" cy="600"/>
          </a:xfrm>
        </p:grpSpPr>
        <p:sp>
          <p:nvSpPr>
            <p:cNvPr id="7" name="Google Shape;7;p1"/>
            <p:cNvSpPr txBox="1"/>
            <p:nvPr/>
          </p:nvSpPr>
          <p:spPr>
            <a:xfrm>
              <a:off x="0" y="4112"/>
              <a:ext cx="5700" cy="300"/>
            </a:xfrm>
            <a:prstGeom prst="rect">
              <a:avLst/>
            </a:prstGeom>
            <a:solidFill>
              <a:srgbClr val="8224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00" u="none">
                <a:solidFill>
                  <a:schemeClr val="lt1"/>
                </a:solidFill>
                <a:latin typeface="Arial"/>
                <a:ea typeface="Arial"/>
                <a:cs typeface="Arial"/>
                <a:sym typeface="Arial"/>
              </a:endParaRPr>
            </a:p>
          </p:txBody>
        </p:sp>
        <p:sp>
          <p:nvSpPr>
            <p:cNvPr id="8" name="Google Shape;8;p1"/>
            <p:cNvSpPr txBox="1"/>
            <p:nvPr/>
          </p:nvSpPr>
          <p:spPr>
            <a:xfrm>
              <a:off x="768" y="3840"/>
              <a:ext cx="5100" cy="600"/>
            </a:xfrm>
            <a:prstGeom prst="rect">
              <a:avLst/>
            </a:prstGeom>
            <a:solidFill>
              <a:srgbClr val="8224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00" u="none">
                <a:solidFill>
                  <a:schemeClr val="lt1"/>
                </a:solidFill>
                <a:latin typeface="Arial"/>
                <a:ea typeface="Arial"/>
                <a:cs typeface="Arial"/>
                <a:sym typeface="Arial"/>
              </a:endParaRPr>
            </a:p>
          </p:txBody>
        </p:sp>
      </p:grpSp>
      <p:sp>
        <p:nvSpPr>
          <p:cNvPr id="9" name="Google Shape;9;p1"/>
          <p:cNvSpPr txBox="1"/>
          <p:nvPr>
            <p:ph type="title"/>
          </p:nvPr>
        </p:nvSpPr>
        <p:spPr>
          <a:xfrm>
            <a:off x="1116012" y="307181"/>
            <a:ext cx="7559700" cy="378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9pPr>
          </a:lstStyle>
          <a:p/>
        </p:txBody>
      </p:sp>
      <p:sp>
        <p:nvSpPr>
          <p:cNvPr id="10" name="Google Shape;10;p1"/>
          <p:cNvSpPr txBox="1"/>
          <p:nvPr>
            <p:ph idx="1" type="body"/>
          </p:nvPr>
        </p:nvSpPr>
        <p:spPr>
          <a:xfrm>
            <a:off x="1116012" y="1314450"/>
            <a:ext cx="7559700" cy="30861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822433"/>
              </a:buClr>
              <a:buSzPts val="2400"/>
              <a:buFont typeface="Arial"/>
              <a:buChar char="•"/>
              <a:defRPr b="0" i="0" sz="2400" u="none" cap="none" strike="noStrike">
                <a:solidFill>
                  <a:srgbClr val="000000"/>
                </a:solidFill>
                <a:latin typeface="Arial"/>
                <a:ea typeface="Arial"/>
                <a:cs typeface="Arial"/>
                <a:sym typeface="Arial"/>
              </a:defRPr>
            </a:lvl1pPr>
            <a:lvl2pPr indent="-355600" lvl="1" marL="914400" marR="0" rtl="0" algn="l">
              <a:spcBef>
                <a:spcPts val="400"/>
              </a:spcBef>
              <a:spcAft>
                <a:spcPts val="0"/>
              </a:spcAft>
              <a:buClr>
                <a:srgbClr val="000000"/>
              </a:buClr>
              <a:buSzPts val="2000"/>
              <a:buFont typeface="Arial"/>
              <a:buChar char="–"/>
              <a:defRPr b="0" i="0" sz="2000" u="none" cap="none" strike="noStrike">
                <a:solidFill>
                  <a:srgbClr val="000000"/>
                </a:solidFill>
                <a:latin typeface="Arial"/>
                <a:ea typeface="Arial"/>
                <a:cs typeface="Arial"/>
                <a:sym typeface="Arial"/>
              </a:defRPr>
            </a:lvl2pPr>
            <a:lvl3pPr indent="-330200" lvl="2" marL="1371600" marR="0" rtl="0" algn="l">
              <a:spcBef>
                <a:spcPts val="32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17500" lvl="3" marL="1828800" marR="0" rtl="0" algn="l">
              <a:spcBef>
                <a:spcPts val="28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04800" lvl="4" marL="2286000" marR="0" rtl="0" algn="l">
              <a:spcBef>
                <a:spcPts val="24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 name="Google Shape;11;p1"/>
          <p:cNvSpPr txBox="1"/>
          <p:nvPr>
            <p:ph idx="10" type="dt"/>
          </p:nvPr>
        </p:nvSpPr>
        <p:spPr>
          <a:xfrm>
            <a:off x="4343400" y="4610100"/>
            <a:ext cx="1905000" cy="3429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1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9pPr>
          </a:lstStyle>
          <a:p/>
        </p:txBody>
      </p:sp>
      <p:sp>
        <p:nvSpPr>
          <p:cNvPr id="12" name="Google Shape;12;p1"/>
          <p:cNvSpPr txBox="1"/>
          <p:nvPr>
            <p:ph idx="11" type="ftr"/>
          </p:nvPr>
        </p:nvSpPr>
        <p:spPr>
          <a:xfrm>
            <a:off x="1219200" y="4610100"/>
            <a:ext cx="28956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1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900" u="none" cap="none" strike="noStrike">
                <a:solidFill>
                  <a:schemeClr val="lt1"/>
                </a:solidFill>
                <a:latin typeface="Arial"/>
                <a:ea typeface="Arial"/>
                <a:cs typeface="Arial"/>
                <a:sym typeface="Arial"/>
              </a:defRPr>
            </a:lvl9pPr>
          </a:lstStyle>
          <a:p/>
        </p:txBody>
      </p:sp>
      <p:sp>
        <p:nvSpPr>
          <p:cNvPr id="13" name="Google Shape;13;p1"/>
          <p:cNvSpPr txBox="1"/>
          <p:nvPr>
            <p:ph idx="12" type="sldNum"/>
          </p:nvPr>
        </p:nvSpPr>
        <p:spPr>
          <a:xfrm>
            <a:off x="6553200" y="4610100"/>
            <a:ext cx="1905000" cy="3429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1pPr>
            <a:lvl2pPr indent="0" lvl="1" marL="0" marR="0" rtl="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2pPr>
            <a:lvl3pPr indent="0" lvl="2" marL="0" marR="0" rtl="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3pPr>
            <a:lvl4pPr indent="0" lvl="3" marL="0" marR="0" rtl="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4pPr>
            <a:lvl5pPr indent="0" lvl="4" marL="0" marR="0" rtl="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5pPr>
            <a:lvl6pPr indent="0" lvl="5" marL="0" marR="0" rtl="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6pPr>
            <a:lvl7pPr indent="0" lvl="6" marL="0" marR="0" rtl="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7pPr>
            <a:lvl8pPr indent="0" lvl="7" marL="0" marR="0" rtl="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8pPr>
            <a:lvl9pPr indent="0" lvl="8" marL="0" marR="0" rtl="0" algn="r">
              <a:lnSpc>
                <a:spcPct val="100000"/>
              </a:lnSpc>
              <a:spcBef>
                <a:spcPts val="0"/>
              </a:spcBef>
              <a:spcAft>
                <a:spcPts val="0"/>
              </a:spcAft>
              <a:buClr>
                <a:schemeClr val="lt1"/>
              </a:buClr>
              <a:buSzPts val="1100"/>
              <a:buFont typeface="Arial"/>
              <a:buNone/>
              <a:defRPr b="0" i="0" sz="1100" u="none">
                <a:solidFill>
                  <a:schemeClr val="lt1"/>
                </a:solidFill>
                <a:latin typeface="Arial"/>
                <a:ea typeface="Arial"/>
                <a:cs typeface="Arial"/>
                <a:sym typeface="Arial"/>
              </a:defRPr>
            </a:lvl9pPr>
          </a:lstStyle>
          <a:p>
            <a:pPr indent="0" lvl="0" marL="0" rtl="0" algn="r">
              <a:spcBef>
                <a:spcPts val="0"/>
              </a:spcBef>
              <a:spcAft>
                <a:spcPts val="0"/>
              </a:spcAft>
              <a:buNone/>
            </a:pPr>
            <a:r>
              <a:rPr lang="it"/>
              <a:t>Pagina </a:t>
            </a:r>
            <a:fld id="{00000000-1234-1234-1234-123412341234}" type="slidenum">
              <a:rPr lang="it"/>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58.png"/><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39.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5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4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32.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7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hyperlink" Target="http://drive.google.com/file/d/1tGXmXNQvAGXXI0pQX5C9OLv6tYgRSWKN/view" TargetMode="External"/><Relationship Id="rId4" Type="http://schemas.openxmlformats.org/officeDocument/2006/relationships/image" Target="../media/image20.jpg"/><Relationship Id="rId5" Type="http://schemas.openxmlformats.org/officeDocument/2006/relationships/hyperlink" Target="http://drive.google.com/file/d/1R0hT_2XXd2tRMfdVX4yrd3XtJljpJcNV/view" TargetMode="External"/><Relationship Id="rId6"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hyperlink" Target="http://drive.google.com/file/d/1-vt2SKoY5w84i5uj-kWFO1kYqjYomK0x/view" TargetMode="External"/><Relationship Id="rId4" Type="http://schemas.openxmlformats.org/officeDocument/2006/relationships/image" Target="../media/image23.jpg"/><Relationship Id="rId5" Type="http://schemas.openxmlformats.org/officeDocument/2006/relationships/hyperlink" Target="http://drive.google.com/file/d/1sjd-OLdMKdxOrv2761a1F1jVq84a1miO/view" TargetMode="External"/><Relationship Id="rId6" Type="http://schemas.openxmlformats.org/officeDocument/2006/relationships/image" Target="../media/image2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hyperlink" Target="http://drive.google.com/file/d/1Nageww6a6_mWCkqbo7DTTmDzoBJqkYEd/view" TargetMode="External"/><Relationship Id="rId4" Type="http://schemas.openxmlformats.org/officeDocument/2006/relationships/image" Target="../media/image19.jpg"/><Relationship Id="rId5" Type="http://schemas.openxmlformats.org/officeDocument/2006/relationships/hyperlink" Target="http://drive.google.com/file/d/1-vt2SKoY5w84i5uj-kWFO1kYqjYomK0x/view" TargetMode="External"/><Relationship Id="rId6"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hyperlink" Target="http://drive.google.com/file/d/1-vt2SKoY5w84i5uj-kWFO1kYqjYomK0x/view" TargetMode="External"/><Relationship Id="rId4" Type="http://schemas.openxmlformats.org/officeDocument/2006/relationships/image" Target="../media/image23.jpg"/><Relationship Id="rId5" Type="http://schemas.openxmlformats.org/officeDocument/2006/relationships/hyperlink" Target="http://drive.google.com/file/d/1ZkH470J3En6wb1nBr-vFvMLx7Mph0NZy/view" TargetMode="External"/><Relationship Id="rId6" Type="http://schemas.openxmlformats.org/officeDocument/2006/relationships/image" Target="../media/image33.jpg"/><Relationship Id="rId7" Type="http://schemas.openxmlformats.org/officeDocument/2006/relationships/hyperlink" Target="http://drive.google.com/file/d/1Kg3Yv4L-m4kZXq9HGMBEZJya356NJJKD/view" TargetMode="External"/><Relationship Id="rId8" Type="http://schemas.openxmlformats.org/officeDocument/2006/relationships/image" Target="../media/image2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hyperlink" Target="http://drive.google.com/file/d/1IyxszG7qLPUIebvHgHEFlHvBxq08H67K/view" TargetMode="External"/><Relationship Id="rId4" Type="http://schemas.openxmlformats.org/officeDocument/2006/relationships/image" Target="../media/image42.jpg"/><Relationship Id="rId5" Type="http://schemas.openxmlformats.org/officeDocument/2006/relationships/hyperlink" Target="http://drive.google.com/file/d/1-vt2SKoY5w84i5uj-kWFO1kYqjYomK0x/view" TargetMode="External"/><Relationship Id="rId6" Type="http://schemas.openxmlformats.org/officeDocument/2006/relationships/image" Target="../media/image2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6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 Id="rId3"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 Id="rId3" Type="http://schemas.openxmlformats.org/officeDocument/2006/relationships/image" Target="../media/image3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 Id="rId3" Type="http://schemas.openxmlformats.org/officeDocument/2006/relationships/image" Target="../media/image5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 Id="rId3" Type="http://schemas.openxmlformats.org/officeDocument/2006/relationships/image" Target="../media/image6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 Id="rId3" Type="http://schemas.openxmlformats.org/officeDocument/2006/relationships/image" Target="../media/image5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 Id="rId3" Type="http://schemas.openxmlformats.org/officeDocument/2006/relationships/image" Target="../media/image5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 Id="rId3" Type="http://schemas.openxmlformats.org/officeDocument/2006/relationships/image" Target="../media/image4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 Id="rId3" Type="http://schemas.openxmlformats.org/officeDocument/2006/relationships/hyperlink" Target="https://pubmed.ncbi.nlm.nih.gov/?term=Capsi-Morales+P&amp;cauthor_id=39813313" TargetMode="External"/><Relationship Id="rId4" Type="http://schemas.openxmlformats.org/officeDocument/2006/relationships/hyperlink" Target="https://pubmed.ncbi.nlm.nih.gov/?term=Barsakcioglu+DY&amp;cauthor_id=39813313" TargetMode="External"/><Relationship Id="rId5" Type="http://schemas.openxmlformats.org/officeDocument/2006/relationships/hyperlink" Target="https://pubmed.ncbi.nlm.nih.gov/?term=Catalano+MG&amp;cauthor_id=39813313" TargetMode="External"/><Relationship Id="rId6" Type="http://schemas.openxmlformats.org/officeDocument/2006/relationships/hyperlink" Target="https://pubmed.ncbi.nlm.nih.gov/?term=Grioli+G&amp;cauthor_id=39813313" TargetMode="External"/><Relationship Id="rId7" Type="http://schemas.openxmlformats.org/officeDocument/2006/relationships/hyperlink" Target="https://pubmed.ncbi.nlm.nih.gov/?term=Bicchi+A&amp;cauthor_id=39813313" TargetMode="External"/><Relationship Id="rId8" Type="http://schemas.openxmlformats.org/officeDocument/2006/relationships/hyperlink" Target="https://pubmed.ncbi.nlm.nih.gov/?term=Farina+D&amp;cauthor_id=39813313"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4.xml"/><Relationship Id="rId3" Type="http://schemas.openxmlformats.org/officeDocument/2006/relationships/image" Target="../media/image47.png"/><Relationship Id="rId4" Type="http://schemas.openxmlformats.org/officeDocument/2006/relationships/image" Target="../media/image52.png"/><Relationship Id="rId5" Type="http://schemas.openxmlformats.org/officeDocument/2006/relationships/image" Target="../media/image5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 Id="rId3" Type="http://schemas.openxmlformats.org/officeDocument/2006/relationships/image" Target="../media/image4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 Id="rId3" Type="http://schemas.openxmlformats.org/officeDocument/2006/relationships/hyperlink" Target="http://www.youtube.com/watch?v=Dx_6Id2clZ0" TargetMode="External"/><Relationship Id="rId4" Type="http://schemas.openxmlformats.org/officeDocument/2006/relationships/image" Target="../media/image44.jpg"/><Relationship Id="rId5" Type="http://schemas.openxmlformats.org/officeDocument/2006/relationships/image" Target="../media/image4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2.xml"/><Relationship Id="rId3" Type="http://schemas.openxmlformats.org/officeDocument/2006/relationships/image" Target="../media/image5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6.xml"/><Relationship Id="rId3" Type="http://schemas.openxmlformats.org/officeDocument/2006/relationships/image" Target="../media/image6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9.xml"/><Relationship Id="rId3" Type="http://schemas.openxmlformats.org/officeDocument/2006/relationships/image" Target="../media/image5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9.xml"/><Relationship Id="rId3" Type="http://schemas.openxmlformats.org/officeDocument/2006/relationships/image" Target="../media/image56.png"/><Relationship Id="rId4" Type="http://schemas.openxmlformats.org/officeDocument/2006/relationships/image" Target="../media/image6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0.xml"/><Relationship Id="rId3" Type="http://schemas.openxmlformats.org/officeDocument/2006/relationships/image" Target="../media/image59.png"/><Relationship Id="rId4" Type="http://schemas.openxmlformats.org/officeDocument/2006/relationships/image" Target="../media/image6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5.xml"/><Relationship Id="rId3" Type="http://schemas.openxmlformats.org/officeDocument/2006/relationships/image" Target="../media/image60.png"/><Relationship Id="rId4" Type="http://schemas.openxmlformats.org/officeDocument/2006/relationships/image" Target="../media/image63.png"/><Relationship Id="rId5" Type="http://schemas.openxmlformats.org/officeDocument/2006/relationships/image" Target="../media/image6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6.xml"/><Relationship Id="rId3" Type="http://schemas.openxmlformats.org/officeDocument/2006/relationships/image" Target="../media/image60.png"/><Relationship Id="rId4" Type="http://schemas.openxmlformats.org/officeDocument/2006/relationships/image" Target="../media/image6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7.xml"/><Relationship Id="rId3" Type="http://schemas.openxmlformats.org/officeDocument/2006/relationships/image" Target="../media/image6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8.xml"/><Relationship Id="rId3" Type="http://schemas.openxmlformats.org/officeDocument/2006/relationships/image" Target="../media/image6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9.xml"/><Relationship Id="rId3" Type="http://schemas.openxmlformats.org/officeDocument/2006/relationships/image" Target="../media/image6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2.xml"/><Relationship Id="rId3" Type="http://schemas.openxmlformats.org/officeDocument/2006/relationships/image" Target="../media/image5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3.xml"/><Relationship Id="rId3" Type="http://schemas.openxmlformats.org/officeDocument/2006/relationships/image" Target="../media/image69.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4.xml"/><Relationship Id="rId3" Type="http://schemas.openxmlformats.org/officeDocument/2006/relationships/image" Target="../media/image69.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5.xml"/><Relationship Id="rId3" Type="http://schemas.openxmlformats.org/officeDocument/2006/relationships/image" Target="../media/image69.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6.xml"/><Relationship Id="rId3" Type="http://schemas.openxmlformats.org/officeDocument/2006/relationships/image" Target="../media/image69.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7.xml"/><Relationship Id="rId3" Type="http://schemas.openxmlformats.org/officeDocument/2006/relationships/image" Target="../media/image7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9.xml"/><Relationship Id="rId3"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09" name="Shape 109"/>
        <p:cNvGrpSpPr/>
        <p:nvPr/>
      </p:nvGrpSpPr>
      <p:grpSpPr>
        <a:xfrm>
          <a:off x="0" y="0"/>
          <a:ext cx="0" cy="0"/>
          <a:chOff x="0" y="0"/>
          <a:chExt cx="0" cy="0"/>
        </a:xfrm>
      </p:grpSpPr>
      <p:sp>
        <p:nvSpPr>
          <p:cNvPr id="110" name="Google Shape;110;p17"/>
          <p:cNvSpPr txBox="1"/>
          <p:nvPr/>
        </p:nvSpPr>
        <p:spPr>
          <a:xfrm>
            <a:off x="0" y="0"/>
            <a:ext cx="9144000" cy="3561900"/>
          </a:xfrm>
          <a:prstGeom prst="rect">
            <a:avLst/>
          </a:prstGeom>
          <a:solidFill>
            <a:srgbClr val="0067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00" u="none">
              <a:solidFill>
                <a:schemeClr val="lt1"/>
              </a:solidFill>
              <a:latin typeface="Arial"/>
              <a:ea typeface="Arial"/>
              <a:cs typeface="Arial"/>
              <a:sym typeface="Arial"/>
            </a:endParaRPr>
          </a:p>
        </p:txBody>
      </p:sp>
      <p:sp>
        <p:nvSpPr>
          <p:cNvPr id="111" name="Google Shape;111;p17"/>
          <p:cNvSpPr txBox="1"/>
          <p:nvPr>
            <p:ph idx="1" type="subTitle"/>
          </p:nvPr>
        </p:nvSpPr>
        <p:spPr>
          <a:xfrm>
            <a:off x="2442562" y="3887028"/>
            <a:ext cx="6138900" cy="5145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400"/>
              <a:buFont typeface="Arial"/>
              <a:buNone/>
            </a:pPr>
            <a:r>
              <a:t/>
            </a:r>
            <a:endParaRPr sz="2400"/>
          </a:p>
        </p:txBody>
      </p:sp>
      <p:sp>
        <p:nvSpPr>
          <p:cNvPr id="112" name="Google Shape;112;p17"/>
          <p:cNvSpPr txBox="1"/>
          <p:nvPr/>
        </p:nvSpPr>
        <p:spPr>
          <a:xfrm>
            <a:off x="2243137" y="4462463"/>
            <a:ext cx="6216600" cy="785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1"/>
              </a:buClr>
              <a:buSzPts val="900"/>
              <a:buFont typeface="Arial"/>
              <a:buNone/>
            </a:pPr>
            <a:r>
              <a:rPr b="0" i="0" lang="it" sz="900" u="none">
                <a:solidFill>
                  <a:schemeClr val="lt1"/>
                </a:solidFill>
                <a:latin typeface="Arial"/>
                <a:ea typeface="Arial"/>
                <a:cs typeface="Arial"/>
                <a:sym typeface="Arial"/>
              </a:rPr>
              <a:t>Tutti i diritti relativi al presente materiale didattico ed al suo contenuto sono riservati a Sapienza e ai suoi autori (o docenti che lo hanno prodotto). È consentito l'uso personale dello stesso da parte dello studente a fini di studio. Ne è vietata nel modo più assoluto la diffusione, duplicazione, cessione, trasmissione, distribuzione a terzi o al pubblico pena le sanzioni applicabili per legge</a:t>
            </a:r>
            <a:endParaRPr/>
          </a:p>
          <a:p>
            <a:pPr indent="0" lvl="0" marL="0" marR="0" rtl="0" algn="l">
              <a:lnSpc>
                <a:spcPct val="100000"/>
              </a:lnSpc>
              <a:spcBef>
                <a:spcPts val="0"/>
              </a:spcBef>
              <a:spcAft>
                <a:spcPts val="0"/>
              </a:spcAft>
              <a:buNone/>
            </a:pPr>
            <a:r>
              <a:t/>
            </a:r>
            <a:endParaRPr b="0" i="0" sz="900" u="none">
              <a:solidFill>
                <a:schemeClr val="lt1"/>
              </a:solidFill>
              <a:latin typeface="Arial"/>
              <a:ea typeface="Arial"/>
              <a:cs typeface="Arial"/>
              <a:sym typeface="Arial"/>
            </a:endParaRPr>
          </a:p>
        </p:txBody>
      </p:sp>
      <p:grpSp>
        <p:nvGrpSpPr>
          <p:cNvPr id="113" name="Google Shape;113;p17"/>
          <p:cNvGrpSpPr/>
          <p:nvPr/>
        </p:nvGrpSpPr>
        <p:grpSpPr>
          <a:xfrm>
            <a:off x="-359219" y="2744650"/>
            <a:ext cx="9503218" cy="3519600"/>
            <a:chOff x="-75" y="1738"/>
            <a:chExt cx="5836" cy="2562"/>
          </a:xfrm>
        </p:grpSpPr>
        <p:pic>
          <p:nvPicPr>
            <p:cNvPr descr="Fondino" id="114" name="Google Shape;114;p17"/>
            <p:cNvPicPr preferRelativeResize="0"/>
            <p:nvPr/>
          </p:nvPicPr>
          <p:blipFill rotWithShape="1">
            <a:blip r:embed="rId3">
              <a:alphaModFix/>
            </a:blip>
            <a:srcRect b="0" l="0" r="0" t="0"/>
            <a:stretch/>
          </p:blipFill>
          <p:spPr>
            <a:xfrm>
              <a:off x="0" y="2018"/>
              <a:ext cx="5761" cy="2282"/>
            </a:xfrm>
            <a:prstGeom prst="rect">
              <a:avLst/>
            </a:prstGeom>
            <a:noFill/>
            <a:ln>
              <a:noFill/>
            </a:ln>
          </p:spPr>
        </p:pic>
        <p:pic>
          <p:nvPicPr>
            <p:cNvPr descr="logo +marchio" id="115" name="Google Shape;115;p17"/>
            <p:cNvPicPr preferRelativeResize="0"/>
            <p:nvPr/>
          </p:nvPicPr>
          <p:blipFill rotWithShape="1">
            <a:blip r:embed="rId4">
              <a:alphaModFix/>
            </a:blip>
            <a:srcRect b="0" l="0" r="0" t="0"/>
            <a:stretch/>
          </p:blipFill>
          <p:spPr>
            <a:xfrm>
              <a:off x="-75" y="2598"/>
              <a:ext cx="5760" cy="722"/>
            </a:xfrm>
            <a:prstGeom prst="rect">
              <a:avLst/>
            </a:prstGeom>
            <a:noFill/>
            <a:ln>
              <a:noFill/>
            </a:ln>
          </p:spPr>
        </p:pic>
        <p:pic>
          <p:nvPicPr>
            <p:cNvPr descr="fascia" id="116" name="Google Shape;116;p17"/>
            <p:cNvPicPr preferRelativeResize="0"/>
            <p:nvPr/>
          </p:nvPicPr>
          <p:blipFill rotWithShape="1">
            <a:blip r:embed="rId5">
              <a:alphaModFix/>
            </a:blip>
            <a:srcRect b="0" l="0" r="0" t="0"/>
            <a:stretch/>
          </p:blipFill>
          <p:spPr>
            <a:xfrm>
              <a:off x="1316" y="1738"/>
              <a:ext cx="4443" cy="422"/>
            </a:xfrm>
            <a:prstGeom prst="rect">
              <a:avLst/>
            </a:prstGeom>
            <a:noFill/>
            <a:ln>
              <a:noFill/>
            </a:ln>
          </p:spPr>
        </p:pic>
      </p:grpSp>
      <p:sp>
        <p:nvSpPr>
          <p:cNvPr id="117" name="Google Shape;117;p17"/>
          <p:cNvSpPr txBox="1"/>
          <p:nvPr/>
        </p:nvSpPr>
        <p:spPr>
          <a:xfrm>
            <a:off x="1984375" y="318200"/>
            <a:ext cx="7380600" cy="17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it" sz="2800">
                <a:solidFill>
                  <a:srgbClr val="FFFFFF"/>
                </a:solidFill>
              </a:rPr>
              <a:t>HAND POSE PREDICTION DRIVEN BY</a:t>
            </a:r>
            <a:endParaRPr b="1" sz="2800">
              <a:solidFill>
                <a:srgbClr val="FFFFFF"/>
              </a:solidFill>
            </a:endParaRPr>
          </a:p>
          <a:p>
            <a:pPr indent="0" lvl="0" marL="0" rtl="0" algn="l">
              <a:spcBef>
                <a:spcPts val="0"/>
              </a:spcBef>
              <a:spcAft>
                <a:spcPts val="0"/>
              </a:spcAft>
              <a:buNone/>
            </a:pPr>
            <a:r>
              <a:rPr b="1" lang="it" sz="2800">
                <a:solidFill>
                  <a:srgbClr val="FFFFFF"/>
                </a:solidFill>
              </a:rPr>
              <a:t>MOTONEURON SYNERGIES</a:t>
            </a:r>
            <a:endParaRPr b="1" sz="2800">
              <a:solidFill>
                <a:srgbClr val="FFFFFF"/>
              </a:solidFill>
            </a:endParaRPr>
          </a:p>
          <a:p>
            <a:pPr indent="0" lvl="0" marL="0" rtl="0" algn="l">
              <a:spcBef>
                <a:spcPts val="0"/>
              </a:spcBef>
              <a:spcAft>
                <a:spcPts val="0"/>
              </a:spcAft>
              <a:buNone/>
            </a:pPr>
            <a:r>
              <a:t/>
            </a:r>
            <a:endParaRPr b="1" sz="2800">
              <a:solidFill>
                <a:srgbClr val="FFFFFF"/>
              </a:solidFill>
            </a:endParaRPr>
          </a:p>
        </p:txBody>
      </p:sp>
      <p:sp>
        <p:nvSpPr>
          <p:cNvPr id="118" name="Google Shape;118;p17"/>
          <p:cNvSpPr txBox="1"/>
          <p:nvPr/>
        </p:nvSpPr>
        <p:spPr>
          <a:xfrm>
            <a:off x="1984375" y="2798675"/>
            <a:ext cx="3764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lt1"/>
                </a:solidFill>
              </a:rPr>
              <a:t>Charlotte Ludovica Primiceri</a:t>
            </a:r>
            <a:endParaRPr sz="1300">
              <a:solidFill>
                <a:schemeClr val="lt1"/>
              </a:solidFill>
            </a:endParaRPr>
          </a:p>
        </p:txBody>
      </p:sp>
      <p:sp>
        <p:nvSpPr>
          <p:cNvPr id="119" name="Google Shape;119;p17"/>
          <p:cNvSpPr txBox="1"/>
          <p:nvPr/>
        </p:nvSpPr>
        <p:spPr>
          <a:xfrm>
            <a:off x="1984375" y="3183575"/>
            <a:ext cx="23793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lt1"/>
                </a:solidFill>
              </a:rPr>
              <a:t>Thesis Supervisor</a:t>
            </a:r>
            <a:endParaRPr sz="1300">
              <a:solidFill>
                <a:schemeClr val="lt1"/>
              </a:solidFill>
            </a:endParaRPr>
          </a:p>
          <a:p>
            <a:pPr indent="0" lvl="0" marL="0" rtl="0" algn="l">
              <a:spcBef>
                <a:spcPts val="0"/>
              </a:spcBef>
              <a:spcAft>
                <a:spcPts val="0"/>
              </a:spcAft>
              <a:buNone/>
            </a:pPr>
            <a:r>
              <a:t/>
            </a:r>
            <a:endParaRPr sz="1300">
              <a:solidFill>
                <a:schemeClr val="lt1"/>
              </a:solidFill>
            </a:endParaRPr>
          </a:p>
          <a:p>
            <a:pPr indent="0" lvl="0" marL="0" rtl="0" algn="l">
              <a:spcBef>
                <a:spcPts val="0"/>
              </a:spcBef>
              <a:spcAft>
                <a:spcPts val="0"/>
              </a:spcAft>
              <a:buNone/>
            </a:pPr>
            <a:r>
              <a:rPr lang="it" sz="1300">
                <a:solidFill>
                  <a:schemeClr val="lt1"/>
                </a:solidFill>
              </a:rPr>
              <a:t>Prof.ssa Marilena Vendittelli</a:t>
            </a:r>
            <a:endParaRPr sz="1300">
              <a:solidFill>
                <a:schemeClr val="lt1"/>
              </a:solidFill>
            </a:endParaRPr>
          </a:p>
          <a:p>
            <a:pPr indent="0" lvl="0" marL="0" rtl="0" algn="l">
              <a:spcBef>
                <a:spcPts val="0"/>
              </a:spcBef>
              <a:spcAft>
                <a:spcPts val="0"/>
              </a:spcAft>
              <a:buNone/>
            </a:pPr>
            <a:r>
              <a:t/>
            </a:r>
            <a:endParaRPr sz="1300">
              <a:solidFill>
                <a:schemeClr val="lt1"/>
              </a:solidFill>
            </a:endParaRPr>
          </a:p>
        </p:txBody>
      </p:sp>
      <p:sp>
        <p:nvSpPr>
          <p:cNvPr id="120" name="Google Shape;120;p17"/>
          <p:cNvSpPr txBox="1"/>
          <p:nvPr/>
        </p:nvSpPr>
        <p:spPr>
          <a:xfrm>
            <a:off x="5049750" y="3183575"/>
            <a:ext cx="36171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lt1"/>
                </a:solidFill>
              </a:rPr>
              <a:t> Co-Advisors</a:t>
            </a:r>
            <a:endParaRPr sz="1300">
              <a:solidFill>
                <a:schemeClr val="lt1"/>
              </a:solidFill>
            </a:endParaRPr>
          </a:p>
          <a:p>
            <a:pPr indent="0" lvl="0" marL="0" rtl="0" algn="l">
              <a:spcBef>
                <a:spcPts val="0"/>
              </a:spcBef>
              <a:spcAft>
                <a:spcPts val="0"/>
              </a:spcAft>
              <a:buNone/>
            </a:pPr>
            <a:r>
              <a:t/>
            </a:r>
            <a:endParaRPr sz="1300">
              <a:solidFill>
                <a:schemeClr val="lt1"/>
              </a:solidFill>
            </a:endParaRPr>
          </a:p>
          <a:p>
            <a:pPr indent="0" lvl="0" marL="0" rtl="0" algn="l">
              <a:spcBef>
                <a:spcPts val="0"/>
              </a:spcBef>
              <a:spcAft>
                <a:spcPts val="0"/>
              </a:spcAft>
              <a:buNone/>
            </a:pPr>
            <a:r>
              <a:rPr lang="it" sz="1300">
                <a:solidFill>
                  <a:schemeClr val="lt1"/>
                </a:solidFill>
              </a:rPr>
              <a:t> Prof.ssa Jlenia Toppi</a:t>
            </a:r>
            <a:endParaRPr sz="1300">
              <a:solidFill>
                <a:schemeClr val="lt1"/>
              </a:solidFill>
            </a:endParaRPr>
          </a:p>
          <a:p>
            <a:pPr indent="0" lvl="0" marL="0" rtl="0" algn="l">
              <a:spcBef>
                <a:spcPts val="0"/>
              </a:spcBef>
              <a:spcAft>
                <a:spcPts val="0"/>
              </a:spcAft>
              <a:buNone/>
            </a:pPr>
            <a:r>
              <a:rPr lang="it" sz="1300">
                <a:solidFill>
                  <a:schemeClr val="lt1"/>
                </a:solidFill>
              </a:rPr>
              <a:t> Dott.ssa Emma Colamarino</a:t>
            </a:r>
            <a:endParaRPr sz="1300">
              <a:solidFill>
                <a:schemeClr val="lt1"/>
              </a:solidFill>
            </a:endParaRPr>
          </a:p>
          <a:p>
            <a:pPr indent="0" lvl="0" marL="0" rtl="0" algn="l">
              <a:spcBef>
                <a:spcPts val="0"/>
              </a:spcBef>
              <a:spcAft>
                <a:spcPts val="0"/>
              </a:spcAft>
              <a:buNone/>
            </a:pPr>
            <a:r>
              <a:rPr lang="it" sz="1300">
                <a:solidFill>
                  <a:schemeClr val="lt1"/>
                </a:solidFill>
              </a:rPr>
              <a:t> Dr. Emanuele De Santis</a:t>
            </a:r>
            <a:endParaRPr sz="1300">
              <a:solidFill>
                <a:schemeClr val="lt1"/>
              </a:solidFill>
            </a:endParaRPr>
          </a:p>
        </p:txBody>
      </p:sp>
      <p:sp>
        <p:nvSpPr>
          <p:cNvPr id="121" name="Google Shape;121;p17"/>
          <p:cNvSpPr txBox="1"/>
          <p:nvPr/>
        </p:nvSpPr>
        <p:spPr>
          <a:xfrm>
            <a:off x="5100550" y="2798600"/>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lt1"/>
                </a:solidFill>
              </a:rPr>
              <a:t>A.A. 25/26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Transradial Post Stroke Rehabilitation Solutions</a:t>
            </a:r>
            <a:endParaRPr>
              <a:solidFill>
                <a:schemeClr val="dk1"/>
              </a:solidFill>
            </a:endParaRPr>
          </a:p>
        </p:txBody>
      </p:sp>
      <p:sp>
        <p:nvSpPr>
          <p:cNvPr id="127" name="Google Shape;127;p18"/>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
        <p:nvSpPr>
          <p:cNvPr id="128" name="Google Shape;128;p18"/>
          <p:cNvSpPr txBox="1"/>
          <p:nvPr/>
        </p:nvSpPr>
        <p:spPr>
          <a:xfrm>
            <a:off x="912675" y="3705613"/>
            <a:ext cx="4419300" cy="7131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sEMG ENABLES INTENTION DRIVEN CONTROL </a:t>
            </a:r>
            <a:endParaRPr b="1" sz="1260">
              <a:solidFill>
                <a:schemeClr val="dk1"/>
              </a:solidFill>
            </a:endParaRPr>
          </a:p>
          <a:p>
            <a:pPr indent="0" lvl="0" marL="0" rtl="0" algn="ctr">
              <a:lnSpc>
                <a:spcPct val="130000"/>
              </a:lnSpc>
              <a:spcBef>
                <a:spcPts val="480"/>
              </a:spcBef>
              <a:spcAft>
                <a:spcPts val="0"/>
              </a:spcAft>
              <a:buNone/>
            </a:pPr>
            <a:r>
              <a:rPr b="1" lang="it" sz="1260">
                <a:solidFill>
                  <a:schemeClr val="dk1"/>
                </a:solidFill>
              </a:rPr>
              <a:t>⇒ Real Time Responsiveness &lt; 300 ms</a:t>
            </a:r>
            <a:endParaRPr b="1" sz="1260">
              <a:solidFill>
                <a:schemeClr val="dk1"/>
              </a:solidFill>
            </a:endParaRPr>
          </a:p>
          <a:p>
            <a:pPr indent="0" lvl="0" marL="0" rtl="0" algn="ctr">
              <a:lnSpc>
                <a:spcPct val="130000"/>
              </a:lnSpc>
              <a:spcBef>
                <a:spcPts val="480"/>
              </a:spcBef>
              <a:spcAft>
                <a:spcPts val="0"/>
              </a:spcAft>
              <a:buNone/>
            </a:pPr>
            <a:r>
              <a:t/>
            </a:r>
            <a:endParaRPr sz="1260"/>
          </a:p>
        </p:txBody>
      </p:sp>
      <p:sp>
        <p:nvSpPr>
          <p:cNvPr id="129" name="Google Shape;129;p18"/>
          <p:cNvSpPr txBox="1"/>
          <p:nvPr/>
        </p:nvSpPr>
        <p:spPr>
          <a:xfrm>
            <a:off x="404325" y="3124350"/>
            <a:ext cx="5436000" cy="443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550"/>
              <a:t>Fig.1  “</a:t>
            </a:r>
            <a:r>
              <a:rPr i="1" lang="it" sz="550"/>
              <a:t>Maximizing stroke recovery with advanced technologies: A comprehensive assessment of robot-assisted, emg-controlled robotics, virtual reality, and mirror therapy interventions</a:t>
            </a:r>
            <a:r>
              <a:rPr lang="it" sz="550"/>
              <a:t>” Amin et al., 2024</a:t>
            </a:r>
            <a:endParaRPr sz="550"/>
          </a:p>
          <a:p>
            <a:pPr indent="0" lvl="0" marL="0" rtl="0" algn="l">
              <a:lnSpc>
                <a:spcPct val="130000"/>
              </a:lnSpc>
              <a:spcBef>
                <a:spcPts val="480"/>
              </a:spcBef>
              <a:spcAft>
                <a:spcPts val="0"/>
              </a:spcAft>
              <a:buNone/>
            </a:pPr>
            <a:r>
              <a:t/>
            </a:r>
            <a:endParaRPr sz="550"/>
          </a:p>
        </p:txBody>
      </p:sp>
      <p:pic>
        <p:nvPicPr>
          <p:cNvPr id="130" name="Google Shape;130;p18"/>
          <p:cNvPicPr preferRelativeResize="0"/>
          <p:nvPr/>
        </p:nvPicPr>
        <p:blipFill>
          <a:blip r:embed="rId3">
            <a:alphaModFix/>
          </a:blip>
          <a:stretch>
            <a:fillRect/>
          </a:stretch>
        </p:blipFill>
        <p:spPr>
          <a:xfrm>
            <a:off x="404325" y="1004900"/>
            <a:ext cx="5566190" cy="2038400"/>
          </a:xfrm>
          <a:prstGeom prst="rect">
            <a:avLst/>
          </a:prstGeom>
          <a:noFill/>
          <a:ln>
            <a:noFill/>
          </a:ln>
        </p:spPr>
      </p:pic>
      <p:pic>
        <p:nvPicPr>
          <p:cNvPr id="131" name="Google Shape;131;p18" title="electrodereference.png"/>
          <p:cNvPicPr preferRelativeResize="0"/>
          <p:nvPr/>
        </p:nvPicPr>
        <p:blipFill rotWithShape="1">
          <a:blip r:embed="rId4">
            <a:alphaModFix/>
          </a:blip>
          <a:srcRect b="53629" l="1907" r="40641" t="2625"/>
          <a:stretch/>
        </p:blipFill>
        <p:spPr>
          <a:xfrm>
            <a:off x="6486465" y="1001513"/>
            <a:ext cx="2175472" cy="960739"/>
          </a:xfrm>
          <a:prstGeom prst="rect">
            <a:avLst/>
          </a:prstGeom>
          <a:noFill/>
          <a:ln>
            <a:noFill/>
          </a:ln>
        </p:spPr>
      </p:pic>
      <p:sp>
        <p:nvSpPr>
          <p:cNvPr id="132" name="Google Shape;132;p18"/>
          <p:cNvSpPr txBox="1"/>
          <p:nvPr/>
        </p:nvSpPr>
        <p:spPr>
          <a:xfrm>
            <a:off x="6468400" y="2403635"/>
            <a:ext cx="2211600" cy="357600"/>
          </a:xfrm>
          <a:prstGeom prst="rect">
            <a:avLst/>
          </a:prstGeom>
          <a:noFill/>
          <a:ln cap="flat" cmpd="sng" w="9525">
            <a:solidFill>
              <a:schemeClr val="dk1"/>
            </a:solidFill>
            <a:prstDash val="solid"/>
            <a:round/>
            <a:headEnd len="sm" w="sm" type="none"/>
            <a:tailEnd len="sm" w="sm" type="none"/>
          </a:ln>
        </p:spPr>
        <p:txBody>
          <a:bodyPr anchorCtr="0" anchor="t" bIns="86700" lIns="86700" spcFirstLastPara="1" rIns="86700" wrap="square" tIns="86700">
            <a:spAutoFit/>
          </a:bodyPr>
          <a:lstStyle/>
          <a:p>
            <a:pPr indent="0" lvl="0" marL="0" rtl="0" algn="ctr">
              <a:spcBef>
                <a:spcPts val="0"/>
              </a:spcBef>
              <a:spcAft>
                <a:spcPts val="0"/>
              </a:spcAft>
              <a:buNone/>
            </a:pPr>
            <a:r>
              <a:rPr b="1" lang="it" sz="1185">
                <a:solidFill>
                  <a:schemeClr val="dk1"/>
                </a:solidFill>
              </a:rPr>
              <a:t>Deep Regression </a:t>
            </a:r>
            <a:r>
              <a:rPr b="1" lang="it" sz="1185">
                <a:solidFill>
                  <a:schemeClr val="dk1"/>
                </a:solidFill>
              </a:rPr>
              <a:t>Model </a:t>
            </a:r>
            <a:endParaRPr sz="1185"/>
          </a:p>
        </p:txBody>
      </p:sp>
      <p:cxnSp>
        <p:nvCxnSpPr>
          <p:cNvPr id="133" name="Google Shape;133;p18"/>
          <p:cNvCxnSpPr>
            <a:stCxn id="131" idx="2"/>
            <a:endCxn id="132" idx="0"/>
          </p:cNvCxnSpPr>
          <p:nvPr/>
        </p:nvCxnSpPr>
        <p:spPr>
          <a:xfrm>
            <a:off x="7574201" y="1962251"/>
            <a:ext cx="0" cy="441300"/>
          </a:xfrm>
          <a:prstGeom prst="straightConnector1">
            <a:avLst/>
          </a:prstGeom>
          <a:noFill/>
          <a:ln cap="flat" cmpd="sng" w="9025">
            <a:solidFill>
              <a:schemeClr val="dk2"/>
            </a:solidFill>
            <a:prstDash val="solid"/>
            <a:round/>
            <a:headEnd len="med" w="med" type="none"/>
            <a:tailEnd len="med" w="med" type="triangle"/>
          </a:ln>
        </p:spPr>
      </p:cxnSp>
      <p:cxnSp>
        <p:nvCxnSpPr>
          <p:cNvPr id="134" name="Google Shape;134;p18"/>
          <p:cNvCxnSpPr>
            <a:stCxn id="132" idx="2"/>
            <a:endCxn id="135" idx="0"/>
          </p:cNvCxnSpPr>
          <p:nvPr/>
        </p:nvCxnSpPr>
        <p:spPr>
          <a:xfrm>
            <a:off x="7574200" y="2761235"/>
            <a:ext cx="0" cy="563100"/>
          </a:xfrm>
          <a:prstGeom prst="straightConnector1">
            <a:avLst/>
          </a:prstGeom>
          <a:noFill/>
          <a:ln cap="flat" cmpd="sng" w="9025">
            <a:solidFill>
              <a:schemeClr val="dk2"/>
            </a:solidFill>
            <a:prstDash val="solid"/>
            <a:round/>
            <a:headEnd len="med" w="med" type="none"/>
            <a:tailEnd len="med" w="med" type="triangle"/>
          </a:ln>
        </p:spPr>
      </p:cxnSp>
      <p:pic>
        <p:nvPicPr>
          <p:cNvPr id="135" name="Google Shape;135;p18" title="Screenshot from 2026-07-22 21-57-00.png"/>
          <p:cNvPicPr preferRelativeResize="0"/>
          <p:nvPr/>
        </p:nvPicPr>
        <p:blipFill>
          <a:blip r:embed="rId5">
            <a:alphaModFix/>
          </a:blip>
          <a:stretch>
            <a:fillRect/>
          </a:stretch>
        </p:blipFill>
        <p:spPr>
          <a:xfrm>
            <a:off x="6846579" y="3324226"/>
            <a:ext cx="1455234" cy="1018345"/>
          </a:xfrm>
          <a:prstGeom prst="rect">
            <a:avLst/>
          </a:prstGeom>
          <a:noFill/>
          <a:ln>
            <a:noFill/>
          </a:ln>
        </p:spPr>
      </p:pic>
      <p:sp>
        <p:nvSpPr>
          <p:cNvPr id="136" name="Google Shape;136;p18"/>
          <p:cNvSpPr txBox="1"/>
          <p:nvPr/>
        </p:nvSpPr>
        <p:spPr>
          <a:xfrm>
            <a:off x="7639050" y="2055525"/>
            <a:ext cx="899700" cy="22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480"/>
              </a:spcBef>
              <a:spcAft>
                <a:spcPts val="0"/>
              </a:spcAft>
              <a:buNone/>
            </a:pPr>
            <a:r>
              <a:rPr lang="it" sz="800">
                <a:solidFill>
                  <a:schemeClr val="dk1"/>
                </a:solidFill>
              </a:rPr>
              <a:t>sEMG Features</a:t>
            </a:r>
            <a:endParaRPr sz="800">
              <a:solidFill>
                <a:schemeClr val="dk1"/>
              </a:solidFill>
            </a:endParaRPr>
          </a:p>
          <a:p>
            <a:pPr indent="0" lvl="0" marL="457200" rtl="0" algn="l">
              <a:lnSpc>
                <a:spcPct val="130000"/>
              </a:lnSpc>
              <a:spcBef>
                <a:spcPts val="480"/>
              </a:spcBef>
              <a:spcAft>
                <a:spcPts val="0"/>
              </a:spcAft>
              <a:buNone/>
            </a:pPr>
            <a:r>
              <a:t/>
            </a:r>
            <a:endParaRPr sz="800">
              <a:solidFill>
                <a:schemeClr val="dk1"/>
              </a:solidFill>
            </a:endParaRPr>
          </a:p>
        </p:txBody>
      </p:sp>
      <p:sp>
        <p:nvSpPr>
          <p:cNvPr id="137" name="Google Shape;137;p18"/>
          <p:cNvSpPr txBox="1"/>
          <p:nvPr/>
        </p:nvSpPr>
        <p:spPr>
          <a:xfrm>
            <a:off x="7574200" y="2888825"/>
            <a:ext cx="1287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rPr>
              <a:t>Continuous Joint Angles</a:t>
            </a:r>
            <a:endParaRPr sz="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From Traditional Pattern Recognition to HD-sEMG</a:t>
            </a:r>
            <a:endParaRPr>
              <a:solidFill>
                <a:schemeClr val="dk1"/>
              </a:solidFill>
            </a:endParaRPr>
          </a:p>
        </p:txBody>
      </p:sp>
      <p:sp>
        <p:nvSpPr>
          <p:cNvPr id="143" name="Google Shape;143;p19"/>
          <p:cNvSpPr txBox="1"/>
          <p:nvPr/>
        </p:nvSpPr>
        <p:spPr>
          <a:xfrm>
            <a:off x="4305275" y="3698325"/>
            <a:ext cx="3896700" cy="338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550"/>
              <a:t>Fig.2 “</a:t>
            </a:r>
            <a:r>
              <a:rPr i="1" lang="it" sz="550"/>
              <a:t>Blind source identification from the multichannel surface electromyogram</a:t>
            </a:r>
            <a:r>
              <a:rPr lang="it" sz="550"/>
              <a:t>” Holobar and Farina (2014)</a:t>
            </a:r>
            <a:endParaRPr sz="550"/>
          </a:p>
          <a:p>
            <a:pPr indent="0" lvl="0" marL="0" rtl="0" algn="l">
              <a:lnSpc>
                <a:spcPct val="130000"/>
              </a:lnSpc>
              <a:spcBef>
                <a:spcPts val="480"/>
              </a:spcBef>
              <a:spcAft>
                <a:spcPts val="0"/>
              </a:spcAft>
              <a:buNone/>
            </a:pPr>
            <a:r>
              <a:t/>
            </a:r>
            <a:endParaRPr sz="550"/>
          </a:p>
        </p:txBody>
      </p:sp>
      <p:pic>
        <p:nvPicPr>
          <p:cNvPr id="144" name="Google Shape;144;p19" title="ConvolutiveEMG.png"/>
          <p:cNvPicPr preferRelativeResize="0"/>
          <p:nvPr/>
        </p:nvPicPr>
        <p:blipFill>
          <a:blip r:embed="rId3">
            <a:alphaModFix/>
          </a:blip>
          <a:stretch>
            <a:fillRect/>
          </a:stretch>
        </p:blipFill>
        <p:spPr>
          <a:xfrm>
            <a:off x="4305275" y="939213"/>
            <a:ext cx="4686326" cy="2759119"/>
          </a:xfrm>
          <a:prstGeom prst="rect">
            <a:avLst/>
          </a:prstGeom>
          <a:noFill/>
          <a:ln>
            <a:noFill/>
          </a:ln>
        </p:spPr>
      </p:pic>
      <p:sp>
        <p:nvSpPr>
          <p:cNvPr id="145" name="Google Shape;145;p19"/>
          <p:cNvSpPr txBox="1"/>
          <p:nvPr/>
        </p:nvSpPr>
        <p:spPr>
          <a:xfrm>
            <a:off x="311700" y="827952"/>
            <a:ext cx="3683100" cy="1861800"/>
          </a:xfrm>
          <a:prstGeom prst="rect">
            <a:avLst/>
          </a:prstGeom>
          <a:noFill/>
          <a:ln>
            <a:noFill/>
          </a:ln>
        </p:spPr>
        <p:txBody>
          <a:bodyPr anchorCtr="0" anchor="t" bIns="91425" lIns="91425" spcFirstLastPara="1" rIns="91425" wrap="square" tIns="91425">
            <a:noAutofit/>
          </a:bodyPr>
          <a:lstStyle/>
          <a:p>
            <a:pPr indent="-314325" lvl="0" marL="457200" rtl="0" algn="l">
              <a:lnSpc>
                <a:spcPct val="130000"/>
              </a:lnSpc>
              <a:spcBef>
                <a:spcPts val="480"/>
              </a:spcBef>
              <a:spcAft>
                <a:spcPts val="0"/>
              </a:spcAft>
              <a:buClr>
                <a:schemeClr val="dk1"/>
              </a:buClr>
              <a:buSzPts val="1350"/>
              <a:buChar char="➔"/>
            </a:pPr>
            <a:r>
              <a:rPr b="1" lang="it" sz="1350">
                <a:solidFill>
                  <a:schemeClr val="dk1"/>
                </a:solidFill>
              </a:rPr>
              <a:t>Sparse sEMG Pattern Recognition </a:t>
            </a:r>
            <a:endParaRPr b="1" sz="1350">
              <a:solidFill>
                <a:schemeClr val="dk1"/>
              </a:solidFill>
            </a:endParaRPr>
          </a:p>
          <a:p>
            <a:pPr indent="0" lvl="0" marL="457200" rtl="0" algn="l">
              <a:lnSpc>
                <a:spcPct val="130000"/>
              </a:lnSpc>
              <a:spcBef>
                <a:spcPts val="480"/>
              </a:spcBef>
              <a:spcAft>
                <a:spcPts val="0"/>
              </a:spcAft>
              <a:buNone/>
            </a:pPr>
            <a:r>
              <a:rPr lang="it" sz="1150">
                <a:solidFill>
                  <a:srgbClr val="1A1A1A"/>
                </a:solidFill>
              </a:rPr>
              <a:t>- </a:t>
            </a:r>
            <a:r>
              <a:rPr lang="it" sz="1150">
                <a:solidFill>
                  <a:srgbClr val="1A1A1A"/>
                </a:solidFill>
              </a:rPr>
              <a:t>Time/Frequency Features Extraction</a:t>
            </a:r>
            <a:endParaRPr sz="1150">
              <a:solidFill>
                <a:srgbClr val="1A1A1A"/>
              </a:solidFill>
            </a:endParaRPr>
          </a:p>
          <a:p>
            <a:pPr indent="0" lvl="0" marL="457200" rtl="0" algn="l">
              <a:lnSpc>
                <a:spcPct val="130000"/>
              </a:lnSpc>
              <a:spcBef>
                <a:spcPts val="480"/>
              </a:spcBef>
              <a:spcAft>
                <a:spcPts val="0"/>
              </a:spcAft>
              <a:buNone/>
            </a:pPr>
            <a:r>
              <a:rPr lang="it" sz="1150">
                <a:solidFill>
                  <a:srgbClr val="1A1A1A"/>
                </a:solidFill>
              </a:rPr>
              <a:t>- Macroscopic Averaged Representation   </a:t>
            </a:r>
            <a:endParaRPr sz="1150">
              <a:solidFill>
                <a:srgbClr val="1A1A1A"/>
              </a:solidFill>
            </a:endParaRPr>
          </a:p>
          <a:p>
            <a:pPr indent="0" lvl="0" marL="457200" rtl="0" algn="l">
              <a:lnSpc>
                <a:spcPct val="130000"/>
              </a:lnSpc>
              <a:spcBef>
                <a:spcPts val="480"/>
              </a:spcBef>
              <a:spcAft>
                <a:spcPts val="0"/>
              </a:spcAft>
              <a:buNone/>
            </a:pPr>
            <a:r>
              <a:rPr lang="it" sz="1150">
                <a:solidFill>
                  <a:srgbClr val="1A1A1A"/>
                </a:solidFill>
              </a:rPr>
              <a:t>  of Muscle Activity</a:t>
            </a:r>
            <a:endParaRPr sz="1150">
              <a:solidFill>
                <a:srgbClr val="1A1A1A"/>
              </a:solidFill>
            </a:endParaRPr>
          </a:p>
          <a:p>
            <a:pPr indent="0" lvl="0" marL="457200" rtl="0" algn="l">
              <a:lnSpc>
                <a:spcPct val="130000"/>
              </a:lnSpc>
              <a:spcBef>
                <a:spcPts val="480"/>
              </a:spcBef>
              <a:spcAft>
                <a:spcPts val="0"/>
              </a:spcAft>
              <a:buNone/>
            </a:pPr>
            <a:r>
              <a:rPr lang="it" sz="1150">
                <a:solidFill>
                  <a:srgbClr val="1A1A1A"/>
                </a:solidFill>
              </a:rPr>
              <a:t>- Steady Contractions</a:t>
            </a:r>
            <a:endParaRPr sz="1150">
              <a:solidFill>
                <a:srgbClr val="1A1A1A"/>
              </a:solidFill>
            </a:endParaRPr>
          </a:p>
          <a:p>
            <a:pPr indent="0" lvl="0" marL="457200" rtl="0" algn="l">
              <a:lnSpc>
                <a:spcPct val="130000"/>
              </a:lnSpc>
              <a:spcBef>
                <a:spcPts val="480"/>
              </a:spcBef>
              <a:spcAft>
                <a:spcPts val="0"/>
              </a:spcAft>
              <a:buNone/>
            </a:pPr>
            <a:r>
              <a:t/>
            </a:r>
            <a:endParaRPr b="1" sz="1250">
              <a:solidFill>
                <a:srgbClr val="1A1A1A"/>
              </a:solidFill>
            </a:endParaRPr>
          </a:p>
          <a:p>
            <a:pPr indent="0" lvl="0" marL="457200" rtl="0" algn="l">
              <a:lnSpc>
                <a:spcPct val="130000"/>
              </a:lnSpc>
              <a:spcBef>
                <a:spcPts val="480"/>
              </a:spcBef>
              <a:spcAft>
                <a:spcPts val="0"/>
              </a:spcAft>
              <a:buNone/>
            </a:pPr>
            <a:r>
              <a:t/>
            </a:r>
            <a:endParaRPr b="1" sz="1250">
              <a:solidFill>
                <a:srgbClr val="1A1A1A"/>
              </a:solidFill>
            </a:endParaRPr>
          </a:p>
          <a:p>
            <a:pPr indent="0" lvl="0" marL="0" rtl="0" algn="l">
              <a:lnSpc>
                <a:spcPct val="130000"/>
              </a:lnSpc>
              <a:spcBef>
                <a:spcPts val="480"/>
              </a:spcBef>
              <a:spcAft>
                <a:spcPts val="0"/>
              </a:spcAft>
              <a:buNone/>
            </a:pPr>
            <a:r>
              <a:t/>
            </a:r>
            <a:endParaRPr sz="1250"/>
          </a:p>
        </p:txBody>
      </p:sp>
      <p:sp>
        <p:nvSpPr>
          <p:cNvPr id="146" name="Google Shape;146;p19"/>
          <p:cNvSpPr txBox="1"/>
          <p:nvPr/>
        </p:nvSpPr>
        <p:spPr>
          <a:xfrm>
            <a:off x="311700" y="2634296"/>
            <a:ext cx="3683100" cy="753600"/>
          </a:xfrm>
          <a:prstGeom prst="rect">
            <a:avLst/>
          </a:prstGeom>
          <a:noFill/>
          <a:ln>
            <a:noFill/>
          </a:ln>
        </p:spPr>
        <p:txBody>
          <a:bodyPr anchorCtr="0" anchor="t" bIns="91425" lIns="91425" spcFirstLastPara="1" rIns="91425" wrap="square" tIns="91425">
            <a:noAutofit/>
          </a:bodyPr>
          <a:lstStyle/>
          <a:p>
            <a:pPr indent="-314325" lvl="0" marL="457200" rtl="0" algn="l">
              <a:lnSpc>
                <a:spcPct val="130000"/>
              </a:lnSpc>
              <a:spcBef>
                <a:spcPts val="480"/>
              </a:spcBef>
              <a:spcAft>
                <a:spcPts val="0"/>
              </a:spcAft>
              <a:buClr>
                <a:schemeClr val="dk1"/>
              </a:buClr>
              <a:buSzPts val="1350"/>
              <a:buChar char="➔"/>
            </a:pPr>
            <a:r>
              <a:rPr b="1" lang="it" sz="1350">
                <a:solidFill>
                  <a:schemeClr val="dk1"/>
                </a:solidFill>
              </a:rPr>
              <a:t>High Density sEMG Convolutive Mixing Model</a:t>
            </a:r>
            <a:endParaRPr sz="1350"/>
          </a:p>
          <a:p>
            <a:pPr indent="0" lvl="0" marL="0" rtl="0" algn="l">
              <a:lnSpc>
                <a:spcPct val="130000"/>
              </a:lnSpc>
              <a:spcBef>
                <a:spcPts val="480"/>
              </a:spcBef>
              <a:spcAft>
                <a:spcPts val="0"/>
              </a:spcAft>
              <a:buNone/>
            </a:pPr>
            <a:r>
              <a:t/>
            </a:r>
            <a:endParaRPr sz="1250"/>
          </a:p>
        </p:txBody>
      </p:sp>
      <p:pic>
        <p:nvPicPr>
          <p:cNvPr id="147" name="Google Shape;147;p19" title="Screenshot from 2026-07-21 13-07-22.png"/>
          <p:cNvPicPr preferRelativeResize="0"/>
          <p:nvPr/>
        </p:nvPicPr>
        <p:blipFill>
          <a:blip r:embed="rId4">
            <a:alphaModFix/>
          </a:blip>
          <a:stretch>
            <a:fillRect/>
          </a:stretch>
        </p:blipFill>
        <p:spPr>
          <a:xfrm>
            <a:off x="868325" y="3330599"/>
            <a:ext cx="3187426" cy="449926"/>
          </a:xfrm>
          <a:prstGeom prst="rect">
            <a:avLst/>
          </a:prstGeom>
          <a:noFill/>
          <a:ln>
            <a:noFill/>
          </a:ln>
        </p:spPr>
      </p:pic>
      <p:sp>
        <p:nvSpPr>
          <p:cNvPr id="148" name="Google Shape;148;p19"/>
          <p:cNvSpPr txBox="1"/>
          <p:nvPr/>
        </p:nvSpPr>
        <p:spPr>
          <a:xfrm>
            <a:off x="867600" y="3294575"/>
            <a:ext cx="3242100" cy="522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250"/>
          </a:p>
        </p:txBody>
      </p:sp>
      <p:sp>
        <p:nvSpPr>
          <p:cNvPr id="149" name="Google Shape;149;p19"/>
          <p:cNvSpPr txBox="1"/>
          <p:nvPr/>
        </p:nvSpPr>
        <p:spPr>
          <a:xfrm>
            <a:off x="848350" y="3874274"/>
            <a:ext cx="3187500" cy="624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i="1" lang="it" sz="850" u="sng">
                <a:solidFill>
                  <a:schemeClr val="dk1"/>
                </a:solidFill>
              </a:rPr>
              <a:t>MUST</a:t>
            </a:r>
            <a:r>
              <a:rPr lang="it" sz="850">
                <a:solidFill>
                  <a:schemeClr val="dk1"/>
                </a:solidFill>
              </a:rPr>
              <a:t> </a:t>
            </a:r>
            <a:r>
              <a:rPr i="1" lang="it" sz="850"/>
              <a:t>:</a:t>
            </a:r>
            <a:r>
              <a:rPr lang="it" sz="1250"/>
              <a:t> </a:t>
            </a:r>
            <a:r>
              <a:rPr i="1" lang="it" sz="850"/>
              <a:t>Motor Unit Spike Train</a:t>
            </a:r>
            <a:endParaRPr i="1" sz="850"/>
          </a:p>
          <a:p>
            <a:pPr indent="0" lvl="0" marL="0" rtl="0" algn="l">
              <a:lnSpc>
                <a:spcPct val="130000"/>
              </a:lnSpc>
              <a:spcBef>
                <a:spcPts val="480"/>
              </a:spcBef>
              <a:spcAft>
                <a:spcPts val="0"/>
              </a:spcAft>
              <a:buNone/>
            </a:pPr>
            <a:r>
              <a:rPr i="1" lang="it" sz="850" u="sng">
                <a:solidFill>
                  <a:schemeClr val="dk1"/>
                </a:solidFill>
              </a:rPr>
              <a:t>MUAP</a:t>
            </a:r>
            <a:r>
              <a:rPr lang="it" sz="1250"/>
              <a:t> </a:t>
            </a:r>
            <a:r>
              <a:rPr i="1" lang="it" sz="850"/>
              <a:t>: Motor Unit Action Potential</a:t>
            </a:r>
            <a:endParaRPr i="1" sz="850"/>
          </a:p>
          <a:p>
            <a:pPr indent="0" lvl="0" marL="0" rtl="0" algn="l">
              <a:lnSpc>
                <a:spcPct val="130000"/>
              </a:lnSpc>
              <a:spcBef>
                <a:spcPts val="480"/>
              </a:spcBef>
              <a:spcAft>
                <a:spcPts val="0"/>
              </a:spcAft>
              <a:buNone/>
            </a:pPr>
            <a:r>
              <a:t/>
            </a:r>
            <a:endParaRPr sz="1250"/>
          </a:p>
        </p:txBody>
      </p:sp>
      <p:sp>
        <p:nvSpPr>
          <p:cNvPr id="150" name="Google Shape;150;p19"/>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Motor </a:t>
            </a:r>
            <a:r>
              <a:rPr lang="it">
                <a:solidFill>
                  <a:schemeClr val="dk1"/>
                </a:solidFill>
              </a:rPr>
              <a:t>Redundancy</a:t>
            </a:r>
            <a:r>
              <a:rPr lang="it">
                <a:solidFill>
                  <a:schemeClr val="dk1"/>
                </a:solidFill>
              </a:rPr>
              <a:t> and Synergy Hypothesis</a:t>
            </a:r>
            <a:endParaRPr>
              <a:solidFill>
                <a:schemeClr val="dk1"/>
              </a:solidFill>
            </a:endParaRPr>
          </a:p>
        </p:txBody>
      </p:sp>
      <p:pic>
        <p:nvPicPr>
          <p:cNvPr id="156" name="Google Shape;156;p20" title="motoneuron_synergies.png"/>
          <p:cNvPicPr preferRelativeResize="0"/>
          <p:nvPr/>
        </p:nvPicPr>
        <p:blipFill>
          <a:blip r:embed="rId3">
            <a:alphaModFix/>
          </a:blip>
          <a:stretch>
            <a:fillRect/>
          </a:stretch>
        </p:blipFill>
        <p:spPr>
          <a:xfrm>
            <a:off x="4305275" y="939600"/>
            <a:ext cx="4686326" cy="3360269"/>
          </a:xfrm>
          <a:prstGeom prst="rect">
            <a:avLst/>
          </a:prstGeom>
          <a:noFill/>
          <a:ln>
            <a:noFill/>
          </a:ln>
        </p:spPr>
      </p:pic>
      <p:sp>
        <p:nvSpPr>
          <p:cNvPr id="157" name="Google Shape;157;p20"/>
          <p:cNvSpPr txBox="1"/>
          <p:nvPr/>
        </p:nvSpPr>
        <p:spPr>
          <a:xfrm>
            <a:off x="311700" y="1676400"/>
            <a:ext cx="3683100" cy="415500"/>
          </a:xfrm>
          <a:prstGeom prst="rect">
            <a:avLst/>
          </a:prstGeom>
          <a:noFill/>
          <a:ln>
            <a:noFill/>
          </a:ln>
        </p:spPr>
        <p:txBody>
          <a:bodyPr anchorCtr="0" anchor="t" bIns="91425" lIns="91425" spcFirstLastPara="1" rIns="91425" wrap="square" tIns="91425">
            <a:noAutofit/>
          </a:bodyPr>
          <a:lstStyle/>
          <a:p>
            <a:pPr indent="-314325" lvl="0" marL="457200" rtl="0" algn="l">
              <a:lnSpc>
                <a:spcPct val="130000"/>
              </a:lnSpc>
              <a:spcBef>
                <a:spcPts val="480"/>
              </a:spcBef>
              <a:spcAft>
                <a:spcPts val="0"/>
              </a:spcAft>
              <a:buClr>
                <a:schemeClr val="dk1"/>
              </a:buClr>
              <a:buSzPts val="1350"/>
              <a:buChar char="➔"/>
            </a:pPr>
            <a:r>
              <a:rPr b="1" lang="it" sz="1350">
                <a:solidFill>
                  <a:schemeClr val="dk1"/>
                </a:solidFill>
              </a:rPr>
              <a:t>Muscle Synergies</a:t>
            </a:r>
            <a:r>
              <a:rPr b="1" lang="it" sz="1350">
                <a:solidFill>
                  <a:schemeClr val="dk1"/>
                </a:solidFill>
              </a:rPr>
              <a:t> </a:t>
            </a:r>
            <a:endParaRPr b="1" sz="1350">
              <a:solidFill>
                <a:schemeClr val="dk1"/>
              </a:solidFill>
            </a:endParaRPr>
          </a:p>
          <a:p>
            <a:pPr indent="0" lvl="0" marL="0" rtl="0" algn="l">
              <a:lnSpc>
                <a:spcPct val="130000"/>
              </a:lnSpc>
              <a:spcBef>
                <a:spcPts val="480"/>
              </a:spcBef>
              <a:spcAft>
                <a:spcPts val="0"/>
              </a:spcAft>
              <a:buNone/>
            </a:pPr>
            <a:r>
              <a:t/>
            </a:r>
            <a:endParaRPr sz="1150">
              <a:solidFill>
                <a:srgbClr val="1A1A1A"/>
              </a:solidFill>
            </a:endParaRPr>
          </a:p>
          <a:p>
            <a:pPr indent="0" lvl="0" marL="457200" rtl="0" algn="l">
              <a:lnSpc>
                <a:spcPct val="130000"/>
              </a:lnSpc>
              <a:spcBef>
                <a:spcPts val="480"/>
              </a:spcBef>
              <a:spcAft>
                <a:spcPts val="0"/>
              </a:spcAft>
              <a:buNone/>
            </a:pPr>
            <a:r>
              <a:t/>
            </a:r>
            <a:endParaRPr sz="1150">
              <a:solidFill>
                <a:srgbClr val="1A1A1A"/>
              </a:solidFill>
            </a:endParaRPr>
          </a:p>
          <a:p>
            <a:pPr indent="0" lvl="0" marL="457200" rtl="0" algn="l">
              <a:lnSpc>
                <a:spcPct val="130000"/>
              </a:lnSpc>
              <a:spcBef>
                <a:spcPts val="480"/>
              </a:spcBef>
              <a:spcAft>
                <a:spcPts val="0"/>
              </a:spcAft>
              <a:buNone/>
            </a:pPr>
            <a:r>
              <a:t/>
            </a:r>
            <a:endParaRPr b="1" sz="1250">
              <a:solidFill>
                <a:srgbClr val="1A1A1A"/>
              </a:solidFill>
            </a:endParaRPr>
          </a:p>
          <a:p>
            <a:pPr indent="0" lvl="0" marL="457200" rtl="0" algn="l">
              <a:lnSpc>
                <a:spcPct val="130000"/>
              </a:lnSpc>
              <a:spcBef>
                <a:spcPts val="480"/>
              </a:spcBef>
              <a:spcAft>
                <a:spcPts val="0"/>
              </a:spcAft>
              <a:buNone/>
            </a:pPr>
            <a:r>
              <a:t/>
            </a:r>
            <a:endParaRPr b="1" sz="1250">
              <a:solidFill>
                <a:srgbClr val="1A1A1A"/>
              </a:solidFill>
            </a:endParaRPr>
          </a:p>
          <a:p>
            <a:pPr indent="0" lvl="0" marL="0" rtl="0" algn="l">
              <a:lnSpc>
                <a:spcPct val="130000"/>
              </a:lnSpc>
              <a:spcBef>
                <a:spcPts val="480"/>
              </a:spcBef>
              <a:spcAft>
                <a:spcPts val="0"/>
              </a:spcAft>
              <a:buNone/>
            </a:pPr>
            <a:r>
              <a:t/>
            </a:r>
            <a:endParaRPr sz="1250"/>
          </a:p>
        </p:txBody>
      </p:sp>
      <p:sp>
        <p:nvSpPr>
          <p:cNvPr id="158" name="Google Shape;158;p20"/>
          <p:cNvSpPr txBox="1"/>
          <p:nvPr/>
        </p:nvSpPr>
        <p:spPr>
          <a:xfrm>
            <a:off x="311700" y="2855796"/>
            <a:ext cx="3683100" cy="753600"/>
          </a:xfrm>
          <a:prstGeom prst="rect">
            <a:avLst/>
          </a:prstGeom>
          <a:noFill/>
          <a:ln>
            <a:noFill/>
          </a:ln>
        </p:spPr>
        <p:txBody>
          <a:bodyPr anchorCtr="0" anchor="t" bIns="91425" lIns="91425" spcFirstLastPara="1" rIns="91425" wrap="square" tIns="91425">
            <a:noAutofit/>
          </a:bodyPr>
          <a:lstStyle/>
          <a:p>
            <a:pPr indent="-314325" lvl="0" marL="457200" rtl="0" algn="l">
              <a:lnSpc>
                <a:spcPct val="130000"/>
              </a:lnSpc>
              <a:spcBef>
                <a:spcPts val="480"/>
              </a:spcBef>
              <a:spcAft>
                <a:spcPts val="0"/>
              </a:spcAft>
              <a:buClr>
                <a:schemeClr val="dk1"/>
              </a:buClr>
              <a:buSzPts val="1350"/>
              <a:buChar char="➔"/>
            </a:pPr>
            <a:r>
              <a:rPr b="1" lang="it" sz="1350">
                <a:solidFill>
                  <a:schemeClr val="dk1"/>
                </a:solidFill>
              </a:rPr>
              <a:t>Motoneuron Synergies</a:t>
            </a:r>
            <a:endParaRPr sz="1350"/>
          </a:p>
          <a:p>
            <a:pPr indent="0" lvl="0" marL="0" rtl="0" algn="l">
              <a:lnSpc>
                <a:spcPct val="130000"/>
              </a:lnSpc>
              <a:spcBef>
                <a:spcPts val="480"/>
              </a:spcBef>
              <a:spcAft>
                <a:spcPts val="0"/>
              </a:spcAft>
              <a:buNone/>
            </a:pPr>
            <a:r>
              <a:t/>
            </a:r>
            <a:endParaRPr sz="1250"/>
          </a:p>
        </p:txBody>
      </p:sp>
      <p:sp>
        <p:nvSpPr>
          <p:cNvPr id="159" name="Google Shape;159;p20"/>
          <p:cNvSpPr txBox="1"/>
          <p:nvPr/>
        </p:nvSpPr>
        <p:spPr>
          <a:xfrm>
            <a:off x="311700" y="787200"/>
            <a:ext cx="3337500" cy="7131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The CNS simplifies hand control by grouping Degrees of Freedom into functional synergies.</a:t>
            </a:r>
            <a:endParaRPr sz="1260"/>
          </a:p>
        </p:txBody>
      </p:sp>
      <p:sp>
        <p:nvSpPr>
          <p:cNvPr id="160" name="Google Shape;160;p20"/>
          <p:cNvSpPr txBox="1"/>
          <p:nvPr/>
        </p:nvSpPr>
        <p:spPr>
          <a:xfrm>
            <a:off x="4305275" y="4218175"/>
            <a:ext cx="4686300" cy="338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550"/>
              <a:t>Fig.3 “Merging motoneuron and postural synergies in prosthetic hand design for natural bionic interfacing</a:t>
            </a:r>
            <a:r>
              <a:rPr i="1" lang="it" sz="550"/>
              <a:t>”</a:t>
            </a:r>
            <a:r>
              <a:rPr lang="it" sz="550"/>
              <a:t> Capsi-Morales et. al (2025)</a:t>
            </a:r>
            <a:endParaRPr sz="550"/>
          </a:p>
          <a:p>
            <a:pPr indent="0" lvl="0" marL="0" rtl="0" algn="l">
              <a:lnSpc>
                <a:spcPct val="130000"/>
              </a:lnSpc>
              <a:spcBef>
                <a:spcPts val="480"/>
              </a:spcBef>
              <a:spcAft>
                <a:spcPts val="0"/>
              </a:spcAft>
              <a:buNone/>
            </a:pPr>
            <a:r>
              <a:t/>
            </a:r>
            <a:endParaRPr sz="550"/>
          </a:p>
        </p:txBody>
      </p:sp>
      <p:sp>
        <p:nvSpPr>
          <p:cNvPr id="161" name="Google Shape;161;p20"/>
          <p:cNvSpPr txBox="1"/>
          <p:nvPr/>
        </p:nvSpPr>
        <p:spPr>
          <a:xfrm>
            <a:off x="784850" y="2035800"/>
            <a:ext cx="3390900" cy="10176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150">
                <a:solidFill>
                  <a:srgbClr val="1A1A1A"/>
                </a:solidFill>
              </a:rPr>
              <a:t>Extracted via</a:t>
            </a:r>
            <a:r>
              <a:rPr i="1" lang="it" sz="1150">
                <a:solidFill>
                  <a:schemeClr val="dk1"/>
                </a:solidFill>
              </a:rPr>
              <a:t> Non-Negative Matrix Factorization</a:t>
            </a:r>
            <a:r>
              <a:rPr lang="it" sz="1150">
                <a:solidFill>
                  <a:srgbClr val="1A1A1A"/>
                </a:solidFill>
              </a:rPr>
              <a:t> </a:t>
            </a:r>
            <a:r>
              <a:rPr lang="it" sz="1150">
                <a:solidFill>
                  <a:schemeClr val="dk1"/>
                </a:solidFill>
              </a:rPr>
              <a:t>(</a:t>
            </a:r>
            <a:r>
              <a:rPr lang="it" sz="1150" u="sng">
                <a:solidFill>
                  <a:schemeClr val="dk1"/>
                </a:solidFill>
              </a:rPr>
              <a:t>NNMF)</a:t>
            </a:r>
            <a:r>
              <a:rPr lang="it" sz="1150">
                <a:solidFill>
                  <a:schemeClr val="dk1"/>
                </a:solidFill>
              </a:rPr>
              <a:t> </a:t>
            </a:r>
            <a:r>
              <a:rPr lang="it" sz="1150">
                <a:solidFill>
                  <a:srgbClr val="1A1A1A"/>
                </a:solidFill>
              </a:rPr>
              <a:t>from sEMG envelopes:</a:t>
            </a:r>
            <a:endParaRPr sz="1150">
              <a:solidFill>
                <a:srgbClr val="1A1A1A"/>
              </a:solidFill>
            </a:endParaRPr>
          </a:p>
          <a:p>
            <a:pPr indent="0" lvl="0" marL="0" rtl="0" algn="l">
              <a:lnSpc>
                <a:spcPct val="130000"/>
              </a:lnSpc>
              <a:spcBef>
                <a:spcPts val="480"/>
              </a:spcBef>
              <a:spcAft>
                <a:spcPts val="0"/>
              </a:spcAft>
              <a:buNone/>
            </a:pPr>
            <a:r>
              <a:t/>
            </a:r>
            <a:endParaRPr sz="1150">
              <a:solidFill>
                <a:srgbClr val="1A1A1A"/>
              </a:solidFill>
            </a:endParaRPr>
          </a:p>
          <a:p>
            <a:pPr indent="0" lvl="0" marL="457200" rtl="0" algn="l">
              <a:lnSpc>
                <a:spcPct val="130000"/>
              </a:lnSpc>
              <a:spcBef>
                <a:spcPts val="480"/>
              </a:spcBef>
              <a:spcAft>
                <a:spcPts val="0"/>
              </a:spcAft>
              <a:buNone/>
            </a:pPr>
            <a:r>
              <a:t/>
            </a:r>
            <a:endParaRPr sz="1150">
              <a:solidFill>
                <a:srgbClr val="1A1A1A"/>
              </a:solidFill>
            </a:endParaRPr>
          </a:p>
          <a:p>
            <a:pPr indent="0" lvl="0" marL="457200" rtl="0" algn="l">
              <a:lnSpc>
                <a:spcPct val="130000"/>
              </a:lnSpc>
              <a:spcBef>
                <a:spcPts val="480"/>
              </a:spcBef>
              <a:spcAft>
                <a:spcPts val="0"/>
              </a:spcAft>
              <a:buNone/>
            </a:pPr>
            <a:r>
              <a:t/>
            </a:r>
            <a:endParaRPr b="1" sz="1150">
              <a:solidFill>
                <a:srgbClr val="1A1A1A"/>
              </a:solidFill>
            </a:endParaRPr>
          </a:p>
          <a:p>
            <a:pPr indent="0" lvl="0" marL="457200" rtl="0" algn="l">
              <a:lnSpc>
                <a:spcPct val="130000"/>
              </a:lnSpc>
              <a:spcBef>
                <a:spcPts val="480"/>
              </a:spcBef>
              <a:spcAft>
                <a:spcPts val="0"/>
              </a:spcAft>
              <a:buNone/>
            </a:pPr>
            <a:r>
              <a:t/>
            </a:r>
            <a:endParaRPr b="1" sz="1150">
              <a:solidFill>
                <a:srgbClr val="1A1A1A"/>
              </a:solidFill>
            </a:endParaRPr>
          </a:p>
          <a:p>
            <a:pPr indent="0" lvl="0" marL="0" rtl="0" algn="l">
              <a:lnSpc>
                <a:spcPct val="130000"/>
              </a:lnSpc>
              <a:spcBef>
                <a:spcPts val="480"/>
              </a:spcBef>
              <a:spcAft>
                <a:spcPts val="0"/>
              </a:spcAft>
              <a:buNone/>
            </a:pPr>
            <a:r>
              <a:t/>
            </a:r>
            <a:endParaRPr sz="1150"/>
          </a:p>
        </p:txBody>
      </p:sp>
      <p:pic>
        <p:nvPicPr>
          <p:cNvPr id="162" name="Google Shape;162;p20" title="Screenshot from 2026-07-21 14-50-32.png"/>
          <p:cNvPicPr preferRelativeResize="0"/>
          <p:nvPr/>
        </p:nvPicPr>
        <p:blipFill rotWithShape="1">
          <a:blip r:embed="rId4">
            <a:alphaModFix/>
          </a:blip>
          <a:srcRect b="10" l="0" r="52890" t="-10"/>
          <a:stretch/>
        </p:blipFill>
        <p:spPr>
          <a:xfrm>
            <a:off x="874525" y="2643526"/>
            <a:ext cx="870450" cy="212275"/>
          </a:xfrm>
          <a:prstGeom prst="rect">
            <a:avLst/>
          </a:prstGeom>
          <a:noFill/>
          <a:ln>
            <a:noFill/>
          </a:ln>
        </p:spPr>
      </p:pic>
      <p:sp>
        <p:nvSpPr>
          <p:cNvPr id="163" name="Google Shape;163;p20"/>
          <p:cNvSpPr txBox="1"/>
          <p:nvPr/>
        </p:nvSpPr>
        <p:spPr>
          <a:xfrm>
            <a:off x="784850" y="3209825"/>
            <a:ext cx="3390900" cy="1347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150">
                <a:solidFill>
                  <a:srgbClr val="1A1A1A"/>
                </a:solidFill>
              </a:rPr>
              <a:t>Extracted via </a:t>
            </a:r>
            <a:r>
              <a:rPr lang="it" sz="1150" u="sng">
                <a:solidFill>
                  <a:schemeClr val="dk1"/>
                </a:solidFill>
              </a:rPr>
              <a:t>NNMF</a:t>
            </a:r>
            <a:r>
              <a:rPr lang="it" sz="1150">
                <a:solidFill>
                  <a:srgbClr val="1A1A1A"/>
                </a:solidFill>
              </a:rPr>
              <a:t>  f</a:t>
            </a:r>
            <a:r>
              <a:rPr lang="it" sz="1150">
                <a:solidFill>
                  <a:srgbClr val="1A1A1A"/>
                </a:solidFill>
              </a:rPr>
              <a:t>rom </a:t>
            </a:r>
            <a:r>
              <a:rPr i="1" lang="it" sz="1150">
                <a:solidFill>
                  <a:schemeClr val="dk1"/>
                </a:solidFill>
              </a:rPr>
              <a:t>Motor Unit Smoothed Discharge Rates</a:t>
            </a:r>
            <a:r>
              <a:rPr lang="it" sz="1150">
                <a:solidFill>
                  <a:srgbClr val="1A1A1A"/>
                </a:solidFill>
              </a:rPr>
              <a:t> </a:t>
            </a:r>
            <a:r>
              <a:rPr lang="it" sz="1150">
                <a:solidFill>
                  <a:schemeClr val="dk1"/>
                </a:solidFill>
              </a:rPr>
              <a:t>(SDRs)</a:t>
            </a:r>
            <a:r>
              <a:rPr lang="it" sz="1150">
                <a:solidFill>
                  <a:srgbClr val="1A1A1A"/>
                </a:solidFill>
              </a:rPr>
              <a:t>:</a:t>
            </a:r>
            <a:endParaRPr sz="1150">
              <a:solidFill>
                <a:srgbClr val="1A1A1A"/>
              </a:solidFill>
            </a:endParaRPr>
          </a:p>
          <a:p>
            <a:pPr indent="0" lvl="0" marL="0" rtl="0" algn="l">
              <a:lnSpc>
                <a:spcPct val="130000"/>
              </a:lnSpc>
              <a:spcBef>
                <a:spcPts val="480"/>
              </a:spcBef>
              <a:spcAft>
                <a:spcPts val="0"/>
              </a:spcAft>
              <a:buNone/>
            </a:pPr>
            <a:r>
              <a:t/>
            </a:r>
            <a:endParaRPr sz="1150">
              <a:solidFill>
                <a:srgbClr val="1A1A1A"/>
              </a:solidFill>
            </a:endParaRPr>
          </a:p>
          <a:p>
            <a:pPr indent="-288925" lvl="0" marL="457200" rtl="0" algn="l">
              <a:lnSpc>
                <a:spcPct val="130000"/>
              </a:lnSpc>
              <a:spcBef>
                <a:spcPts val="480"/>
              </a:spcBef>
              <a:spcAft>
                <a:spcPts val="0"/>
              </a:spcAft>
              <a:buClr>
                <a:srgbClr val="1A1A1A"/>
              </a:buClr>
              <a:buSzPts val="950"/>
              <a:buChar char="●"/>
            </a:pPr>
            <a:r>
              <a:rPr lang="it" sz="950" u="sng">
                <a:solidFill>
                  <a:srgbClr val="1A1A1A"/>
                </a:solidFill>
              </a:rPr>
              <a:t>Superior</a:t>
            </a:r>
            <a:r>
              <a:rPr lang="it" sz="950" u="sng">
                <a:solidFill>
                  <a:srgbClr val="1A1A1A"/>
                </a:solidFill>
              </a:rPr>
              <a:t> Orthogonality</a:t>
            </a:r>
            <a:endParaRPr sz="950" u="sng">
              <a:solidFill>
                <a:srgbClr val="1A1A1A"/>
              </a:solidFill>
            </a:endParaRPr>
          </a:p>
          <a:p>
            <a:pPr indent="-288925" lvl="0" marL="457200" rtl="0" algn="l">
              <a:lnSpc>
                <a:spcPct val="130000"/>
              </a:lnSpc>
              <a:spcBef>
                <a:spcPts val="0"/>
              </a:spcBef>
              <a:spcAft>
                <a:spcPts val="0"/>
              </a:spcAft>
              <a:buClr>
                <a:srgbClr val="1A1A1A"/>
              </a:buClr>
              <a:buSzPts val="950"/>
              <a:buChar char="●"/>
            </a:pPr>
            <a:r>
              <a:rPr lang="it" sz="950" u="sng">
                <a:solidFill>
                  <a:srgbClr val="1A1A1A"/>
                </a:solidFill>
              </a:rPr>
              <a:t>Higher Expressive Power</a:t>
            </a:r>
            <a:endParaRPr sz="950" u="sng">
              <a:solidFill>
                <a:srgbClr val="1A1A1A"/>
              </a:solidFill>
            </a:endParaRPr>
          </a:p>
          <a:p>
            <a:pPr indent="0" lvl="0" marL="0" rtl="0" algn="l">
              <a:lnSpc>
                <a:spcPct val="130000"/>
              </a:lnSpc>
              <a:spcBef>
                <a:spcPts val="480"/>
              </a:spcBef>
              <a:spcAft>
                <a:spcPts val="0"/>
              </a:spcAft>
              <a:buNone/>
            </a:pPr>
            <a:r>
              <a:t/>
            </a:r>
            <a:endParaRPr sz="1150">
              <a:solidFill>
                <a:srgbClr val="1A1A1A"/>
              </a:solidFill>
            </a:endParaRPr>
          </a:p>
          <a:p>
            <a:pPr indent="0" lvl="0" marL="457200" rtl="0" algn="l">
              <a:lnSpc>
                <a:spcPct val="130000"/>
              </a:lnSpc>
              <a:spcBef>
                <a:spcPts val="480"/>
              </a:spcBef>
              <a:spcAft>
                <a:spcPts val="0"/>
              </a:spcAft>
              <a:buNone/>
            </a:pPr>
            <a:r>
              <a:t/>
            </a:r>
            <a:endParaRPr sz="1150">
              <a:solidFill>
                <a:srgbClr val="1A1A1A"/>
              </a:solidFill>
            </a:endParaRPr>
          </a:p>
          <a:p>
            <a:pPr indent="0" lvl="0" marL="457200" rtl="0" algn="l">
              <a:lnSpc>
                <a:spcPct val="130000"/>
              </a:lnSpc>
              <a:spcBef>
                <a:spcPts val="480"/>
              </a:spcBef>
              <a:spcAft>
                <a:spcPts val="0"/>
              </a:spcAft>
              <a:buNone/>
            </a:pPr>
            <a:r>
              <a:t/>
            </a:r>
            <a:endParaRPr b="1" sz="1150">
              <a:solidFill>
                <a:srgbClr val="1A1A1A"/>
              </a:solidFill>
            </a:endParaRPr>
          </a:p>
          <a:p>
            <a:pPr indent="0" lvl="0" marL="457200" rtl="0" algn="l">
              <a:lnSpc>
                <a:spcPct val="130000"/>
              </a:lnSpc>
              <a:spcBef>
                <a:spcPts val="480"/>
              </a:spcBef>
              <a:spcAft>
                <a:spcPts val="0"/>
              </a:spcAft>
              <a:buNone/>
            </a:pPr>
            <a:r>
              <a:t/>
            </a:r>
            <a:endParaRPr b="1" sz="1150">
              <a:solidFill>
                <a:srgbClr val="1A1A1A"/>
              </a:solidFill>
            </a:endParaRPr>
          </a:p>
          <a:p>
            <a:pPr indent="0" lvl="0" marL="0" rtl="0" algn="l">
              <a:lnSpc>
                <a:spcPct val="130000"/>
              </a:lnSpc>
              <a:spcBef>
                <a:spcPts val="480"/>
              </a:spcBef>
              <a:spcAft>
                <a:spcPts val="0"/>
              </a:spcAft>
              <a:buNone/>
            </a:pPr>
            <a:r>
              <a:t/>
            </a:r>
            <a:endParaRPr sz="1150"/>
          </a:p>
        </p:txBody>
      </p:sp>
      <p:pic>
        <p:nvPicPr>
          <p:cNvPr id="164" name="Google Shape;164;p20" title="Screenshot from 2026-07-21 14-54-01.png"/>
          <p:cNvPicPr preferRelativeResize="0"/>
          <p:nvPr/>
        </p:nvPicPr>
        <p:blipFill>
          <a:blip r:embed="rId5">
            <a:alphaModFix/>
          </a:blip>
          <a:stretch>
            <a:fillRect/>
          </a:stretch>
        </p:blipFill>
        <p:spPr>
          <a:xfrm>
            <a:off x="874525" y="3807000"/>
            <a:ext cx="1420026" cy="212275"/>
          </a:xfrm>
          <a:prstGeom prst="rect">
            <a:avLst/>
          </a:prstGeom>
          <a:noFill/>
          <a:ln>
            <a:noFill/>
          </a:ln>
        </p:spPr>
      </p:pic>
      <p:sp>
        <p:nvSpPr>
          <p:cNvPr id="165" name="Google Shape;165;p20"/>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1"/>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Map Motoneuron Synergies to Hand Pose</a:t>
            </a:r>
            <a:endParaRPr>
              <a:solidFill>
                <a:schemeClr val="dk1"/>
              </a:solidFill>
            </a:endParaRPr>
          </a:p>
        </p:txBody>
      </p:sp>
      <p:sp>
        <p:nvSpPr>
          <p:cNvPr id="171" name="Google Shape;171;p21"/>
          <p:cNvSpPr txBox="1"/>
          <p:nvPr/>
        </p:nvSpPr>
        <p:spPr>
          <a:xfrm>
            <a:off x="594875" y="778050"/>
            <a:ext cx="5989800" cy="358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480"/>
              </a:spcBef>
              <a:spcAft>
                <a:spcPts val="0"/>
              </a:spcAft>
              <a:buNone/>
            </a:pPr>
            <a:r>
              <a:rPr b="1" lang="it" sz="2050">
                <a:solidFill>
                  <a:schemeClr val="dk1"/>
                </a:solidFill>
              </a:rPr>
              <a:t>Pipeline and Contributions</a:t>
            </a:r>
            <a:r>
              <a:rPr b="1" lang="it" sz="2050">
                <a:solidFill>
                  <a:schemeClr val="dk1"/>
                </a:solidFill>
              </a:rPr>
              <a:t>:</a:t>
            </a:r>
            <a:endParaRPr b="1" sz="1450">
              <a:solidFill>
                <a:schemeClr val="dk1"/>
              </a:solidFill>
            </a:endParaRPr>
          </a:p>
          <a:p>
            <a:pPr indent="-320675" lvl="0" marL="457200" rtl="0" algn="l">
              <a:lnSpc>
                <a:spcPct val="200000"/>
              </a:lnSpc>
              <a:spcBef>
                <a:spcPts val="480"/>
              </a:spcBef>
              <a:spcAft>
                <a:spcPts val="0"/>
              </a:spcAft>
              <a:buClr>
                <a:srgbClr val="1A1A1A"/>
              </a:buClr>
              <a:buSzPts val="1450"/>
              <a:buChar char="❖"/>
            </a:pPr>
            <a:r>
              <a:rPr b="1" i="1" lang="it" sz="1450">
                <a:solidFill>
                  <a:srgbClr val="1A1A1A"/>
                </a:solidFill>
              </a:rPr>
              <a:t>Preliminary Experimental Setup</a:t>
            </a:r>
            <a:r>
              <a:rPr b="1" i="1" lang="it" sz="1450">
                <a:solidFill>
                  <a:srgbClr val="1A1A1A"/>
                </a:solidFill>
              </a:rPr>
              <a:t> </a:t>
            </a:r>
            <a:endParaRPr b="1" i="1" sz="1450">
              <a:solidFill>
                <a:srgbClr val="1A1A1A"/>
              </a:solidFill>
            </a:endParaRPr>
          </a:p>
          <a:p>
            <a:pPr indent="-320675" lvl="0" marL="457200" rtl="0" algn="l">
              <a:lnSpc>
                <a:spcPct val="200000"/>
              </a:lnSpc>
              <a:spcBef>
                <a:spcPts val="0"/>
              </a:spcBef>
              <a:spcAft>
                <a:spcPts val="0"/>
              </a:spcAft>
              <a:buClr>
                <a:srgbClr val="1A1A1A"/>
              </a:buClr>
              <a:buSzPts val="1450"/>
              <a:buChar char="❖"/>
            </a:pPr>
            <a:r>
              <a:rPr b="1" i="1" lang="it" sz="1450">
                <a:solidFill>
                  <a:srgbClr val="1A1A1A"/>
                </a:solidFill>
              </a:rPr>
              <a:t>Open Source </a:t>
            </a:r>
            <a:r>
              <a:rPr b="1" i="1" lang="it" sz="1450">
                <a:solidFill>
                  <a:srgbClr val="1A1A1A"/>
                </a:solidFill>
              </a:rPr>
              <a:t>Dataset Preprocessing</a:t>
            </a:r>
            <a:endParaRPr b="1" i="1" sz="1450">
              <a:solidFill>
                <a:srgbClr val="1A1A1A"/>
              </a:solidFill>
            </a:endParaRPr>
          </a:p>
          <a:p>
            <a:pPr indent="-320675" lvl="0" marL="457200" rtl="0" algn="l">
              <a:lnSpc>
                <a:spcPct val="200000"/>
              </a:lnSpc>
              <a:spcBef>
                <a:spcPts val="0"/>
              </a:spcBef>
              <a:spcAft>
                <a:spcPts val="0"/>
              </a:spcAft>
              <a:buClr>
                <a:srgbClr val="1A1A1A"/>
              </a:buClr>
              <a:buSzPts val="1450"/>
              <a:buChar char="❖"/>
            </a:pPr>
            <a:r>
              <a:rPr b="1" i="1" lang="it" sz="1450">
                <a:solidFill>
                  <a:srgbClr val="1A1A1A"/>
                </a:solidFill>
              </a:rPr>
              <a:t>Motor Unit Decomposition and MUs Postprocessing</a:t>
            </a:r>
            <a:endParaRPr b="1" i="1" sz="1450">
              <a:solidFill>
                <a:srgbClr val="1A1A1A"/>
              </a:solidFill>
            </a:endParaRPr>
          </a:p>
          <a:p>
            <a:pPr indent="-320675" lvl="0" marL="457200" rtl="0" algn="l">
              <a:lnSpc>
                <a:spcPct val="200000"/>
              </a:lnSpc>
              <a:spcBef>
                <a:spcPts val="0"/>
              </a:spcBef>
              <a:spcAft>
                <a:spcPts val="0"/>
              </a:spcAft>
              <a:buClr>
                <a:srgbClr val="1A1A1A"/>
              </a:buClr>
              <a:buSzPts val="1450"/>
              <a:buChar char="❖"/>
            </a:pPr>
            <a:r>
              <a:rPr b="1" i="1" lang="it" sz="1450">
                <a:solidFill>
                  <a:srgbClr val="1A1A1A"/>
                </a:solidFill>
              </a:rPr>
              <a:t>Motoneuron Synergies</a:t>
            </a:r>
            <a:endParaRPr b="1" i="1" sz="1450">
              <a:solidFill>
                <a:srgbClr val="1A1A1A"/>
              </a:solidFill>
            </a:endParaRPr>
          </a:p>
          <a:p>
            <a:pPr indent="-320675" lvl="0" marL="457200" rtl="0" algn="l">
              <a:lnSpc>
                <a:spcPct val="200000"/>
              </a:lnSpc>
              <a:spcBef>
                <a:spcPts val="0"/>
              </a:spcBef>
              <a:spcAft>
                <a:spcPts val="0"/>
              </a:spcAft>
              <a:buClr>
                <a:srgbClr val="1A1A1A"/>
              </a:buClr>
              <a:buSzPts val="1450"/>
              <a:buChar char="❖"/>
            </a:pPr>
            <a:r>
              <a:rPr b="1" i="1" lang="it" sz="1450">
                <a:solidFill>
                  <a:srgbClr val="1A1A1A"/>
                </a:solidFill>
              </a:rPr>
              <a:t>Synchronization</a:t>
            </a:r>
            <a:endParaRPr b="1" i="1" sz="1450">
              <a:solidFill>
                <a:srgbClr val="1A1A1A"/>
              </a:solidFill>
            </a:endParaRPr>
          </a:p>
          <a:p>
            <a:pPr indent="-320675" lvl="0" marL="457200" rtl="0" algn="l">
              <a:lnSpc>
                <a:spcPct val="200000"/>
              </a:lnSpc>
              <a:spcBef>
                <a:spcPts val="0"/>
              </a:spcBef>
              <a:spcAft>
                <a:spcPts val="0"/>
              </a:spcAft>
              <a:buClr>
                <a:srgbClr val="1A1A1A"/>
              </a:buClr>
              <a:buSzPts val="1450"/>
              <a:buChar char="❖"/>
            </a:pPr>
            <a:r>
              <a:rPr b="1" i="1" lang="it" sz="1450">
                <a:solidFill>
                  <a:srgbClr val="1A1A1A"/>
                </a:solidFill>
              </a:rPr>
              <a:t>Model Architecture/Kinematic Prediction</a:t>
            </a:r>
            <a:endParaRPr b="1" i="1" sz="1450">
              <a:solidFill>
                <a:srgbClr val="1A1A1A"/>
              </a:solidFill>
            </a:endParaRPr>
          </a:p>
          <a:p>
            <a:pPr indent="-320675" lvl="0" marL="457200" rtl="0" algn="l">
              <a:lnSpc>
                <a:spcPct val="200000"/>
              </a:lnSpc>
              <a:spcBef>
                <a:spcPts val="0"/>
              </a:spcBef>
              <a:spcAft>
                <a:spcPts val="0"/>
              </a:spcAft>
              <a:buClr>
                <a:srgbClr val="1A1A1A"/>
              </a:buClr>
              <a:buSzPts val="1450"/>
              <a:buChar char="❖"/>
            </a:pPr>
            <a:r>
              <a:rPr b="1" i="1" lang="it" sz="1450">
                <a:solidFill>
                  <a:srgbClr val="1A1A1A"/>
                </a:solidFill>
              </a:rPr>
              <a:t>Unity Validation/Results</a:t>
            </a:r>
            <a:endParaRPr b="1" i="1" sz="1450">
              <a:solidFill>
                <a:srgbClr val="1A1A1A"/>
              </a:solidFill>
            </a:endParaRPr>
          </a:p>
          <a:p>
            <a:pPr indent="0" lvl="0" marL="457200" rtl="0" algn="l">
              <a:lnSpc>
                <a:spcPct val="130000"/>
              </a:lnSpc>
              <a:spcBef>
                <a:spcPts val="480"/>
              </a:spcBef>
              <a:spcAft>
                <a:spcPts val="0"/>
              </a:spcAft>
              <a:buNone/>
            </a:pPr>
            <a:r>
              <a:t/>
            </a:r>
            <a:endParaRPr b="1" sz="1450">
              <a:solidFill>
                <a:schemeClr val="dk1"/>
              </a:solidFill>
            </a:endParaRPr>
          </a:p>
        </p:txBody>
      </p:sp>
      <p:sp>
        <p:nvSpPr>
          <p:cNvPr id="172" name="Google Shape;172;p21"/>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2"/>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Dataset: Preliminary Experimental Setup</a:t>
            </a:r>
            <a:endParaRPr>
              <a:solidFill>
                <a:schemeClr val="dk1"/>
              </a:solidFill>
            </a:endParaRPr>
          </a:p>
        </p:txBody>
      </p:sp>
      <p:sp>
        <p:nvSpPr>
          <p:cNvPr id="178" name="Google Shape;178;p22"/>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pic>
        <p:nvPicPr>
          <p:cNvPr id="179" name="Google Shape;179;p22" title="mermaid-diagram-2026-07-22-222916.png"/>
          <p:cNvPicPr preferRelativeResize="0"/>
          <p:nvPr/>
        </p:nvPicPr>
        <p:blipFill>
          <a:blip r:embed="rId3">
            <a:alphaModFix/>
          </a:blip>
          <a:stretch>
            <a:fillRect/>
          </a:stretch>
        </p:blipFill>
        <p:spPr>
          <a:xfrm>
            <a:off x="2459800" y="940275"/>
            <a:ext cx="4224400" cy="3204901"/>
          </a:xfrm>
          <a:prstGeom prst="rect">
            <a:avLst/>
          </a:prstGeom>
          <a:noFill/>
          <a:ln>
            <a:noFill/>
          </a:ln>
        </p:spPr>
      </p:pic>
      <p:pic>
        <p:nvPicPr>
          <p:cNvPr id="180" name="Google Shape;180;p22" title="Screenshot from 2026-07-22 22-31-29.png"/>
          <p:cNvPicPr preferRelativeResize="0"/>
          <p:nvPr/>
        </p:nvPicPr>
        <p:blipFill>
          <a:blip r:embed="rId4">
            <a:alphaModFix/>
          </a:blip>
          <a:stretch>
            <a:fillRect/>
          </a:stretch>
        </p:blipFill>
        <p:spPr>
          <a:xfrm>
            <a:off x="2649975" y="787200"/>
            <a:ext cx="1528675" cy="952251"/>
          </a:xfrm>
          <a:prstGeom prst="rect">
            <a:avLst/>
          </a:prstGeom>
          <a:noFill/>
          <a:ln>
            <a:noFill/>
          </a:ln>
        </p:spPr>
      </p:pic>
      <p:pic>
        <p:nvPicPr>
          <p:cNvPr id="181" name="Google Shape;181;p22" title="Screenshot from 2026-07-22 22-33-58.png"/>
          <p:cNvPicPr preferRelativeResize="0"/>
          <p:nvPr/>
        </p:nvPicPr>
        <p:blipFill rotWithShape="1">
          <a:blip r:embed="rId5">
            <a:alphaModFix/>
          </a:blip>
          <a:srcRect b="4299" l="0" r="0" t="6144"/>
          <a:stretch/>
        </p:blipFill>
        <p:spPr>
          <a:xfrm>
            <a:off x="5131750" y="3461450"/>
            <a:ext cx="1275050" cy="1030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3"/>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Open Source </a:t>
            </a:r>
            <a:r>
              <a:rPr lang="it">
                <a:solidFill>
                  <a:schemeClr val="dk1"/>
                </a:solidFill>
              </a:rPr>
              <a:t>Dataset</a:t>
            </a:r>
            <a:endParaRPr>
              <a:solidFill>
                <a:schemeClr val="dk1"/>
              </a:solidFill>
            </a:endParaRPr>
          </a:p>
        </p:txBody>
      </p:sp>
      <p:sp>
        <p:nvSpPr>
          <p:cNvPr id="187" name="Google Shape;187;p23"/>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
        <p:nvSpPr>
          <p:cNvPr id="188" name="Google Shape;188;p23"/>
          <p:cNvSpPr txBox="1"/>
          <p:nvPr/>
        </p:nvSpPr>
        <p:spPr>
          <a:xfrm>
            <a:off x="3464775" y="3219150"/>
            <a:ext cx="5305200" cy="218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550"/>
              <a:t>Fig. 4 </a:t>
            </a:r>
            <a:r>
              <a:rPr lang="it" sz="550"/>
              <a:t> “A consecutive multi-day high-density surface electromyography dataset comprising 7 grasps and 11 gestures,” Yang et al., 2025</a:t>
            </a:r>
            <a:endParaRPr sz="550"/>
          </a:p>
        </p:txBody>
      </p:sp>
      <p:pic>
        <p:nvPicPr>
          <p:cNvPr id="189" name="Google Shape;189;p23" title="Gemini_Generated_Image_ey6nncey6nncey6n.png"/>
          <p:cNvPicPr preferRelativeResize="0"/>
          <p:nvPr/>
        </p:nvPicPr>
        <p:blipFill>
          <a:blip r:embed="rId3">
            <a:alphaModFix/>
          </a:blip>
          <a:stretch>
            <a:fillRect/>
          </a:stretch>
        </p:blipFill>
        <p:spPr>
          <a:xfrm>
            <a:off x="3464775" y="1520325"/>
            <a:ext cx="5451100" cy="1615625"/>
          </a:xfrm>
          <a:prstGeom prst="rect">
            <a:avLst/>
          </a:prstGeom>
          <a:noFill/>
          <a:ln>
            <a:noFill/>
          </a:ln>
        </p:spPr>
      </p:pic>
      <p:cxnSp>
        <p:nvCxnSpPr>
          <p:cNvPr id="190" name="Google Shape;190;p23"/>
          <p:cNvCxnSpPr/>
          <p:nvPr/>
        </p:nvCxnSpPr>
        <p:spPr>
          <a:xfrm flipH="1" rot="10800000">
            <a:off x="3503950" y="3135950"/>
            <a:ext cx="5419200" cy="7200"/>
          </a:xfrm>
          <a:prstGeom prst="straightConnector1">
            <a:avLst/>
          </a:prstGeom>
          <a:noFill/>
          <a:ln cap="flat" cmpd="sng" w="9525">
            <a:solidFill>
              <a:srgbClr val="595959"/>
            </a:solidFill>
            <a:prstDash val="solid"/>
            <a:round/>
            <a:headEnd len="med" w="med" type="none"/>
            <a:tailEnd len="med" w="med" type="none"/>
          </a:ln>
        </p:spPr>
      </p:cxnSp>
      <p:cxnSp>
        <p:nvCxnSpPr>
          <p:cNvPr id="191" name="Google Shape;191;p23"/>
          <p:cNvCxnSpPr/>
          <p:nvPr/>
        </p:nvCxnSpPr>
        <p:spPr>
          <a:xfrm>
            <a:off x="8923150" y="1567000"/>
            <a:ext cx="0" cy="1559700"/>
          </a:xfrm>
          <a:prstGeom prst="straightConnector1">
            <a:avLst/>
          </a:prstGeom>
          <a:noFill/>
          <a:ln cap="flat" cmpd="sng" w="9525">
            <a:solidFill>
              <a:srgbClr val="595959"/>
            </a:solidFill>
            <a:prstDash val="solid"/>
            <a:round/>
            <a:headEnd len="med" w="med" type="none"/>
            <a:tailEnd len="med" w="med" type="none"/>
          </a:ln>
        </p:spPr>
      </p:cxnSp>
      <p:sp>
        <p:nvSpPr>
          <p:cNvPr id="192" name="Google Shape;192;p23"/>
          <p:cNvSpPr txBox="1"/>
          <p:nvPr/>
        </p:nvSpPr>
        <p:spPr>
          <a:xfrm>
            <a:off x="231300" y="1477375"/>
            <a:ext cx="3345300" cy="2062800"/>
          </a:xfrm>
          <a:prstGeom prst="rect">
            <a:avLst/>
          </a:prstGeom>
          <a:noFill/>
          <a:ln>
            <a:noFill/>
          </a:ln>
        </p:spPr>
        <p:txBody>
          <a:bodyPr anchorCtr="0" anchor="t" bIns="91425" lIns="91425" spcFirstLastPara="1" rIns="91425" wrap="square" tIns="91425">
            <a:noAutofit/>
          </a:bodyPr>
          <a:lstStyle/>
          <a:p>
            <a:pPr indent="-320675" lvl="0" marL="457200" rtl="0" algn="l">
              <a:lnSpc>
                <a:spcPct val="130000"/>
              </a:lnSpc>
              <a:spcBef>
                <a:spcPts val="480"/>
              </a:spcBef>
              <a:spcAft>
                <a:spcPts val="0"/>
              </a:spcAft>
              <a:buClr>
                <a:schemeClr val="dk1"/>
              </a:buClr>
              <a:buSzPts val="1450"/>
              <a:buChar char="❖"/>
            </a:pPr>
            <a:r>
              <a:rPr b="1" lang="it" sz="1450">
                <a:solidFill>
                  <a:schemeClr val="dk1"/>
                </a:solidFill>
              </a:rPr>
              <a:t>Analyzed Dataset </a:t>
            </a:r>
            <a:endParaRPr b="1" sz="1450">
              <a:solidFill>
                <a:schemeClr val="dk1"/>
              </a:solidFill>
            </a:endParaRPr>
          </a:p>
          <a:p>
            <a:pPr indent="-320675" lvl="1" marL="914400" rtl="0" algn="l">
              <a:lnSpc>
                <a:spcPct val="130000"/>
              </a:lnSpc>
              <a:spcBef>
                <a:spcPts val="0"/>
              </a:spcBef>
              <a:spcAft>
                <a:spcPts val="0"/>
              </a:spcAft>
              <a:buClr>
                <a:srgbClr val="1A1A1A"/>
              </a:buClr>
              <a:buSzPts val="1450"/>
              <a:buChar char="➢"/>
            </a:pPr>
            <a:r>
              <a:rPr b="1" lang="it" sz="1150">
                <a:solidFill>
                  <a:srgbClr val="1A1A1A"/>
                </a:solidFill>
              </a:rPr>
              <a:t>SEEDS </a:t>
            </a:r>
            <a:endParaRPr b="1" sz="1150">
              <a:solidFill>
                <a:srgbClr val="1A1A1A"/>
              </a:solidFill>
            </a:endParaRPr>
          </a:p>
          <a:p>
            <a:pPr indent="-320675" lvl="1" marL="914400" rtl="0" algn="l">
              <a:lnSpc>
                <a:spcPct val="130000"/>
              </a:lnSpc>
              <a:spcBef>
                <a:spcPts val="0"/>
              </a:spcBef>
              <a:spcAft>
                <a:spcPts val="0"/>
              </a:spcAft>
              <a:buClr>
                <a:srgbClr val="1A1A1A"/>
              </a:buClr>
              <a:buSzPts val="1450"/>
              <a:buChar char="➢"/>
            </a:pPr>
            <a:r>
              <a:rPr b="1" lang="it" sz="1150">
                <a:solidFill>
                  <a:srgbClr val="1A1A1A"/>
                </a:solidFill>
              </a:rPr>
              <a:t>HD FW KIN</a:t>
            </a:r>
            <a:endParaRPr b="1" sz="1150">
              <a:solidFill>
                <a:srgbClr val="1A1A1A"/>
              </a:solidFill>
            </a:endParaRPr>
          </a:p>
          <a:p>
            <a:pPr indent="0" lvl="0" marL="0" rtl="0" algn="l">
              <a:lnSpc>
                <a:spcPct val="130000"/>
              </a:lnSpc>
              <a:spcBef>
                <a:spcPts val="480"/>
              </a:spcBef>
              <a:spcAft>
                <a:spcPts val="0"/>
              </a:spcAft>
              <a:buNone/>
            </a:pPr>
            <a:r>
              <a:rPr b="1" lang="it" sz="1150">
                <a:solidFill>
                  <a:srgbClr val="1A1A1A"/>
                </a:solidFill>
              </a:rPr>
              <a:t>    </a:t>
            </a:r>
            <a:r>
              <a:rPr lang="it" sz="1150">
                <a:solidFill>
                  <a:srgbClr val="1A1A1A"/>
                </a:solidFill>
              </a:rPr>
              <a:t>                  - </a:t>
            </a:r>
            <a:r>
              <a:rPr lang="it" sz="1150">
                <a:solidFill>
                  <a:srgbClr val="1A1A1A"/>
                </a:solidFill>
              </a:rPr>
              <a:t>Clearer Isometric Phases</a:t>
            </a:r>
            <a:endParaRPr sz="1150">
              <a:solidFill>
                <a:srgbClr val="1A1A1A"/>
              </a:solidFill>
            </a:endParaRPr>
          </a:p>
          <a:p>
            <a:pPr indent="0" lvl="0" marL="0" rtl="0" algn="l">
              <a:lnSpc>
                <a:spcPct val="130000"/>
              </a:lnSpc>
              <a:spcBef>
                <a:spcPts val="480"/>
              </a:spcBef>
              <a:spcAft>
                <a:spcPts val="0"/>
              </a:spcAft>
              <a:buNone/>
            </a:pPr>
            <a:r>
              <a:rPr lang="it" sz="1150">
                <a:solidFill>
                  <a:srgbClr val="1A1A1A"/>
                </a:solidFill>
              </a:rPr>
              <a:t>                      - Easier Segmentation</a:t>
            </a:r>
            <a:endParaRPr sz="1150">
              <a:solidFill>
                <a:srgbClr val="1A1A1A"/>
              </a:solidFill>
            </a:endParaRPr>
          </a:p>
          <a:p>
            <a:pPr indent="0" lvl="0" marL="0" rtl="0" algn="l">
              <a:lnSpc>
                <a:spcPct val="130000"/>
              </a:lnSpc>
              <a:spcBef>
                <a:spcPts val="480"/>
              </a:spcBef>
              <a:spcAft>
                <a:spcPts val="0"/>
              </a:spcAft>
              <a:buNone/>
            </a:pPr>
            <a:r>
              <a:rPr lang="it" sz="1150">
                <a:solidFill>
                  <a:srgbClr val="1A1A1A"/>
                </a:solidFill>
              </a:rPr>
              <a:t>                      - Higher Inter-Trial Consistency</a:t>
            </a:r>
            <a:endParaRPr sz="1150">
              <a:solidFill>
                <a:srgbClr val="1A1A1A"/>
              </a:solidFill>
            </a:endParaRPr>
          </a:p>
          <a:p>
            <a:pPr indent="0" lvl="0" marL="457200" rtl="0" algn="l">
              <a:lnSpc>
                <a:spcPct val="130000"/>
              </a:lnSpc>
              <a:spcBef>
                <a:spcPts val="480"/>
              </a:spcBef>
              <a:spcAft>
                <a:spcPts val="0"/>
              </a:spcAft>
              <a:buNone/>
            </a:pPr>
            <a:r>
              <a:t/>
            </a:r>
            <a:endParaRPr b="1" sz="1150">
              <a:solidFill>
                <a:srgbClr val="1A1A1A"/>
              </a:solidFill>
            </a:endParaRPr>
          </a:p>
          <a:p>
            <a:pPr indent="0" lvl="0" marL="0" rtl="0" algn="l">
              <a:lnSpc>
                <a:spcPct val="130000"/>
              </a:lnSpc>
              <a:spcBef>
                <a:spcPts val="480"/>
              </a:spcBef>
              <a:spcAft>
                <a:spcPts val="0"/>
              </a:spcAft>
              <a:buNone/>
            </a:pPr>
            <a:r>
              <a:t/>
            </a:r>
            <a:endParaRPr b="1" sz="1150">
              <a:solidFill>
                <a:srgbClr val="1A1A1A"/>
              </a:solidFill>
            </a:endParaRPr>
          </a:p>
          <a:p>
            <a:pPr indent="0" lvl="0" marL="0" rtl="0" algn="l">
              <a:lnSpc>
                <a:spcPct val="130000"/>
              </a:lnSpc>
              <a:spcBef>
                <a:spcPts val="480"/>
              </a:spcBef>
              <a:spcAft>
                <a:spcPts val="0"/>
              </a:spcAft>
              <a:buNone/>
            </a:pPr>
            <a:r>
              <a:t/>
            </a:r>
            <a:endParaRPr sz="1450">
              <a:solidFill>
                <a:srgbClr val="1A1A1A"/>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4"/>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Dataset</a:t>
            </a:r>
            <a:endParaRPr>
              <a:solidFill>
                <a:schemeClr val="dk1"/>
              </a:solidFill>
            </a:endParaRPr>
          </a:p>
        </p:txBody>
      </p:sp>
      <p:sp>
        <p:nvSpPr>
          <p:cNvPr id="198" name="Google Shape;198;p24"/>
          <p:cNvSpPr txBox="1"/>
          <p:nvPr/>
        </p:nvSpPr>
        <p:spPr>
          <a:xfrm>
            <a:off x="311700" y="1013075"/>
            <a:ext cx="3272100" cy="3245400"/>
          </a:xfrm>
          <a:prstGeom prst="rect">
            <a:avLst/>
          </a:prstGeom>
          <a:noFill/>
          <a:ln>
            <a:noFill/>
          </a:ln>
        </p:spPr>
        <p:txBody>
          <a:bodyPr anchorCtr="0" anchor="t" bIns="91425" lIns="91425" spcFirstLastPara="1" rIns="91425" wrap="square" tIns="91425">
            <a:noAutofit/>
          </a:bodyPr>
          <a:lstStyle/>
          <a:p>
            <a:pPr indent="-320675" lvl="0" marL="457200" rtl="0" algn="l">
              <a:lnSpc>
                <a:spcPct val="130000"/>
              </a:lnSpc>
              <a:spcBef>
                <a:spcPts val="480"/>
              </a:spcBef>
              <a:spcAft>
                <a:spcPts val="0"/>
              </a:spcAft>
              <a:buClr>
                <a:schemeClr val="dk1"/>
              </a:buClr>
              <a:buSzPts val="1450"/>
              <a:buChar char="❖"/>
            </a:pPr>
            <a:r>
              <a:rPr b="1" lang="it" sz="1450">
                <a:solidFill>
                  <a:schemeClr val="dk1"/>
                </a:solidFill>
              </a:rPr>
              <a:t>HD FW KIN dataset</a:t>
            </a:r>
            <a:endParaRPr b="1" sz="1450">
              <a:solidFill>
                <a:schemeClr val="dk1"/>
              </a:solidFill>
            </a:endParaRPr>
          </a:p>
          <a:p>
            <a:pPr indent="-320675" lvl="1" marL="914400" rtl="0" algn="l">
              <a:lnSpc>
                <a:spcPct val="130000"/>
              </a:lnSpc>
              <a:spcBef>
                <a:spcPts val="0"/>
              </a:spcBef>
              <a:spcAft>
                <a:spcPts val="0"/>
              </a:spcAft>
              <a:buClr>
                <a:srgbClr val="1A1A1A"/>
              </a:buClr>
              <a:buSzPts val="1450"/>
              <a:buChar char="➢"/>
            </a:pPr>
            <a:r>
              <a:rPr b="1" lang="it" sz="1150">
                <a:solidFill>
                  <a:srgbClr val="1A1A1A"/>
                </a:solidFill>
              </a:rPr>
              <a:t>sEMG Signal, 3 8x8 grids  </a:t>
            </a:r>
            <a:br>
              <a:rPr b="1" lang="it" sz="1150">
                <a:solidFill>
                  <a:srgbClr val="1A1A1A"/>
                </a:solidFill>
              </a:rPr>
            </a:br>
            <a:r>
              <a:rPr b="1" lang="it" sz="1150">
                <a:solidFill>
                  <a:srgbClr val="1A1A1A"/>
                </a:solidFill>
              </a:rPr>
              <a:t>Fs: 2000 Hz</a:t>
            </a:r>
            <a:endParaRPr b="1" sz="1150">
              <a:solidFill>
                <a:srgbClr val="1A1A1A"/>
              </a:solidFill>
            </a:endParaRPr>
          </a:p>
          <a:p>
            <a:pPr indent="-320675" lvl="1" marL="914400" rtl="0" algn="l">
              <a:lnSpc>
                <a:spcPct val="130000"/>
              </a:lnSpc>
              <a:spcBef>
                <a:spcPts val="0"/>
              </a:spcBef>
              <a:spcAft>
                <a:spcPts val="0"/>
              </a:spcAft>
              <a:buClr>
                <a:srgbClr val="1A1A1A"/>
              </a:buClr>
              <a:buSzPts val="1450"/>
              <a:buChar char="➢"/>
            </a:pPr>
            <a:r>
              <a:rPr b="1" lang="it" sz="1150">
                <a:solidFill>
                  <a:srgbClr val="1A1A1A"/>
                </a:solidFill>
              </a:rPr>
              <a:t>14 Channels Glove Signals</a:t>
            </a:r>
            <a:br>
              <a:rPr b="1" lang="it" sz="1150">
                <a:solidFill>
                  <a:srgbClr val="1A1A1A"/>
                </a:solidFill>
              </a:rPr>
            </a:br>
            <a:r>
              <a:rPr b="1" lang="it" sz="1150">
                <a:solidFill>
                  <a:srgbClr val="1A1A1A"/>
                </a:solidFill>
              </a:rPr>
              <a:t>Fs: 200Hz</a:t>
            </a:r>
            <a:br>
              <a:rPr b="1" lang="it" sz="1150">
                <a:solidFill>
                  <a:srgbClr val="1A1A1A"/>
                </a:solidFill>
              </a:rPr>
            </a:br>
            <a:r>
              <a:rPr i="1" lang="it" sz="1150">
                <a:solidFill>
                  <a:srgbClr val="1A1A1A"/>
                </a:solidFill>
              </a:rPr>
              <a:t>Each represents fingers’ flexion, extension, abduction.</a:t>
            </a:r>
            <a:endParaRPr i="1" sz="1150">
              <a:solidFill>
                <a:srgbClr val="1A1A1A"/>
              </a:solidFill>
            </a:endParaRPr>
          </a:p>
          <a:p>
            <a:pPr indent="0" lvl="0" marL="914400" rtl="0" algn="l">
              <a:lnSpc>
                <a:spcPct val="130000"/>
              </a:lnSpc>
              <a:spcBef>
                <a:spcPts val="480"/>
              </a:spcBef>
              <a:spcAft>
                <a:spcPts val="0"/>
              </a:spcAft>
              <a:buNone/>
            </a:pPr>
            <a:r>
              <a:t/>
            </a:r>
            <a:endParaRPr i="1" sz="1150">
              <a:solidFill>
                <a:srgbClr val="1A1A1A"/>
              </a:solidFill>
            </a:endParaRPr>
          </a:p>
          <a:p>
            <a:pPr indent="-320675" lvl="0" marL="457200" rtl="0" algn="l">
              <a:lnSpc>
                <a:spcPct val="130000"/>
              </a:lnSpc>
              <a:spcBef>
                <a:spcPts val="480"/>
              </a:spcBef>
              <a:spcAft>
                <a:spcPts val="0"/>
              </a:spcAft>
              <a:buClr>
                <a:schemeClr val="dk1"/>
              </a:buClr>
              <a:buSzPts val="1450"/>
              <a:buChar char="❖"/>
            </a:pPr>
            <a:r>
              <a:rPr b="1" lang="it" sz="1450">
                <a:solidFill>
                  <a:schemeClr val="dk1"/>
                </a:solidFill>
              </a:rPr>
              <a:t>T</a:t>
            </a:r>
            <a:r>
              <a:rPr b="1" lang="it" sz="1450">
                <a:solidFill>
                  <a:schemeClr val="dk1"/>
                </a:solidFill>
              </a:rPr>
              <a:t>arget</a:t>
            </a:r>
            <a:r>
              <a:rPr b="1" lang="it" sz="1450">
                <a:solidFill>
                  <a:schemeClr val="dk1"/>
                </a:solidFill>
              </a:rPr>
              <a:t> Movements</a:t>
            </a:r>
            <a:endParaRPr b="1" sz="1450">
              <a:solidFill>
                <a:schemeClr val="dk1"/>
              </a:solidFill>
            </a:endParaRPr>
          </a:p>
          <a:p>
            <a:pPr indent="-301625" lvl="1" marL="914400" rtl="0" algn="l">
              <a:lnSpc>
                <a:spcPct val="130000"/>
              </a:lnSpc>
              <a:spcBef>
                <a:spcPts val="0"/>
              </a:spcBef>
              <a:spcAft>
                <a:spcPts val="0"/>
              </a:spcAft>
              <a:buClr>
                <a:srgbClr val="1A1A1A"/>
              </a:buClr>
              <a:buSzPts val="1150"/>
              <a:buChar char="➢"/>
            </a:pPr>
            <a:r>
              <a:rPr b="1" lang="it" sz="1150">
                <a:solidFill>
                  <a:srgbClr val="1A1A1A"/>
                </a:solidFill>
              </a:rPr>
              <a:t>Isometric Hand Closed</a:t>
            </a:r>
            <a:endParaRPr b="1" sz="1150">
              <a:solidFill>
                <a:srgbClr val="1A1A1A"/>
              </a:solidFill>
            </a:endParaRPr>
          </a:p>
          <a:p>
            <a:pPr indent="-301625" lvl="1" marL="914400" rtl="0" algn="l">
              <a:lnSpc>
                <a:spcPct val="130000"/>
              </a:lnSpc>
              <a:spcBef>
                <a:spcPts val="0"/>
              </a:spcBef>
              <a:spcAft>
                <a:spcPts val="0"/>
              </a:spcAft>
              <a:buClr>
                <a:srgbClr val="1A1A1A"/>
              </a:buClr>
              <a:buSzPts val="1150"/>
              <a:buChar char="➢"/>
            </a:pPr>
            <a:r>
              <a:rPr b="1" lang="it" sz="1150">
                <a:solidFill>
                  <a:srgbClr val="1A1A1A"/>
                </a:solidFill>
              </a:rPr>
              <a:t>Concatenated Isometric Pinch-Hand Closed</a:t>
            </a:r>
            <a:endParaRPr b="1" sz="1150">
              <a:solidFill>
                <a:srgbClr val="1A1A1A"/>
              </a:solidFill>
            </a:endParaRPr>
          </a:p>
          <a:p>
            <a:pPr indent="0" lvl="0" marL="0" rtl="0" algn="l">
              <a:lnSpc>
                <a:spcPct val="130000"/>
              </a:lnSpc>
              <a:spcBef>
                <a:spcPts val="480"/>
              </a:spcBef>
              <a:spcAft>
                <a:spcPts val="0"/>
              </a:spcAft>
              <a:buNone/>
            </a:pPr>
            <a:r>
              <a:t/>
            </a:r>
            <a:endParaRPr sz="1450">
              <a:solidFill>
                <a:srgbClr val="1A1A1A"/>
              </a:solidFill>
            </a:endParaRPr>
          </a:p>
        </p:txBody>
      </p:sp>
      <p:pic>
        <p:nvPicPr>
          <p:cNvPr id="199" name="Google Shape;199;p24" title="image_2026-07-13_23-24-47.png"/>
          <p:cNvPicPr preferRelativeResize="0"/>
          <p:nvPr/>
        </p:nvPicPr>
        <p:blipFill>
          <a:blip r:embed="rId3">
            <a:alphaModFix/>
          </a:blip>
          <a:stretch>
            <a:fillRect/>
          </a:stretch>
        </p:blipFill>
        <p:spPr>
          <a:xfrm>
            <a:off x="3922975" y="885027"/>
            <a:ext cx="5133924" cy="3013859"/>
          </a:xfrm>
          <a:prstGeom prst="rect">
            <a:avLst/>
          </a:prstGeom>
          <a:noFill/>
          <a:ln>
            <a:noFill/>
          </a:ln>
        </p:spPr>
      </p:pic>
      <p:sp>
        <p:nvSpPr>
          <p:cNvPr id="200" name="Google Shape;200;p24"/>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5"/>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Dataset</a:t>
            </a:r>
            <a:endParaRPr>
              <a:solidFill>
                <a:schemeClr val="dk1"/>
              </a:solidFill>
            </a:endParaRPr>
          </a:p>
        </p:txBody>
      </p:sp>
      <p:sp>
        <p:nvSpPr>
          <p:cNvPr id="206" name="Google Shape;206;p25"/>
          <p:cNvSpPr txBox="1"/>
          <p:nvPr/>
        </p:nvSpPr>
        <p:spPr>
          <a:xfrm>
            <a:off x="311700" y="1387350"/>
            <a:ext cx="3272100" cy="23688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b="1" lang="it" sz="1450">
                <a:solidFill>
                  <a:srgbClr val="1A1A1A"/>
                </a:solidFill>
              </a:rPr>
              <a:t>Far Fields Grids</a:t>
            </a:r>
            <a:endParaRPr b="1" sz="1450">
              <a:solidFill>
                <a:srgbClr val="1A1A1A"/>
              </a:solidFill>
            </a:endParaRPr>
          </a:p>
          <a:p>
            <a:pPr indent="-307975" lvl="0" marL="457200" rtl="0" algn="l">
              <a:lnSpc>
                <a:spcPct val="100000"/>
              </a:lnSpc>
              <a:spcBef>
                <a:spcPts val="480"/>
              </a:spcBef>
              <a:spcAft>
                <a:spcPts val="0"/>
              </a:spcAft>
              <a:buClr>
                <a:srgbClr val="1A1A1A"/>
              </a:buClr>
              <a:buSzPts val="1250"/>
              <a:buChar char="❖"/>
            </a:pPr>
            <a:r>
              <a:rPr b="1" lang="it" sz="1250">
                <a:solidFill>
                  <a:srgbClr val="1A1A1A"/>
                </a:solidFill>
              </a:rPr>
              <a:t>Three 8 × 8 HD sEMG electrode arrays</a:t>
            </a:r>
            <a:br>
              <a:rPr b="1" lang="it" sz="1250">
                <a:solidFill>
                  <a:srgbClr val="1A1A1A"/>
                </a:solidFill>
              </a:rPr>
            </a:br>
            <a:endParaRPr b="1" sz="1250">
              <a:solidFill>
                <a:srgbClr val="1A1A1A"/>
              </a:solidFill>
            </a:endParaRPr>
          </a:p>
          <a:p>
            <a:pPr indent="-307975" lvl="0" marL="457200" rtl="0" algn="l">
              <a:lnSpc>
                <a:spcPct val="100000"/>
              </a:lnSpc>
              <a:spcBef>
                <a:spcPts val="0"/>
              </a:spcBef>
              <a:spcAft>
                <a:spcPts val="0"/>
              </a:spcAft>
              <a:buClr>
                <a:srgbClr val="1A1A1A"/>
              </a:buClr>
              <a:buSzPts val="1250"/>
              <a:buChar char="❖"/>
            </a:pPr>
            <a:r>
              <a:rPr b="1" lang="it" sz="1250">
                <a:solidFill>
                  <a:srgbClr val="1A1A1A"/>
                </a:solidFill>
              </a:rPr>
              <a:t>10 mm inter-electrode distance attached on the flexors/extensor muscles around forearm</a:t>
            </a:r>
            <a:endParaRPr b="1" sz="1250">
              <a:solidFill>
                <a:srgbClr val="1A1A1A"/>
              </a:solidFill>
            </a:endParaRPr>
          </a:p>
        </p:txBody>
      </p:sp>
      <p:sp>
        <p:nvSpPr>
          <p:cNvPr id="207" name="Google Shape;207;p25"/>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pic>
        <p:nvPicPr>
          <p:cNvPr id="208" name="Google Shape;208;p25" title="electrodereference.png"/>
          <p:cNvPicPr preferRelativeResize="0"/>
          <p:nvPr/>
        </p:nvPicPr>
        <p:blipFill rotWithShape="1">
          <a:blip r:embed="rId3">
            <a:alphaModFix/>
          </a:blip>
          <a:srcRect b="0" l="0" r="0" t="0"/>
          <a:stretch/>
        </p:blipFill>
        <p:spPr>
          <a:xfrm>
            <a:off x="3726200" y="1013075"/>
            <a:ext cx="5143200" cy="2982924"/>
          </a:xfrm>
          <a:prstGeom prst="rect">
            <a:avLst/>
          </a:prstGeom>
          <a:noFill/>
          <a:ln>
            <a:noFill/>
          </a:ln>
        </p:spPr>
      </p:pic>
      <p:sp>
        <p:nvSpPr>
          <p:cNvPr id="209" name="Google Shape;209;p25"/>
          <p:cNvSpPr txBox="1"/>
          <p:nvPr/>
        </p:nvSpPr>
        <p:spPr>
          <a:xfrm>
            <a:off x="4157025" y="4042775"/>
            <a:ext cx="4398300" cy="3018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550"/>
              <a:t>Fig. 5 “Hand kinematics, high-density semg comprising forearm and far-field potentials for motion intent recognition” Guo et al., 2025.</a:t>
            </a:r>
            <a:endParaRPr sz="550"/>
          </a:p>
          <a:p>
            <a:pPr indent="0" lvl="0" marL="0" rtl="0" algn="l">
              <a:lnSpc>
                <a:spcPct val="130000"/>
              </a:lnSpc>
              <a:spcBef>
                <a:spcPts val="480"/>
              </a:spcBef>
              <a:spcAft>
                <a:spcPts val="0"/>
              </a:spcAft>
              <a:buNone/>
            </a:pPr>
            <a:r>
              <a:t/>
            </a:r>
            <a:endParaRPr sz="55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6"/>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Preprocessing</a:t>
            </a:r>
            <a:endParaRPr>
              <a:solidFill>
                <a:schemeClr val="dk1"/>
              </a:solidFill>
            </a:endParaRPr>
          </a:p>
        </p:txBody>
      </p:sp>
      <p:sp>
        <p:nvSpPr>
          <p:cNvPr id="215" name="Google Shape;215;p26"/>
          <p:cNvSpPr txBox="1"/>
          <p:nvPr/>
        </p:nvSpPr>
        <p:spPr>
          <a:xfrm>
            <a:off x="788775" y="713546"/>
            <a:ext cx="3090600" cy="1122600"/>
          </a:xfrm>
          <a:prstGeom prst="rect">
            <a:avLst/>
          </a:prstGeom>
          <a:noFill/>
          <a:ln>
            <a:noFill/>
          </a:ln>
        </p:spPr>
        <p:txBody>
          <a:bodyPr anchorCtr="0" anchor="t" bIns="91425" lIns="91425" spcFirstLastPara="1" rIns="91425" wrap="square" tIns="91425">
            <a:noAutofit/>
          </a:bodyPr>
          <a:lstStyle/>
          <a:p>
            <a:pPr indent="-320675" lvl="0" marL="457200" rtl="0" algn="l">
              <a:lnSpc>
                <a:spcPct val="100000"/>
              </a:lnSpc>
              <a:spcBef>
                <a:spcPts val="480"/>
              </a:spcBef>
              <a:spcAft>
                <a:spcPts val="0"/>
              </a:spcAft>
              <a:buClr>
                <a:schemeClr val="dk1"/>
              </a:buClr>
              <a:buSzPts val="1450"/>
              <a:buChar char="❖"/>
            </a:pPr>
            <a:r>
              <a:rPr b="1" lang="it" sz="1450">
                <a:solidFill>
                  <a:schemeClr val="dk1"/>
                </a:solidFill>
              </a:rPr>
              <a:t>Band Pass Filtering</a:t>
            </a:r>
            <a:endParaRPr b="1" sz="1450">
              <a:solidFill>
                <a:schemeClr val="dk1"/>
              </a:solidFill>
            </a:endParaRPr>
          </a:p>
          <a:p>
            <a:pPr indent="-320675" lvl="1" marL="914400" rtl="0" algn="l">
              <a:lnSpc>
                <a:spcPct val="100000"/>
              </a:lnSpc>
              <a:spcBef>
                <a:spcPts val="0"/>
              </a:spcBef>
              <a:spcAft>
                <a:spcPts val="0"/>
              </a:spcAft>
              <a:buClr>
                <a:schemeClr val="dk1"/>
              </a:buClr>
              <a:buSzPts val="1450"/>
              <a:buChar char="➢"/>
            </a:pPr>
            <a:r>
              <a:rPr b="1" lang="it" sz="1150">
                <a:solidFill>
                  <a:srgbClr val="1A1A1A"/>
                </a:solidFill>
              </a:rPr>
              <a:t>4th Order Butterworth 20-500 Hz</a:t>
            </a:r>
            <a:endParaRPr b="1" sz="1450">
              <a:solidFill>
                <a:schemeClr val="dk1"/>
              </a:solidFill>
            </a:endParaRPr>
          </a:p>
          <a:p>
            <a:pPr indent="0" lvl="0" marL="457200" rtl="0" algn="l">
              <a:lnSpc>
                <a:spcPct val="130000"/>
              </a:lnSpc>
              <a:spcBef>
                <a:spcPts val="480"/>
              </a:spcBef>
              <a:spcAft>
                <a:spcPts val="0"/>
              </a:spcAft>
              <a:buNone/>
            </a:pPr>
            <a:r>
              <a:t/>
            </a:r>
            <a:endParaRPr b="1" sz="1450">
              <a:solidFill>
                <a:schemeClr val="dk1"/>
              </a:solidFill>
            </a:endParaRPr>
          </a:p>
        </p:txBody>
      </p:sp>
      <p:pic>
        <p:nvPicPr>
          <p:cNvPr id="216" name="Google Shape;216;p26" title="upsampling.png"/>
          <p:cNvPicPr preferRelativeResize="0"/>
          <p:nvPr/>
        </p:nvPicPr>
        <p:blipFill>
          <a:blip r:embed="rId3">
            <a:alphaModFix/>
          </a:blip>
          <a:stretch>
            <a:fillRect/>
          </a:stretch>
        </p:blipFill>
        <p:spPr>
          <a:xfrm>
            <a:off x="788787" y="1763600"/>
            <a:ext cx="7566434" cy="2757000"/>
          </a:xfrm>
          <a:prstGeom prst="rect">
            <a:avLst/>
          </a:prstGeom>
          <a:noFill/>
          <a:ln>
            <a:noFill/>
          </a:ln>
        </p:spPr>
      </p:pic>
      <p:sp>
        <p:nvSpPr>
          <p:cNvPr id="217" name="Google Shape;217;p26"/>
          <p:cNvSpPr txBox="1"/>
          <p:nvPr/>
        </p:nvSpPr>
        <p:spPr>
          <a:xfrm>
            <a:off x="4916625" y="713546"/>
            <a:ext cx="3438600" cy="1122600"/>
          </a:xfrm>
          <a:prstGeom prst="rect">
            <a:avLst/>
          </a:prstGeom>
          <a:noFill/>
          <a:ln>
            <a:noFill/>
          </a:ln>
        </p:spPr>
        <p:txBody>
          <a:bodyPr anchorCtr="0" anchor="t" bIns="91425" lIns="91425" spcFirstLastPara="1" rIns="91425" wrap="square" tIns="91425">
            <a:noAutofit/>
          </a:bodyPr>
          <a:lstStyle/>
          <a:p>
            <a:pPr indent="-320675" lvl="0" marL="457200" rtl="0" algn="l">
              <a:spcBef>
                <a:spcPts val="480"/>
              </a:spcBef>
              <a:spcAft>
                <a:spcPts val="0"/>
              </a:spcAft>
              <a:buClr>
                <a:schemeClr val="dk1"/>
              </a:buClr>
              <a:buSzPts val="1450"/>
              <a:buChar char="❖"/>
            </a:pPr>
            <a:r>
              <a:rPr b="1" lang="it" sz="1450">
                <a:solidFill>
                  <a:schemeClr val="dk1"/>
                </a:solidFill>
              </a:rPr>
              <a:t>Upsampling</a:t>
            </a:r>
            <a:endParaRPr b="1" sz="1450">
              <a:solidFill>
                <a:schemeClr val="dk1"/>
              </a:solidFill>
            </a:endParaRPr>
          </a:p>
          <a:p>
            <a:pPr indent="-320675" lvl="1" marL="914400" rtl="0" algn="l">
              <a:spcBef>
                <a:spcPts val="0"/>
              </a:spcBef>
              <a:spcAft>
                <a:spcPts val="0"/>
              </a:spcAft>
              <a:buClr>
                <a:schemeClr val="dk1"/>
              </a:buClr>
              <a:buSzPts val="1450"/>
              <a:buChar char="➢"/>
            </a:pPr>
            <a:r>
              <a:rPr b="1" lang="it" sz="1260">
                <a:solidFill>
                  <a:srgbClr val="1A1A1A"/>
                </a:solidFill>
              </a:rPr>
              <a:t>sEMG Signal Upsampled up to 4000 Hz and Reconstructed at Original Fs for Time Dilation </a:t>
            </a:r>
            <a:endParaRPr b="1" sz="1450">
              <a:solidFill>
                <a:schemeClr val="dk1"/>
              </a:solidFill>
            </a:endParaRPr>
          </a:p>
          <a:p>
            <a:pPr indent="0" lvl="0" marL="457200" rtl="0" algn="l">
              <a:lnSpc>
                <a:spcPct val="130000"/>
              </a:lnSpc>
              <a:spcBef>
                <a:spcPts val="480"/>
              </a:spcBef>
              <a:spcAft>
                <a:spcPts val="0"/>
              </a:spcAft>
              <a:buNone/>
            </a:pPr>
            <a:r>
              <a:t/>
            </a:r>
            <a:endParaRPr b="1" sz="1450">
              <a:solidFill>
                <a:schemeClr val="dk1"/>
              </a:solidFill>
            </a:endParaRPr>
          </a:p>
        </p:txBody>
      </p:sp>
      <p:sp>
        <p:nvSpPr>
          <p:cNvPr id="218" name="Google Shape;218;p26"/>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7"/>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MUedit: Motor Unit Decomposition</a:t>
            </a:r>
            <a:endParaRPr>
              <a:solidFill>
                <a:schemeClr val="dk1"/>
              </a:solidFill>
            </a:endParaRPr>
          </a:p>
        </p:txBody>
      </p:sp>
      <p:pic>
        <p:nvPicPr>
          <p:cNvPr id="224" name="Google Shape;224;p27" title="decompositionpanel.png"/>
          <p:cNvPicPr preferRelativeResize="0"/>
          <p:nvPr/>
        </p:nvPicPr>
        <p:blipFill>
          <a:blip r:embed="rId3">
            <a:alphaModFix/>
          </a:blip>
          <a:stretch>
            <a:fillRect/>
          </a:stretch>
        </p:blipFill>
        <p:spPr>
          <a:xfrm>
            <a:off x="3109802" y="978400"/>
            <a:ext cx="5751525" cy="3261900"/>
          </a:xfrm>
          <a:prstGeom prst="rect">
            <a:avLst/>
          </a:prstGeom>
          <a:noFill/>
          <a:ln>
            <a:noFill/>
          </a:ln>
        </p:spPr>
      </p:pic>
      <p:sp>
        <p:nvSpPr>
          <p:cNvPr id="225" name="Google Shape;225;p27"/>
          <p:cNvSpPr txBox="1"/>
          <p:nvPr/>
        </p:nvSpPr>
        <p:spPr>
          <a:xfrm>
            <a:off x="311700" y="1432350"/>
            <a:ext cx="2764200" cy="2278800"/>
          </a:xfrm>
          <a:prstGeom prst="rect">
            <a:avLst/>
          </a:prstGeom>
          <a:noFill/>
          <a:ln>
            <a:noFill/>
          </a:ln>
        </p:spPr>
        <p:txBody>
          <a:bodyPr anchorCtr="0" anchor="t" bIns="91425" lIns="91425" spcFirstLastPara="1" rIns="91425" wrap="square" tIns="91425">
            <a:noAutofit/>
          </a:bodyPr>
          <a:lstStyle/>
          <a:p>
            <a:pPr indent="0" lvl="0" marL="0" rtl="0" algn="l">
              <a:spcBef>
                <a:spcPts val="480"/>
              </a:spcBef>
              <a:spcAft>
                <a:spcPts val="0"/>
              </a:spcAft>
              <a:buNone/>
            </a:pPr>
            <a:r>
              <a:rPr b="1" lang="it" sz="1650">
                <a:solidFill>
                  <a:srgbClr val="1A1A1A"/>
                </a:solidFill>
              </a:rPr>
              <a:t>FastICA Algorithm</a:t>
            </a:r>
            <a:endParaRPr b="1" sz="1650">
              <a:solidFill>
                <a:srgbClr val="1A1A1A"/>
              </a:solidFill>
            </a:endParaRPr>
          </a:p>
          <a:p>
            <a:pPr indent="-314325" lvl="0" marL="457200" rtl="0" algn="l">
              <a:lnSpc>
                <a:spcPct val="100000"/>
              </a:lnSpc>
              <a:spcBef>
                <a:spcPts val="1000"/>
              </a:spcBef>
              <a:spcAft>
                <a:spcPts val="0"/>
              </a:spcAft>
              <a:buClr>
                <a:srgbClr val="1A1A1A"/>
              </a:buClr>
              <a:buSzPts val="1350"/>
              <a:buChar char="❖"/>
            </a:pPr>
            <a:r>
              <a:rPr lang="it" sz="1350">
                <a:solidFill>
                  <a:srgbClr val="1A1A1A"/>
                </a:solidFill>
              </a:rPr>
              <a:t>For each subject, the most isometric trial has been chosen as reference. </a:t>
            </a:r>
            <a:br>
              <a:rPr lang="it" sz="1350">
                <a:solidFill>
                  <a:srgbClr val="1A1A1A"/>
                </a:solidFill>
              </a:rPr>
            </a:br>
            <a:endParaRPr sz="1350">
              <a:solidFill>
                <a:srgbClr val="1A1A1A"/>
              </a:solidFill>
            </a:endParaRPr>
          </a:p>
          <a:p>
            <a:pPr indent="-314325" lvl="0" marL="457200" rtl="0" algn="l">
              <a:lnSpc>
                <a:spcPct val="100000"/>
              </a:lnSpc>
              <a:spcBef>
                <a:spcPts val="0"/>
              </a:spcBef>
              <a:spcAft>
                <a:spcPts val="0"/>
              </a:spcAft>
              <a:buClr>
                <a:srgbClr val="1A1A1A"/>
              </a:buClr>
              <a:buSzPts val="1350"/>
              <a:buChar char="❖"/>
            </a:pPr>
            <a:r>
              <a:rPr lang="it" sz="1350">
                <a:solidFill>
                  <a:srgbClr val="1A1A1A"/>
                </a:solidFill>
              </a:rPr>
              <a:t>MUfilters for each reference trial are saved and applied to the other trials relative to their subjects. </a:t>
            </a:r>
            <a:br>
              <a:rPr lang="it" sz="1350">
                <a:solidFill>
                  <a:srgbClr val="1A1A1A"/>
                </a:solidFill>
              </a:rPr>
            </a:br>
            <a:endParaRPr sz="1350">
              <a:solidFill>
                <a:srgbClr val="1A1A1A"/>
              </a:solidFill>
            </a:endParaRPr>
          </a:p>
          <a:p>
            <a:pPr indent="0" lvl="0" marL="0" rtl="0" algn="l">
              <a:lnSpc>
                <a:spcPct val="100000"/>
              </a:lnSpc>
              <a:spcBef>
                <a:spcPts val="480"/>
              </a:spcBef>
              <a:spcAft>
                <a:spcPts val="0"/>
              </a:spcAft>
              <a:buNone/>
            </a:pPr>
            <a:r>
              <a:t/>
            </a:r>
            <a:endParaRPr sz="1350">
              <a:solidFill>
                <a:srgbClr val="1A1A1A"/>
              </a:solidFill>
            </a:endParaRPr>
          </a:p>
        </p:txBody>
      </p:sp>
      <p:sp>
        <p:nvSpPr>
          <p:cNvPr id="226" name="Google Shape;226;p27"/>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28" title="Mufilters17reapplied.png"/>
          <p:cNvPicPr preferRelativeResize="0"/>
          <p:nvPr/>
        </p:nvPicPr>
        <p:blipFill>
          <a:blip r:embed="rId3">
            <a:alphaModFix/>
          </a:blip>
          <a:stretch>
            <a:fillRect/>
          </a:stretch>
        </p:blipFill>
        <p:spPr>
          <a:xfrm>
            <a:off x="4572000" y="914627"/>
            <a:ext cx="4552805" cy="3642250"/>
          </a:xfrm>
          <a:prstGeom prst="rect">
            <a:avLst/>
          </a:prstGeom>
          <a:noFill/>
          <a:ln>
            <a:noFill/>
          </a:ln>
        </p:spPr>
      </p:pic>
      <p:sp>
        <p:nvSpPr>
          <p:cNvPr id="232" name="Google Shape;232;p28"/>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Postprocessing MUFilters </a:t>
            </a:r>
            <a:endParaRPr>
              <a:solidFill>
                <a:schemeClr val="dk1"/>
              </a:solidFill>
            </a:endParaRPr>
          </a:p>
        </p:txBody>
      </p:sp>
      <p:sp>
        <p:nvSpPr>
          <p:cNvPr id="233" name="Google Shape;233;p28"/>
          <p:cNvSpPr txBox="1"/>
          <p:nvPr/>
        </p:nvSpPr>
        <p:spPr>
          <a:xfrm>
            <a:off x="518900" y="859725"/>
            <a:ext cx="4227300" cy="3130200"/>
          </a:xfrm>
          <a:prstGeom prst="rect">
            <a:avLst/>
          </a:prstGeom>
          <a:noFill/>
          <a:ln>
            <a:noFill/>
          </a:ln>
        </p:spPr>
        <p:txBody>
          <a:bodyPr anchorCtr="0" anchor="t" bIns="91425" lIns="91425" spcFirstLastPara="1" rIns="91425" wrap="square" tIns="91425">
            <a:noAutofit/>
          </a:bodyPr>
          <a:lstStyle/>
          <a:p>
            <a:pPr indent="-320675" lvl="0" marL="457200" rtl="0" algn="l">
              <a:spcBef>
                <a:spcPts val="480"/>
              </a:spcBef>
              <a:spcAft>
                <a:spcPts val="0"/>
              </a:spcAft>
              <a:buClr>
                <a:schemeClr val="dk1"/>
              </a:buClr>
              <a:buSzPts val="1450"/>
              <a:buChar char="❖"/>
            </a:pPr>
            <a:r>
              <a:rPr b="1" lang="it" sz="1450">
                <a:solidFill>
                  <a:schemeClr val="dk1"/>
                </a:solidFill>
              </a:rPr>
              <a:t>Spike Trains Discharge Rate Frequency</a:t>
            </a:r>
            <a:endParaRPr b="1" sz="1450">
              <a:solidFill>
                <a:schemeClr val="dk1"/>
              </a:solidFill>
            </a:endParaRPr>
          </a:p>
          <a:p>
            <a:pPr indent="-320675" lvl="1" marL="914400" rtl="0" algn="l">
              <a:spcBef>
                <a:spcPts val="0"/>
              </a:spcBef>
              <a:spcAft>
                <a:spcPts val="0"/>
              </a:spcAft>
              <a:buClr>
                <a:srgbClr val="1A1A1A"/>
              </a:buClr>
              <a:buSzPts val="1450"/>
              <a:buChar char="➢"/>
            </a:pPr>
            <a:r>
              <a:rPr b="1" lang="it" sz="1150">
                <a:solidFill>
                  <a:srgbClr val="1A1A1A"/>
                </a:solidFill>
              </a:rPr>
              <a:t>Each MU must have 25 spikes per task. </a:t>
            </a:r>
            <a:br>
              <a:rPr b="1" lang="it" sz="1150">
                <a:solidFill>
                  <a:srgbClr val="1A1A1A"/>
                </a:solidFill>
              </a:rPr>
            </a:br>
            <a:endParaRPr b="1" sz="1450">
              <a:solidFill>
                <a:srgbClr val="1A1A1A"/>
              </a:solidFill>
            </a:endParaRPr>
          </a:p>
          <a:p>
            <a:pPr indent="-320675" lvl="0" marL="457200" rtl="0" algn="l">
              <a:spcBef>
                <a:spcPts val="0"/>
              </a:spcBef>
              <a:spcAft>
                <a:spcPts val="0"/>
              </a:spcAft>
              <a:buClr>
                <a:schemeClr val="dk1"/>
              </a:buClr>
              <a:buSzPts val="1450"/>
              <a:buChar char="❖"/>
            </a:pPr>
            <a:r>
              <a:rPr b="1" lang="it" sz="1450">
                <a:solidFill>
                  <a:schemeClr val="dk1"/>
                </a:solidFill>
              </a:rPr>
              <a:t>2D normalized Cross-Correlation </a:t>
            </a:r>
            <a:endParaRPr b="1" sz="1450">
              <a:solidFill>
                <a:schemeClr val="dk1"/>
              </a:solidFill>
            </a:endParaRPr>
          </a:p>
          <a:p>
            <a:pPr indent="-320675" lvl="1" marL="914400" rtl="0" algn="l">
              <a:spcBef>
                <a:spcPts val="0"/>
              </a:spcBef>
              <a:spcAft>
                <a:spcPts val="0"/>
              </a:spcAft>
              <a:buClr>
                <a:srgbClr val="1A1A1A"/>
              </a:buClr>
              <a:buSzPts val="1450"/>
              <a:buChar char="➢"/>
            </a:pPr>
            <a:r>
              <a:rPr b="1" lang="it" sz="1260">
                <a:solidFill>
                  <a:srgbClr val="1A1A1A"/>
                </a:solidFill>
              </a:rPr>
              <a:t>For each MU, its MUAP is </a:t>
            </a:r>
            <a:r>
              <a:rPr b="1" lang="it" sz="1260">
                <a:solidFill>
                  <a:srgbClr val="1A1A1A"/>
                </a:solidFill>
              </a:rPr>
              <a:t>computed</a:t>
            </a:r>
            <a:r>
              <a:rPr b="1" lang="it" sz="1260">
                <a:solidFill>
                  <a:srgbClr val="1A1A1A"/>
                </a:solidFill>
              </a:rPr>
              <a:t> with Spike Triggered Average formulation.</a:t>
            </a:r>
            <a:endParaRPr b="1" sz="1260">
              <a:solidFill>
                <a:srgbClr val="1A1A1A"/>
              </a:solidFill>
            </a:endParaRPr>
          </a:p>
          <a:p>
            <a:pPr indent="0" lvl="0" marL="914400" rtl="0" algn="l">
              <a:spcBef>
                <a:spcPts val="480"/>
              </a:spcBef>
              <a:spcAft>
                <a:spcPts val="0"/>
              </a:spcAft>
              <a:buNone/>
            </a:pPr>
            <a:r>
              <a:rPr b="1" lang="it" sz="1260">
                <a:solidFill>
                  <a:srgbClr val="1A1A1A"/>
                </a:solidFill>
              </a:rPr>
              <a:t> </a:t>
            </a:r>
            <a:endParaRPr b="1" sz="1260">
              <a:solidFill>
                <a:srgbClr val="1A1A1A"/>
              </a:solidFill>
            </a:endParaRPr>
          </a:p>
          <a:p>
            <a:pPr indent="-308610" lvl="1" marL="914400" rtl="0" algn="l">
              <a:spcBef>
                <a:spcPts val="480"/>
              </a:spcBef>
              <a:spcAft>
                <a:spcPts val="0"/>
              </a:spcAft>
              <a:buClr>
                <a:srgbClr val="1A1A1A"/>
              </a:buClr>
              <a:buSzPts val="1260"/>
              <a:buChar char="➢"/>
            </a:pPr>
            <a:r>
              <a:rPr b="1" lang="it" sz="1260">
                <a:solidFill>
                  <a:srgbClr val="1A1A1A"/>
                </a:solidFill>
              </a:rPr>
              <a:t>MU consistency</a:t>
            </a:r>
            <a:br>
              <a:rPr b="1" lang="it" sz="1260">
                <a:solidFill>
                  <a:srgbClr val="1A1A1A"/>
                </a:solidFill>
              </a:rPr>
            </a:br>
            <a:r>
              <a:rPr b="1" lang="it" sz="1260">
                <a:solidFill>
                  <a:srgbClr val="1A1A1A"/>
                </a:solidFill>
              </a:rPr>
              <a:t>Cross-correlation Threshold: </a:t>
            </a:r>
            <a:endParaRPr b="1" sz="1260">
              <a:solidFill>
                <a:srgbClr val="1A1A1A"/>
              </a:solidFill>
            </a:endParaRPr>
          </a:p>
          <a:p>
            <a:pPr indent="-308610" lvl="2" marL="1371600" rtl="0" algn="l">
              <a:spcBef>
                <a:spcPts val="0"/>
              </a:spcBef>
              <a:spcAft>
                <a:spcPts val="0"/>
              </a:spcAft>
              <a:buClr>
                <a:srgbClr val="1A1A1A"/>
              </a:buClr>
              <a:buSzPts val="1260"/>
              <a:buChar char="■"/>
            </a:pPr>
            <a:r>
              <a:rPr lang="it" sz="1260">
                <a:solidFill>
                  <a:srgbClr val="1A1A1A"/>
                </a:solidFill>
              </a:rPr>
              <a:t>for MUAPs of same MU </a:t>
            </a:r>
            <a:endParaRPr sz="1260">
              <a:solidFill>
                <a:srgbClr val="1A1A1A"/>
              </a:solidFill>
            </a:endParaRPr>
          </a:p>
          <a:p>
            <a:pPr indent="-308610" lvl="2" marL="1371600" rtl="0" algn="l">
              <a:spcBef>
                <a:spcPts val="0"/>
              </a:spcBef>
              <a:spcAft>
                <a:spcPts val="0"/>
              </a:spcAft>
              <a:buClr>
                <a:srgbClr val="1A1A1A"/>
              </a:buClr>
              <a:buSzPts val="1260"/>
              <a:buChar char="■"/>
            </a:pPr>
            <a:r>
              <a:rPr lang="it" sz="1260">
                <a:solidFill>
                  <a:srgbClr val="1A1A1A"/>
                </a:solidFill>
              </a:rPr>
              <a:t>different tasks. </a:t>
            </a:r>
            <a:endParaRPr sz="1260">
              <a:solidFill>
                <a:srgbClr val="1A1A1A"/>
              </a:solidFill>
            </a:endParaRPr>
          </a:p>
          <a:p>
            <a:pPr indent="0" lvl="0" marL="914400" rtl="0" algn="l">
              <a:spcBef>
                <a:spcPts val="480"/>
              </a:spcBef>
              <a:spcAft>
                <a:spcPts val="0"/>
              </a:spcAft>
              <a:buNone/>
            </a:pPr>
            <a:r>
              <a:t/>
            </a:r>
            <a:endParaRPr b="1" sz="1260">
              <a:solidFill>
                <a:srgbClr val="1A1A1A"/>
              </a:solidFill>
            </a:endParaRPr>
          </a:p>
          <a:p>
            <a:pPr indent="-308610" lvl="1" marL="914400" rtl="0" algn="l">
              <a:spcBef>
                <a:spcPts val="480"/>
              </a:spcBef>
              <a:spcAft>
                <a:spcPts val="0"/>
              </a:spcAft>
              <a:buClr>
                <a:srgbClr val="1A1A1A"/>
              </a:buClr>
              <a:buSzPts val="1260"/>
              <a:buChar char="➢"/>
            </a:pPr>
            <a:r>
              <a:rPr b="1" lang="it" sz="1260">
                <a:solidFill>
                  <a:srgbClr val="1A1A1A"/>
                </a:solidFill>
              </a:rPr>
              <a:t>Avoid Duplicates</a:t>
            </a:r>
            <a:br>
              <a:rPr b="1" lang="it" sz="1260">
                <a:solidFill>
                  <a:srgbClr val="1A1A1A"/>
                </a:solidFill>
              </a:rPr>
            </a:br>
            <a:r>
              <a:rPr b="1" lang="it" sz="1260">
                <a:solidFill>
                  <a:srgbClr val="1A1A1A"/>
                </a:solidFill>
              </a:rPr>
              <a:t>Cross-correlation Threshold: </a:t>
            </a:r>
            <a:endParaRPr b="1" sz="1260">
              <a:solidFill>
                <a:srgbClr val="1A1A1A"/>
              </a:solidFill>
            </a:endParaRPr>
          </a:p>
          <a:p>
            <a:pPr indent="-308610" lvl="2" marL="1371600" rtl="0" algn="l">
              <a:spcBef>
                <a:spcPts val="0"/>
              </a:spcBef>
              <a:spcAft>
                <a:spcPts val="0"/>
              </a:spcAft>
              <a:buClr>
                <a:srgbClr val="1A1A1A"/>
              </a:buClr>
              <a:buSzPts val="1260"/>
              <a:buChar char="■"/>
            </a:pPr>
            <a:r>
              <a:rPr lang="it" sz="1260">
                <a:solidFill>
                  <a:srgbClr val="1A1A1A"/>
                </a:solidFill>
              </a:rPr>
              <a:t>for MUAPs of different MU</a:t>
            </a:r>
            <a:endParaRPr sz="1260">
              <a:solidFill>
                <a:srgbClr val="1A1A1A"/>
              </a:solidFill>
            </a:endParaRPr>
          </a:p>
          <a:p>
            <a:pPr indent="-308610" lvl="2" marL="1371600" rtl="0" algn="l">
              <a:spcBef>
                <a:spcPts val="0"/>
              </a:spcBef>
              <a:spcAft>
                <a:spcPts val="0"/>
              </a:spcAft>
              <a:buClr>
                <a:srgbClr val="1A1A1A"/>
              </a:buClr>
              <a:buSzPts val="1260"/>
              <a:buChar char="■"/>
            </a:pPr>
            <a:r>
              <a:rPr lang="it" sz="1260">
                <a:solidFill>
                  <a:srgbClr val="1A1A1A"/>
                </a:solidFill>
              </a:rPr>
              <a:t>same tasks. </a:t>
            </a:r>
            <a:endParaRPr sz="1260">
              <a:solidFill>
                <a:srgbClr val="1A1A1A"/>
              </a:solidFill>
            </a:endParaRPr>
          </a:p>
          <a:p>
            <a:pPr indent="0" lvl="0" marL="457200" rtl="0" algn="l">
              <a:lnSpc>
                <a:spcPct val="130000"/>
              </a:lnSpc>
              <a:spcBef>
                <a:spcPts val="480"/>
              </a:spcBef>
              <a:spcAft>
                <a:spcPts val="0"/>
              </a:spcAft>
              <a:buNone/>
            </a:pPr>
            <a:r>
              <a:t/>
            </a:r>
            <a:endParaRPr b="1" sz="1450">
              <a:solidFill>
                <a:schemeClr val="dk1"/>
              </a:solidFill>
            </a:endParaRPr>
          </a:p>
        </p:txBody>
      </p:sp>
      <p:sp>
        <p:nvSpPr>
          <p:cNvPr id="234" name="Google Shape;234;p28"/>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cxnSp>
        <p:nvCxnSpPr>
          <p:cNvPr id="235" name="Google Shape;235;p28"/>
          <p:cNvCxnSpPr/>
          <p:nvPr/>
        </p:nvCxnSpPr>
        <p:spPr>
          <a:xfrm flipH="1" rot="10800000">
            <a:off x="6915500" y="1158100"/>
            <a:ext cx="6000" cy="3002100"/>
          </a:xfrm>
          <a:prstGeom prst="straightConnector1">
            <a:avLst/>
          </a:prstGeom>
          <a:noFill/>
          <a:ln cap="flat" cmpd="sng" w="9525">
            <a:solidFill>
              <a:srgbClr val="1A1A1A"/>
            </a:solidFill>
            <a:prstDash val="dash"/>
            <a:round/>
            <a:headEnd len="med" w="med" type="none"/>
            <a:tailEnd len="med" w="med" type="none"/>
          </a:ln>
        </p:spPr>
      </p:cxnSp>
      <p:sp>
        <p:nvSpPr>
          <p:cNvPr id="236" name="Google Shape;236;p28"/>
          <p:cNvSpPr txBox="1"/>
          <p:nvPr/>
        </p:nvSpPr>
        <p:spPr>
          <a:xfrm>
            <a:off x="5330950" y="860800"/>
            <a:ext cx="647700" cy="2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900"/>
              <a:t>Pinch</a:t>
            </a:r>
            <a:endParaRPr sz="900"/>
          </a:p>
        </p:txBody>
      </p:sp>
      <p:sp>
        <p:nvSpPr>
          <p:cNvPr id="237" name="Google Shape;237;p28"/>
          <p:cNvSpPr txBox="1"/>
          <p:nvPr/>
        </p:nvSpPr>
        <p:spPr>
          <a:xfrm>
            <a:off x="7736975" y="859725"/>
            <a:ext cx="853500" cy="2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900"/>
              <a:t>Hand Closed</a:t>
            </a:r>
            <a:endParaRPr sz="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9"/>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NNMF Input: SDRs Estimation</a:t>
            </a:r>
            <a:endParaRPr>
              <a:solidFill>
                <a:schemeClr val="dk1"/>
              </a:solidFill>
            </a:endParaRPr>
          </a:p>
        </p:txBody>
      </p:sp>
      <p:sp>
        <p:nvSpPr>
          <p:cNvPr id="243" name="Google Shape;243;p29"/>
          <p:cNvSpPr txBox="1"/>
          <p:nvPr/>
        </p:nvSpPr>
        <p:spPr>
          <a:xfrm>
            <a:off x="566150" y="1289350"/>
            <a:ext cx="2764200" cy="2740200"/>
          </a:xfrm>
          <a:prstGeom prst="rect">
            <a:avLst/>
          </a:prstGeom>
          <a:noFill/>
          <a:ln>
            <a:noFill/>
          </a:ln>
        </p:spPr>
        <p:txBody>
          <a:bodyPr anchorCtr="0" anchor="t" bIns="91425" lIns="91425" spcFirstLastPara="1" rIns="91425" wrap="square" tIns="91425">
            <a:noAutofit/>
          </a:bodyPr>
          <a:lstStyle/>
          <a:p>
            <a:pPr indent="0" lvl="0" marL="0" rtl="0" algn="l">
              <a:spcBef>
                <a:spcPts val="480"/>
              </a:spcBef>
              <a:spcAft>
                <a:spcPts val="0"/>
              </a:spcAft>
              <a:buNone/>
            </a:pPr>
            <a:r>
              <a:rPr b="1" lang="it" sz="1650">
                <a:solidFill>
                  <a:srgbClr val="1A1A1A"/>
                </a:solidFill>
              </a:rPr>
              <a:t>SDRs Estimation</a:t>
            </a:r>
            <a:endParaRPr b="1" sz="1650">
              <a:solidFill>
                <a:srgbClr val="1A1A1A"/>
              </a:solidFill>
            </a:endParaRPr>
          </a:p>
          <a:p>
            <a:pPr indent="-314325" lvl="0" marL="457200" rtl="0" algn="l">
              <a:spcBef>
                <a:spcPts val="1000"/>
              </a:spcBef>
              <a:spcAft>
                <a:spcPts val="0"/>
              </a:spcAft>
              <a:buClr>
                <a:srgbClr val="1A1A1A"/>
              </a:buClr>
              <a:buSzPts val="1350"/>
              <a:buChar char="❖"/>
            </a:pPr>
            <a:r>
              <a:rPr lang="it" sz="1350">
                <a:solidFill>
                  <a:srgbClr val="1A1A1A"/>
                </a:solidFill>
              </a:rPr>
              <a:t>L</a:t>
            </a:r>
            <a:r>
              <a:rPr lang="it" sz="1350">
                <a:solidFill>
                  <a:srgbClr val="1A1A1A"/>
                </a:solidFill>
              </a:rPr>
              <a:t>ow pass 4° Order Butterworth, 2.5 Hz</a:t>
            </a:r>
            <a:endParaRPr sz="1350">
              <a:solidFill>
                <a:srgbClr val="1A1A1A"/>
              </a:solidFill>
            </a:endParaRPr>
          </a:p>
          <a:p>
            <a:pPr indent="-314325" lvl="1" marL="914400" rtl="0" algn="l">
              <a:spcBef>
                <a:spcPts val="0"/>
              </a:spcBef>
              <a:spcAft>
                <a:spcPts val="0"/>
              </a:spcAft>
              <a:buClr>
                <a:srgbClr val="1A1A1A"/>
              </a:buClr>
              <a:buSzPts val="1350"/>
              <a:buChar char="➢"/>
            </a:pPr>
            <a:r>
              <a:rPr lang="it" sz="1350">
                <a:solidFill>
                  <a:srgbClr val="1A1A1A"/>
                </a:solidFill>
              </a:rPr>
              <a:t>Equivalent to convolution with 400 ms Hanning window.</a:t>
            </a:r>
            <a:endParaRPr sz="1350">
              <a:solidFill>
                <a:srgbClr val="1A1A1A"/>
              </a:solidFill>
            </a:endParaRPr>
          </a:p>
          <a:p>
            <a:pPr indent="-314325" lvl="1" marL="914400" rtl="0" algn="l">
              <a:spcBef>
                <a:spcPts val="0"/>
              </a:spcBef>
              <a:spcAft>
                <a:spcPts val="0"/>
              </a:spcAft>
              <a:buClr>
                <a:srgbClr val="1A1A1A"/>
              </a:buClr>
              <a:buSzPts val="1350"/>
              <a:buChar char="➢"/>
            </a:pPr>
            <a:r>
              <a:rPr lang="it" sz="1350">
                <a:solidFill>
                  <a:srgbClr val="1A1A1A"/>
                </a:solidFill>
              </a:rPr>
              <a:t>Normalization between 0 and 1</a:t>
            </a:r>
            <a:endParaRPr sz="1350">
              <a:solidFill>
                <a:srgbClr val="1A1A1A"/>
              </a:solidFill>
            </a:endParaRPr>
          </a:p>
          <a:p>
            <a:pPr indent="0" lvl="0" marL="914400" rtl="0" algn="l">
              <a:spcBef>
                <a:spcPts val="480"/>
              </a:spcBef>
              <a:spcAft>
                <a:spcPts val="0"/>
              </a:spcAft>
              <a:buNone/>
            </a:pPr>
            <a:r>
              <a:t/>
            </a:r>
            <a:endParaRPr sz="1350">
              <a:solidFill>
                <a:srgbClr val="1A1A1A"/>
              </a:solidFill>
            </a:endParaRPr>
          </a:p>
          <a:p>
            <a:pPr indent="-314325" lvl="0" marL="457200" rtl="0" algn="l">
              <a:spcBef>
                <a:spcPts val="480"/>
              </a:spcBef>
              <a:spcAft>
                <a:spcPts val="0"/>
              </a:spcAft>
              <a:buClr>
                <a:srgbClr val="1A1A1A"/>
              </a:buClr>
              <a:buSzPts val="1350"/>
              <a:buChar char="❖"/>
            </a:pPr>
            <a:r>
              <a:rPr lang="it" sz="1350">
                <a:solidFill>
                  <a:srgbClr val="1A1A1A"/>
                </a:solidFill>
              </a:rPr>
              <a:t>Clipped at zero </a:t>
            </a:r>
            <a:endParaRPr sz="1350">
              <a:solidFill>
                <a:srgbClr val="1A1A1A"/>
              </a:solidFill>
            </a:endParaRPr>
          </a:p>
          <a:p>
            <a:pPr indent="-314325" lvl="1" marL="914400" rtl="0" algn="l">
              <a:spcBef>
                <a:spcPts val="0"/>
              </a:spcBef>
              <a:spcAft>
                <a:spcPts val="0"/>
              </a:spcAft>
              <a:buClr>
                <a:srgbClr val="1A1A1A"/>
              </a:buClr>
              <a:buSzPts val="1350"/>
              <a:buChar char="➢"/>
            </a:pPr>
            <a:r>
              <a:rPr lang="it" sz="1350">
                <a:solidFill>
                  <a:srgbClr val="1A1A1A"/>
                </a:solidFill>
              </a:rPr>
              <a:t>to avoid negative values due to filtfilt Matlab Function</a:t>
            </a:r>
            <a:endParaRPr sz="1350">
              <a:solidFill>
                <a:srgbClr val="1A1A1A"/>
              </a:solidFill>
            </a:endParaRPr>
          </a:p>
          <a:p>
            <a:pPr indent="0" lvl="0" marL="457200" rtl="0" algn="l">
              <a:spcBef>
                <a:spcPts val="480"/>
              </a:spcBef>
              <a:spcAft>
                <a:spcPts val="0"/>
              </a:spcAft>
              <a:buNone/>
            </a:pPr>
            <a:r>
              <a:t/>
            </a:r>
            <a:endParaRPr sz="1350">
              <a:solidFill>
                <a:srgbClr val="1A1A1A"/>
              </a:solidFill>
            </a:endParaRPr>
          </a:p>
          <a:p>
            <a:pPr indent="0" lvl="0" marL="0" rtl="0" algn="l">
              <a:lnSpc>
                <a:spcPct val="100000"/>
              </a:lnSpc>
              <a:spcBef>
                <a:spcPts val="480"/>
              </a:spcBef>
              <a:spcAft>
                <a:spcPts val="0"/>
              </a:spcAft>
              <a:buNone/>
            </a:pPr>
            <a:r>
              <a:t/>
            </a:r>
            <a:endParaRPr sz="1350">
              <a:solidFill>
                <a:srgbClr val="1A1A1A"/>
              </a:solidFill>
            </a:endParaRPr>
          </a:p>
          <a:p>
            <a:pPr indent="0" lvl="0" marL="0" rtl="0" algn="l">
              <a:lnSpc>
                <a:spcPct val="100000"/>
              </a:lnSpc>
              <a:spcBef>
                <a:spcPts val="480"/>
              </a:spcBef>
              <a:spcAft>
                <a:spcPts val="0"/>
              </a:spcAft>
              <a:buNone/>
            </a:pPr>
            <a:r>
              <a:t/>
            </a:r>
            <a:endParaRPr sz="1350">
              <a:solidFill>
                <a:srgbClr val="1A1A1A"/>
              </a:solidFill>
            </a:endParaRPr>
          </a:p>
          <a:p>
            <a:pPr indent="0" lvl="0" marL="457200" rtl="0" algn="l">
              <a:lnSpc>
                <a:spcPct val="100000"/>
              </a:lnSpc>
              <a:spcBef>
                <a:spcPts val="480"/>
              </a:spcBef>
              <a:spcAft>
                <a:spcPts val="0"/>
              </a:spcAft>
              <a:buNone/>
            </a:pPr>
            <a:br>
              <a:rPr lang="it" sz="1350">
                <a:solidFill>
                  <a:srgbClr val="1A1A1A"/>
                </a:solidFill>
              </a:rPr>
            </a:br>
            <a:endParaRPr sz="1350">
              <a:solidFill>
                <a:srgbClr val="1A1A1A"/>
              </a:solidFill>
            </a:endParaRPr>
          </a:p>
          <a:p>
            <a:pPr indent="0" lvl="0" marL="0" rtl="0" algn="l">
              <a:lnSpc>
                <a:spcPct val="100000"/>
              </a:lnSpc>
              <a:spcBef>
                <a:spcPts val="480"/>
              </a:spcBef>
              <a:spcAft>
                <a:spcPts val="0"/>
              </a:spcAft>
              <a:buNone/>
            </a:pPr>
            <a:r>
              <a:t/>
            </a:r>
            <a:endParaRPr sz="1350">
              <a:solidFill>
                <a:srgbClr val="1A1A1A"/>
              </a:solidFill>
            </a:endParaRPr>
          </a:p>
        </p:txBody>
      </p:sp>
      <p:pic>
        <p:nvPicPr>
          <p:cNvPr id="244" name="Google Shape;244;p29" title="mu2_grid1_sdr.png"/>
          <p:cNvPicPr preferRelativeResize="0"/>
          <p:nvPr/>
        </p:nvPicPr>
        <p:blipFill>
          <a:blip r:embed="rId3">
            <a:alphaModFix/>
          </a:blip>
          <a:stretch>
            <a:fillRect/>
          </a:stretch>
        </p:blipFill>
        <p:spPr>
          <a:xfrm>
            <a:off x="3285400" y="1217099"/>
            <a:ext cx="5785826" cy="2399100"/>
          </a:xfrm>
          <a:prstGeom prst="rect">
            <a:avLst/>
          </a:prstGeom>
          <a:noFill/>
          <a:ln>
            <a:noFill/>
          </a:ln>
        </p:spPr>
      </p:pic>
      <p:sp>
        <p:nvSpPr>
          <p:cNvPr id="245" name="Google Shape;245;p29"/>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0"/>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NNMF: Motoneuron Synergies</a:t>
            </a:r>
            <a:endParaRPr>
              <a:solidFill>
                <a:schemeClr val="dk1"/>
              </a:solidFill>
            </a:endParaRPr>
          </a:p>
        </p:txBody>
      </p:sp>
      <p:sp>
        <p:nvSpPr>
          <p:cNvPr id="251" name="Google Shape;251;p30"/>
          <p:cNvSpPr txBox="1"/>
          <p:nvPr/>
        </p:nvSpPr>
        <p:spPr>
          <a:xfrm>
            <a:off x="566150" y="1030275"/>
            <a:ext cx="4490400" cy="3447000"/>
          </a:xfrm>
          <a:prstGeom prst="rect">
            <a:avLst/>
          </a:prstGeom>
          <a:noFill/>
          <a:ln>
            <a:noFill/>
          </a:ln>
        </p:spPr>
        <p:txBody>
          <a:bodyPr anchorCtr="0" anchor="t" bIns="91425" lIns="91425" spcFirstLastPara="1" rIns="91425" wrap="square" tIns="91425">
            <a:noAutofit/>
          </a:bodyPr>
          <a:lstStyle/>
          <a:p>
            <a:pPr indent="0" lvl="0" marL="0" rtl="0" algn="l">
              <a:spcBef>
                <a:spcPts val="480"/>
              </a:spcBef>
              <a:spcAft>
                <a:spcPts val="0"/>
              </a:spcAft>
              <a:buNone/>
            </a:pPr>
            <a:r>
              <a:rPr b="1" lang="it" sz="1650">
                <a:solidFill>
                  <a:srgbClr val="1A1A1A"/>
                </a:solidFill>
              </a:rPr>
              <a:t>NNMF Algorithm</a:t>
            </a:r>
            <a:endParaRPr b="1" sz="1650">
              <a:solidFill>
                <a:srgbClr val="1A1A1A"/>
              </a:solidFill>
            </a:endParaRPr>
          </a:p>
          <a:p>
            <a:pPr indent="-314325" lvl="0" marL="457200" rtl="0" algn="l">
              <a:lnSpc>
                <a:spcPct val="115000"/>
              </a:lnSpc>
              <a:spcBef>
                <a:spcPts val="1000"/>
              </a:spcBef>
              <a:spcAft>
                <a:spcPts val="0"/>
              </a:spcAft>
              <a:buClr>
                <a:srgbClr val="1A1A1A"/>
              </a:buClr>
              <a:buSzPts val="1350"/>
              <a:buChar char="❖"/>
            </a:pPr>
            <a:r>
              <a:rPr lang="it" sz="1350">
                <a:solidFill>
                  <a:srgbClr val="1A1A1A"/>
                </a:solidFill>
              </a:rPr>
              <a:t>Applied o</a:t>
            </a:r>
            <a:r>
              <a:rPr lang="it" sz="1350">
                <a:solidFill>
                  <a:srgbClr val="1A1A1A"/>
                </a:solidFill>
              </a:rPr>
              <a:t>nly on the reference trial for each subject.</a:t>
            </a:r>
            <a:endParaRPr sz="1350">
              <a:solidFill>
                <a:srgbClr val="1A1A1A"/>
              </a:solidFill>
            </a:endParaRPr>
          </a:p>
          <a:p>
            <a:pPr indent="-314325" lvl="0" marL="457200" rtl="0" algn="l">
              <a:lnSpc>
                <a:spcPct val="115000"/>
              </a:lnSpc>
              <a:spcBef>
                <a:spcPts val="0"/>
              </a:spcBef>
              <a:spcAft>
                <a:spcPts val="0"/>
              </a:spcAft>
              <a:buClr>
                <a:srgbClr val="1A1A1A"/>
              </a:buClr>
              <a:buSzPts val="1350"/>
              <a:buChar char="❖"/>
            </a:pPr>
            <a:r>
              <a:rPr lang="it" sz="1350">
                <a:solidFill>
                  <a:srgbClr val="1A1A1A"/>
                </a:solidFill>
              </a:rPr>
              <a:t>10 Repetitions of 100 Algorithm Iterations, with </a:t>
            </a:r>
            <a:r>
              <a:rPr i="1" lang="it" sz="1350">
                <a:solidFill>
                  <a:srgbClr val="1A1A1A"/>
                </a:solidFill>
              </a:rPr>
              <a:t>K</a:t>
            </a:r>
            <a:r>
              <a:rPr lang="it" sz="1350">
                <a:solidFill>
                  <a:srgbClr val="1A1A1A"/>
                </a:solidFill>
              </a:rPr>
              <a:t> up to 9 synergies. </a:t>
            </a:r>
            <a:endParaRPr sz="1350">
              <a:solidFill>
                <a:srgbClr val="1A1A1A"/>
              </a:solidFill>
            </a:endParaRPr>
          </a:p>
          <a:p>
            <a:pPr indent="-314325" lvl="0" marL="457200" rtl="0" algn="l">
              <a:lnSpc>
                <a:spcPct val="115000"/>
              </a:lnSpc>
              <a:spcBef>
                <a:spcPts val="0"/>
              </a:spcBef>
              <a:spcAft>
                <a:spcPts val="0"/>
              </a:spcAft>
              <a:buClr>
                <a:srgbClr val="1A1A1A"/>
              </a:buClr>
              <a:buSzPts val="1350"/>
              <a:buChar char="❖"/>
            </a:pPr>
            <a:r>
              <a:rPr lang="it" sz="1350">
                <a:solidFill>
                  <a:srgbClr val="1A1A1A"/>
                </a:solidFill>
              </a:rPr>
              <a:t>W and H randomly initialized at each repetition.</a:t>
            </a:r>
            <a:endParaRPr sz="1350">
              <a:solidFill>
                <a:srgbClr val="1A1A1A"/>
              </a:solidFill>
            </a:endParaRPr>
          </a:p>
          <a:p>
            <a:pPr indent="-314325" lvl="0" marL="457200" rtl="0" algn="l">
              <a:lnSpc>
                <a:spcPct val="115000"/>
              </a:lnSpc>
              <a:spcBef>
                <a:spcPts val="0"/>
              </a:spcBef>
              <a:spcAft>
                <a:spcPts val="0"/>
              </a:spcAft>
              <a:buClr>
                <a:srgbClr val="1A1A1A"/>
              </a:buClr>
              <a:buSzPts val="1350"/>
              <a:buChar char="❖"/>
            </a:pPr>
            <a:r>
              <a:rPr lang="it" sz="1350">
                <a:solidFill>
                  <a:srgbClr val="1A1A1A"/>
                </a:solidFill>
              </a:rPr>
              <a:t>Number of Synergies for final Reconstruction:</a:t>
            </a:r>
            <a:endParaRPr sz="1350">
              <a:solidFill>
                <a:srgbClr val="1A1A1A"/>
              </a:solidFill>
            </a:endParaRPr>
          </a:p>
          <a:p>
            <a:pPr indent="-314325" lvl="1" marL="914400" rtl="0" algn="l">
              <a:lnSpc>
                <a:spcPct val="115000"/>
              </a:lnSpc>
              <a:spcBef>
                <a:spcPts val="0"/>
              </a:spcBef>
              <a:spcAft>
                <a:spcPts val="0"/>
              </a:spcAft>
              <a:buClr>
                <a:srgbClr val="1A1A1A"/>
              </a:buClr>
              <a:buSzPts val="1350"/>
              <a:buChar char="➢"/>
            </a:pPr>
            <a:r>
              <a:rPr lang="it" sz="1350">
                <a:solidFill>
                  <a:srgbClr val="1A1A1A"/>
                </a:solidFill>
              </a:rPr>
              <a:t>Hand Closed only: 1 synergy</a:t>
            </a:r>
            <a:endParaRPr sz="1350">
              <a:solidFill>
                <a:srgbClr val="1A1A1A"/>
              </a:solidFill>
            </a:endParaRPr>
          </a:p>
          <a:p>
            <a:pPr indent="-314325" lvl="1" marL="914400" rtl="0" algn="l">
              <a:lnSpc>
                <a:spcPct val="115000"/>
              </a:lnSpc>
              <a:spcBef>
                <a:spcPts val="0"/>
              </a:spcBef>
              <a:spcAft>
                <a:spcPts val="0"/>
              </a:spcAft>
              <a:buClr>
                <a:srgbClr val="1A1A1A"/>
              </a:buClr>
              <a:buSzPts val="1350"/>
              <a:buChar char="➢"/>
            </a:pPr>
            <a:r>
              <a:rPr lang="it" sz="1350">
                <a:solidFill>
                  <a:srgbClr val="1A1A1A"/>
                </a:solidFill>
              </a:rPr>
              <a:t>Pinch-Hand Closed: 2 synergies </a:t>
            </a:r>
            <a:endParaRPr sz="1350">
              <a:solidFill>
                <a:srgbClr val="1A1A1A"/>
              </a:solidFill>
            </a:endParaRPr>
          </a:p>
          <a:p>
            <a:pPr indent="-314325" lvl="1" marL="914400" rtl="0" algn="l">
              <a:lnSpc>
                <a:spcPct val="115000"/>
              </a:lnSpc>
              <a:spcBef>
                <a:spcPts val="0"/>
              </a:spcBef>
              <a:spcAft>
                <a:spcPts val="0"/>
              </a:spcAft>
              <a:buClr>
                <a:srgbClr val="1A1A1A"/>
              </a:buClr>
              <a:buSzPts val="1350"/>
              <a:buChar char="➢"/>
            </a:pPr>
            <a:r>
              <a:rPr lang="it" sz="1350">
                <a:solidFill>
                  <a:srgbClr val="1A1A1A"/>
                </a:solidFill>
              </a:rPr>
              <a:t>Pinch-Hand Closed: 4 synergies, based on modal distribution of the </a:t>
            </a:r>
            <a:r>
              <a:rPr lang="it" sz="1350" u="sng">
                <a:solidFill>
                  <a:srgbClr val="1A1A1A"/>
                </a:solidFill>
              </a:rPr>
              <a:t>Reconstruction Error</a:t>
            </a:r>
            <a:r>
              <a:rPr lang="it" sz="1350">
                <a:solidFill>
                  <a:srgbClr val="1A1A1A"/>
                </a:solidFill>
              </a:rPr>
              <a:t> (R2) across subjects.</a:t>
            </a:r>
            <a:endParaRPr sz="1350">
              <a:solidFill>
                <a:srgbClr val="1A1A1A"/>
              </a:solidFill>
            </a:endParaRPr>
          </a:p>
          <a:p>
            <a:pPr indent="0" lvl="0" marL="0" rtl="0" algn="l">
              <a:lnSpc>
                <a:spcPct val="100000"/>
              </a:lnSpc>
              <a:spcBef>
                <a:spcPts val="480"/>
              </a:spcBef>
              <a:spcAft>
                <a:spcPts val="0"/>
              </a:spcAft>
              <a:buNone/>
            </a:pPr>
            <a:r>
              <a:t/>
            </a:r>
            <a:endParaRPr sz="1350">
              <a:solidFill>
                <a:srgbClr val="1A1A1A"/>
              </a:solidFill>
            </a:endParaRPr>
          </a:p>
          <a:p>
            <a:pPr indent="0" lvl="0" marL="457200" rtl="0" algn="l">
              <a:lnSpc>
                <a:spcPct val="100000"/>
              </a:lnSpc>
              <a:spcBef>
                <a:spcPts val="480"/>
              </a:spcBef>
              <a:spcAft>
                <a:spcPts val="0"/>
              </a:spcAft>
              <a:buNone/>
            </a:pPr>
            <a:br>
              <a:rPr lang="it" sz="1350">
                <a:solidFill>
                  <a:srgbClr val="1A1A1A"/>
                </a:solidFill>
              </a:rPr>
            </a:br>
            <a:endParaRPr sz="1350">
              <a:solidFill>
                <a:srgbClr val="1A1A1A"/>
              </a:solidFill>
            </a:endParaRPr>
          </a:p>
          <a:p>
            <a:pPr indent="0" lvl="0" marL="0" rtl="0" algn="l">
              <a:lnSpc>
                <a:spcPct val="100000"/>
              </a:lnSpc>
              <a:spcBef>
                <a:spcPts val="480"/>
              </a:spcBef>
              <a:spcAft>
                <a:spcPts val="0"/>
              </a:spcAft>
              <a:buNone/>
            </a:pPr>
            <a:r>
              <a:t/>
            </a:r>
            <a:endParaRPr sz="1350">
              <a:solidFill>
                <a:srgbClr val="1A1A1A"/>
              </a:solidFill>
            </a:endParaRPr>
          </a:p>
        </p:txBody>
      </p:sp>
      <p:sp>
        <p:nvSpPr>
          <p:cNvPr id="252" name="Google Shape;252;p30"/>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1"/>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NNMF: 2 Motoneuron Synergies Reconstruction</a:t>
            </a:r>
            <a:endParaRPr>
              <a:solidFill>
                <a:schemeClr val="dk1"/>
              </a:solidFill>
            </a:endParaRPr>
          </a:p>
        </p:txBody>
      </p:sp>
      <p:pic>
        <p:nvPicPr>
          <p:cNvPr id="258" name="Google Shape;258;p31" title="confirm_H_reconstruction.png"/>
          <p:cNvPicPr preferRelativeResize="0"/>
          <p:nvPr/>
        </p:nvPicPr>
        <p:blipFill>
          <a:blip r:embed="rId3">
            <a:alphaModFix/>
          </a:blip>
          <a:stretch>
            <a:fillRect/>
          </a:stretch>
        </p:blipFill>
        <p:spPr>
          <a:xfrm>
            <a:off x="4572398" y="1015413"/>
            <a:ext cx="4280575" cy="2568345"/>
          </a:xfrm>
          <a:prstGeom prst="rect">
            <a:avLst/>
          </a:prstGeom>
          <a:noFill/>
          <a:ln>
            <a:noFill/>
          </a:ln>
        </p:spPr>
      </p:pic>
      <p:pic>
        <p:nvPicPr>
          <p:cNvPr id="259" name="Google Shape;259;p31" title="W_global.png"/>
          <p:cNvPicPr preferRelativeResize="0"/>
          <p:nvPr/>
        </p:nvPicPr>
        <p:blipFill>
          <a:blip r:embed="rId4">
            <a:alphaModFix/>
          </a:blip>
          <a:stretch>
            <a:fillRect/>
          </a:stretch>
        </p:blipFill>
        <p:spPr>
          <a:xfrm>
            <a:off x="327300" y="1015426"/>
            <a:ext cx="4280575" cy="2568326"/>
          </a:xfrm>
          <a:prstGeom prst="rect">
            <a:avLst/>
          </a:prstGeom>
          <a:noFill/>
          <a:ln>
            <a:noFill/>
          </a:ln>
        </p:spPr>
      </p:pic>
      <p:sp>
        <p:nvSpPr>
          <p:cNvPr id="260" name="Google Shape;260;p31"/>
          <p:cNvSpPr txBox="1"/>
          <p:nvPr/>
        </p:nvSpPr>
        <p:spPr>
          <a:xfrm>
            <a:off x="513825" y="3672963"/>
            <a:ext cx="8365500" cy="7131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rgbClr val="1A1A1A"/>
                </a:solidFill>
              </a:rPr>
              <a:t>For each subject, its reference trial’s Spatial Weights are used to reconstruct the other trial’s SDRs.</a:t>
            </a:r>
            <a:endParaRPr sz="1260">
              <a:solidFill>
                <a:srgbClr val="1A1A1A"/>
              </a:solidFill>
            </a:endParaRPr>
          </a:p>
        </p:txBody>
      </p:sp>
      <p:sp>
        <p:nvSpPr>
          <p:cNvPr id="261" name="Google Shape;261;p31"/>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2"/>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Synchronization</a:t>
            </a:r>
            <a:endParaRPr>
              <a:solidFill>
                <a:schemeClr val="dk1"/>
              </a:solidFill>
            </a:endParaRPr>
          </a:p>
        </p:txBody>
      </p:sp>
      <p:pic>
        <p:nvPicPr>
          <p:cNvPr id="267" name="Google Shape;267;p32" title="Screenshot from 2026-07-13 22-57-03.png"/>
          <p:cNvPicPr preferRelativeResize="0"/>
          <p:nvPr/>
        </p:nvPicPr>
        <p:blipFill>
          <a:blip r:embed="rId3">
            <a:alphaModFix/>
          </a:blip>
          <a:stretch>
            <a:fillRect/>
          </a:stretch>
        </p:blipFill>
        <p:spPr>
          <a:xfrm>
            <a:off x="3971050" y="988950"/>
            <a:ext cx="4756810" cy="2919800"/>
          </a:xfrm>
          <a:prstGeom prst="rect">
            <a:avLst/>
          </a:prstGeom>
          <a:noFill/>
          <a:ln>
            <a:noFill/>
          </a:ln>
        </p:spPr>
      </p:pic>
      <p:sp>
        <p:nvSpPr>
          <p:cNvPr id="268" name="Google Shape;268;p32"/>
          <p:cNvSpPr txBox="1"/>
          <p:nvPr/>
        </p:nvSpPr>
        <p:spPr>
          <a:xfrm>
            <a:off x="464625" y="1202950"/>
            <a:ext cx="3249600" cy="2491800"/>
          </a:xfrm>
          <a:prstGeom prst="rect">
            <a:avLst/>
          </a:prstGeom>
          <a:noFill/>
          <a:ln>
            <a:noFill/>
          </a:ln>
        </p:spPr>
        <p:txBody>
          <a:bodyPr anchorCtr="0" anchor="t" bIns="91425" lIns="91425" spcFirstLastPara="1" rIns="91425" wrap="square" tIns="91425">
            <a:noAutofit/>
          </a:bodyPr>
          <a:lstStyle/>
          <a:p>
            <a:pPr indent="-314325" lvl="0" marL="457200" rtl="0" algn="l">
              <a:lnSpc>
                <a:spcPct val="100000"/>
              </a:lnSpc>
              <a:spcBef>
                <a:spcPts val="480"/>
              </a:spcBef>
              <a:spcAft>
                <a:spcPts val="0"/>
              </a:spcAft>
              <a:buClr>
                <a:srgbClr val="1A1A1A"/>
              </a:buClr>
              <a:buSzPts val="1350"/>
              <a:buChar char="❖"/>
            </a:pPr>
            <a:r>
              <a:rPr lang="it" sz="1350">
                <a:solidFill>
                  <a:srgbClr val="1A1A1A"/>
                </a:solidFill>
              </a:rPr>
              <a:t>Channels Glove Upsampled up to 400 Hz and Reconstructed at its original Fs for Time Dilation.</a:t>
            </a:r>
            <a:br>
              <a:rPr lang="it" sz="1350">
                <a:solidFill>
                  <a:srgbClr val="1A1A1A"/>
                </a:solidFill>
              </a:rPr>
            </a:br>
            <a:endParaRPr sz="1350">
              <a:solidFill>
                <a:srgbClr val="1A1A1A"/>
              </a:solidFill>
            </a:endParaRPr>
          </a:p>
          <a:p>
            <a:pPr indent="-314325" lvl="0" marL="457200" rtl="0" algn="l">
              <a:lnSpc>
                <a:spcPct val="100000"/>
              </a:lnSpc>
              <a:spcBef>
                <a:spcPts val="0"/>
              </a:spcBef>
              <a:spcAft>
                <a:spcPts val="0"/>
              </a:spcAft>
              <a:buClr>
                <a:srgbClr val="1A1A1A"/>
              </a:buClr>
              <a:buSzPts val="1350"/>
              <a:buChar char="❖"/>
            </a:pPr>
            <a:r>
              <a:rPr lang="it" sz="1350">
                <a:solidFill>
                  <a:srgbClr val="1A1A1A"/>
                </a:solidFill>
              </a:rPr>
              <a:t>Downsampling of Synergies Activation, to match 200 Hz Glove sampling Frequency.</a:t>
            </a:r>
            <a:br>
              <a:rPr lang="it" sz="1350">
                <a:solidFill>
                  <a:srgbClr val="1A1A1A"/>
                </a:solidFill>
              </a:rPr>
            </a:br>
            <a:endParaRPr sz="1350">
              <a:solidFill>
                <a:srgbClr val="1A1A1A"/>
              </a:solidFill>
            </a:endParaRPr>
          </a:p>
          <a:p>
            <a:pPr indent="-314325" lvl="0" marL="457200" rtl="0" algn="l">
              <a:lnSpc>
                <a:spcPct val="100000"/>
              </a:lnSpc>
              <a:spcBef>
                <a:spcPts val="0"/>
              </a:spcBef>
              <a:spcAft>
                <a:spcPts val="0"/>
              </a:spcAft>
              <a:buClr>
                <a:srgbClr val="1A1A1A"/>
              </a:buClr>
              <a:buSzPts val="1350"/>
              <a:buChar char="❖"/>
            </a:pPr>
            <a:r>
              <a:rPr lang="it" sz="1350">
                <a:solidFill>
                  <a:srgbClr val="1A1A1A"/>
                </a:solidFill>
              </a:rPr>
              <a:t>Manual Inspection and Reordering for Consistent Synergies across subjects. </a:t>
            </a:r>
            <a:endParaRPr sz="1350">
              <a:solidFill>
                <a:srgbClr val="1A1A1A"/>
              </a:solidFill>
            </a:endParaRPr>
          </a:p>
        </p:txBody>
      </p:sp>
      <p:sp>
        <p:nvSpPr>
          <p:cNvPr id="269" name="Google Shape;269;p32"/>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cxnSp>
        <p:nvCxnSpPr>
          <p:cNvPr id="270" name="Google Shape;270;p32"/>
          <p:cNvCxnSpPr/>
          <p:nvPr/>
        </p:nvCxnSpPr>
        <p:spPr>
          <a:xfrm rot="10800000">
            <a:off x="6515050" y="2522400"/>
            <a:ext cx="15300" cy="1249500"/>
          </a:xfrm>
          <a:prstGeom prst="straightConnector1">
            <a:avLst/>
          </a:prstGeom>
          <a:noFill/>
          <a:ln cap="flat" cmpd="sng" w="9525">
            <a:solidFill>
              <a:srgbClr val="1A1A1A"/>
            </a:solidFill>
            <a:prstDash val="dash"/>
            <a:round/>
            <a:headEnd len="med" w="med" type="none"/>
            <a:tailEnd len="med" w="med" type="none"/>
          </a:ln>
        </p:spPr>
      </p:cxnSp>
      <p:cxnSp>
        <p:nvCxnSpPr>
          <p:cNvPr id="271" name="Google Shape;271;p32"/>
          <p:cNvCxnSpPr/>
          <p:nvPr/>
        </p:nvCxnSpPr>
        <p:spPr>
          <a:xfrm rot="10800000">
            <a:off x="6499750" y="1158175"/>
            <a:ext cx="15300" cy="1234500"/>
          </a:xfrm>
          <a:prstGeom prst="straightConnector1">
            <a:avLst/>
          </a:prstGeom>
          <a:noFill/>
          <a:ln cap="flat" cmpd="sng" w="9525">
            <a:solidFill>
              <a:srgbClr val="1A1A1A"/>
            </a:solidFill>
            <a:prstDash val="dash"/>
            <a:round/>
            <a:headEnd len="med" w="med" type="none"/>
            <a:tailEnd len="med" w="med" type="none"/>
          </a:ln>
        </p:spPr>
      </p:cxnSp>
      <p:sp>
        <p:nvSpPr>
          <p:cNvPr id="272" name="Google Shape;272;p32"/>
          <p:cNvSpPr txBox="1"/>
          <p:nvPr/>
        </p:nvSpPr>
        <p:spPr>
          <a:xfrm>
            <a:off x="5052050" y="1158175"/>
            <a:ext cx="647700" cy="2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900"/>
              <a:t>P</a:t>
            </a:r>
            <a:r>
              <a:rPr lang="it" sz="900"/>
              <a:t>inch</a:t>
            </a:r>
            <a:endParaRPr sz="900"/>
          </a:p>
        </p:txBody>
      </p:sp>
      <p:sp>
        <p:nvSpPr>
          <p:cNvPr id="273" name="Google Shape;273;p32"/>
          <p:cNvSpPr txBox="1"/>
          <p:nvPr/>
        </p:nvSpPr>
        <p:spPr>
          <a:xfrm>
            <a:off x="7185650" y="1158175"/>
            <a:ext cx="853500" cy="2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900"/>
              <a:t>Hand Closed</a:t>
            </a:r>
            <a:endParaRPr sz="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3"/>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Kinematic Prediction</a:t>
            </a:r>
            <a:endParaRPr>
              <a:solidFill>
                <a:schemeClr val="dk1"/>
              </a:solidFill>
            </a:endParaRPr>
          </a:p>
        </p:txBody>
      </p:sp>
      <p:sp>
        <p:nvSpPr>
          <p:cNvPr id="279" name="Google Shape;279;p33"/>
          <p:cNvSpPr txBox="1"/>
          <p:nvPr/>
        </p:nvSpPr>
        <p:spPr>
          <a:xfrm>
            <a:off x="558900" y="863175"/>
            <a:ext cx="4562700" cy="3604500"/>
          </a:xfrm>
          <a:prstGeom prst="rect">
            <a:avLst/>
          </a:prstGeom>
          <a:noFill/>
          <a:ln>
            <a:noFill/>
          </a:ln>
        </p:spPr>
        <p:txBody>
          <a:bodyPr anchorCtr="0" anchor="t" bIns="91425" lIns="91425" spcFirstLastPara="1" rIns="91425" wrap="square" tIns="91425">
            <a:noAutofit/>
          </a:bodyPr>
          <a:lstStyle/>
          <a:p>
            <a:pPr indent="0" lvl="0" marL="0" rtl="0" algn="l">
              <a:spcBef>
                <a:spcPts val="480"/>
              </a:spcBef>
              <a:spcAft>
                <a:spcPts val="0"/>
              </a:spcAft>
              <a:buNone/>
            </a:pPr>
            <a:r>
              <a:rPr b="1" lang="it" sz="1650">
                <a:solidFill>
                  <a:srgbClr val="1A1A1A"/>
                </a:solidFill>
              </a:rPr>
              <a:t>Training </a:t>
            </a:r>
            <a:endParaRPr b="1" sz="1650">
              <a:solidFill>
                <a:srgbClr val="1A1A1A"/>
              </a:solidFill>
            </a:endParaRPr>
          </a:p>
          <a:p>
            <a:pPr indent="-314325" lvl="0" marL="457200" rtl="0" algn="l">
              <a:spcBef>
                <a:spcPts val="1000"/>
              </a:spcBef>
              <a:spcAft>
                <a:spcPts val="0"/>
              </a:spcAft>
              <a:buClr>
                <a:srgbClr val="1A1A1A"/>
              </a:buClr>
              <a:buSzPts val="1350"/>
              <a:buChar char="❖"/>
            </a:pPr>
            <a:r>
              <a:rPr lang="it" sz="1350">
                <a:solidFill>
                  <a:srgbClr val="1A1A1A"/>
                </a:solidFill>
              </a:rPr>
              <a:t>50 Epochs</a:t>
            </a:r>
            <a:endParaRPr sz="1350">
              <a:solidFill>
                <a:srgbClr val="1A1A1A"/>
              </a:solidFill>
            </a:endParaRPr>
          </a:p>
          <a:p>
            <a:pPr indent="-314325" lvl="0" marL="457200" rtl="0" algn="l">
              <a:spcBef>
                <a:spcPts val="0"/>
              </a:spcBef>
              <a:spcAft>
                <a:spcPts val="0"/>
              </a:spcAft>
              <a:buClr>
                <a:srgbClr val="1A1A1A"/>
              </a:buClr>
              <a:buSzPts val="1350"/>
              <a:buChar char="❖"/>
            </a:pPr>
            <a:r>
              <a:rPr lang="it" sz="1350">
                <a:solidFill>
                  <a:srgbClr val="1A1A1A"/>
                </a:solidFill>
              </a:rPr>
              <a:t>200 ms Input Window (40 samples)</a:t>
            </a:r>
            <a:endParaRPr sz="1350">
              <a:solidFill>
                <a:srgbClr val="1A1A1A"/>
              </a:solidFill>
            </a:endParaRPr>
          </a:p>
          <a:p>
            <a:pPr indent="-314325" lvl="0" marL="457200" rtl="0" algn="l">
              <a:spcBef>
                <a:spcPts val="0"/>
              </a:spcBef>
              <a:spcAft>
                <a:spcPts val="0"/>
              </a:spcAft>
              <a:buClr>
                <a:srgbClr val="1A1A1A"/>
              </a:buClr>
              <a:buSzPts val="1350"/>
              <a:buChar char="❖"/>
            </a:pPr>
            <a:r>
              <a:rPr lang="it" sz="1350">
                <a:solidFill>
                  <a:srgbClr val="1A1A1A"/>
                </a:solidFill>
              </a:rPr>
              <a:t>Adam Optimizer:</a:t>
            </a:r>
            <a:endParaRPr sz="1350">
              <a:solidFill>
                <a:srgbClr val="1A1A1A"/>
              </a:solidFill>
            </a:endParaRPr>
          </a:p>
          <a:p>
            <a:pPr indent="-314325" lvl="1" marL="914400" rtl="0" algn="l">
              <a:spcBef>
                <a:spcPts val="0"/>
              </a:spcBef>
              <a:spcAft>
                <a:spcPts val="0"/>
              </a:spcAft>
              <a:buClr>
                <a:srgbClr val="1A1A1A"/>
              </a:buClr>
              <a:buSzPts val="1350"/>
              <a:buChar char="➢"/>
            </a:pPr>
            <a:r>
              <a:rPr lang="it" sz="1350">
                <a:solidFill>
                  <a:srgbClr val="1A1A1A"/>
                </a:solidFill>
              </a:rPr>
              <a:t>LR: 1e-3</a:t>
            </a:r>
            <a:endParaRPr sz="1350">
              <a:solidFill>
                <a:srgbClr val="1A1A1A"/>
              </a:solidFill>
            </a:endParaRPr>
          </a:p>
          <a:p>
            <a:pPr indent="-314325" lvl="1" marL="914400" rtl="0" algn="l">
              <a:spcBef>
                <a:spcPts val="0"/>
              </a:spcBef>
              <a:spcAft>
                <a:spcPts val="0"/>
              </a:spcAft>
              <a:buClr>
                <a:srgbClr val="1A1A1A"/>
              </a:buClr>
              <a:buSzPts val="1350"/>
              <a:buChar char="➢"/>
            </a:pPr>
            <a:r>
              <a:rPr lang="it" sz="1350">
                <a:solidFill>
                  <a:srgbClr val="1A1A1A"/>
                </a:solidFill>
              </a:rPr>
              <a:t>Weight Decay: 1e-4</a:t>
            </a:r>
            <a:endParaRPr sz="1350">
              <a:solidFill>
                <a:srgbClr val="1A1A1A"/>
              </a:solidFill>
            </a:endParaRPr>
          </a:p>
          <a:p>
            <a:pPr indent="-314325" lvl="0" marL="457200" rtl="0" algn="l">
              <a:spcBef>
                <a:spcPts val="0"/>
              </a:spcBef>
              <a:spcAft>
                <a:spcPts val="0"/>
              </a:spcAft>
              <a:buClr>
                <a:srgbClr val="1A1A1A"/>
              </a:buClr>
              <a:buSzPts val="1350"/>
              <a:buChar char="❖"/>
            </a:pPr>
            <a:r>
              <a:rPr lang="it" sz="1350">
                <a:solidFill>
                  <a:srgbClr val="1A1A1A"/>
                </a:solidFill>
              </a:rPr>
              <a:t>Loss Criterion:</a:t>
            </a:r>
            <a:br>
              <a:rPr lang="it" sz="1350">
                <a:solidFill>
                  <a:srgbClr val="1A1A1A"/>
                </a:solidFill>
              </a:rPr>
            </a:br>
            <a:br>
              <a:rPr lang="it" sz="1350">
                <a:solidFill>
                  <a:srgbClr val="1A1A1A"/>
                </a:solidFill>
              </a:rPr>
            </a:br>
            <a:endParaRPr sz="1350">
              <a:solidFill>
                <a:srgbClr val="1A1A1A"/>
              </a:solidFill>
            </a:endParaRPr>
          </a:p>
          <a:p>
            <a:pPr indent="-314325" lvl="0" marL="457200" rtl="0" algn="l">
              <a:spcBef>
                <a:spcPts val="0"/>
              </a:spcBef>
              <a:spcAft>
                <a:spcPts val="0"/>
              </a:spcAft>
              <a:buClr>
                <a:srgbClr val="1A1A1A"/>
              </a:buClr>
              <a:buSzPts val="1350"/>
              <a:buChar char="❖"/>
            </a:pPr>
            <a:r>
              <a:rPr lang="it" sz="1350">
                <a:solidFill>
                  <a:srgbClr val="1A1A1A"/>
                </a:solidFill>
              </a:rPr>
              <a:t>Target Prediction:</a:t>
            </a:r>
            <a:endParaRPr sz="1350">
              <a:solidFill>
                <a:srgbClr val="1A1A1A"/>
              </a:solidFill>
            </a:endParaRPr>
          </a:p>
          <a:p>
            <a:pPr indent="-314325" lvl="1" marL="914400" rtl="0" algn="l">
              <a:spcBef>
                <a:spcPts val="0"/>
              </a:spcBef>
              <a:spcAft>
                <a:spcPts val="0"/>
              </a:spcAft>
              <a:buClr>
                <a:srgbClr val="1A1A1A"/>
              </a:buClr>
              <a:buSzPts val="1350"/>
              <a:buChar char="➢"/>
            </a:pPr>
            <a:r>
              <a:rPr lang="it" sz="1350">
                <a:solidFill>
                  <a:srgbClr val="1A1A1A"/>
                </a:solidFill>
              </a:rPr>
              <a:t>Intra Subject Hand Closed.</a:t>
            </a:r>
            <a:endParaRPr sz="1350">
              <a:solidFill>
                <a:srgbClr val="1A1A1A"/>
              </a:solidFill>
            </a:endParaRPr>
          </a:p>
          <a:p>
            <a:pPr indent="-314325" lvl="1" marL="914400" rtl="0" algn="l">
              <a:spcBef>
                <a:spcPts val="0"/>
              </a:spcBef>
              <a:spcAft>
                <a:spcPts val="0"/>
              </a:spcAft>
              <a:buClr>
                <a:srgbClr val="1A1A1A"/>
              </a:buClr>
              <a:buSzPts val="1350"/>
              <a:buChar char="➢"/>
            </a:pPr>
            <a:r>
              <a:rPr lang="it" sz="1350">
                <a:solidFill>
                  <a:srgbClr val="1A1A1A"/>
                </a:solidFill>
              </a:rPr>
              <a:t>Intra Subject Concatenated Tasks (2 syn).</a:t>
            </a:r>
            <a:endParaRPr sz="1350">
              <a:solidFill>
                <a:srgbClr val="1A1A1A"/>
              </a:solidFill>
            </a:endParaRPr>
          </a:p>
          <a:p>
            <a:pPr indent="-314325" lvl="1" marL="914400" rtl="0" algn="l">
              <a:spcBef>
                <a:spcPts val="0"/>
              </a:spcBef>
              <a:spcAft>
                <a:spcPts val="0"/>
              </a:spcAft>
              <a:buClr>
                <a:srgbClr val="1A1A1A"/>
              </a:buClr>
              <a:buSzPts val="1350"/>
              <a:buChar char="➢"/>
            </a:pPr>
            <a:r>
              <a:rPr lang="it" sz="1350">
                <a:solidFill>
                  <a:srgbClr val="1A1A1A"/>
                </a:solidFill>
              </a:rPr>
              <a:t>Cross Subject C</a:t>
            </a:r>
            <a:r>
              <a:rPr lang="it" sz="1350">
                <a:solidFill>
                  <a:srgbClr val="1A1A1A"/>
                </a:solidFill>
              </a:rPr>
              <a:t>oncatenated Tasks (2 syn).</a:t>
            </a:r>
            <a:endParaRPr sz="1350">
              <a:solidFill>
                <a:srgbClr val="1A1A1A"/>
              </a:solidFill>
            </a:endParaRPr>
          </a:p>
          <a:p>
            <a:pPr indent="-314325" lvl="2" marL="1371600" rtl="0" algn="l">
              <a:spcBef>
                <a:spcPts val="0"/>
              </a:spcBef>
              <a:spcAft>
                <a:spcPts val="0"/>
              </a:spcAft>
              <a:buClr>
                <a:srgbClr val="1A1A1A"/>
              </a:buClr>
              <a:buSzPts val="1350"/>
              <a:buChar char="■"/>
            </a:pPr>
            <a:r>
              <a:rPr lang="it" sz="1350">
                <a:solidFill>
                  <a:srgbClr val="1A1A1A"/>
                </a:solidFill>
              </a:rPr>
              <a:t>Training: One Subject</a:t>
            </a:r>
            <a:endParaRPr sz="1350">
              <a:solidFill>
                <a:srgbClr val="1A1A1A"/>
              </a:solidFill>
            </a:endParaRPr>
          </a:p>
          <a:p>
            <a:pPr indent="-314325" lvl="2" marL="1371600" rtl="0" algn="l">
              <a:spcBef>
                <a:spcPts val="0"/>
              </a:spcBef>
              <a:spcAft>
                <a:spcPts val="0"/>
              </a:spcAft>
              <a:buClr>
                <a:srgbClr val="1A1A1A"/>
              </a:buClr>
              <a:buSzPts val="1350"/>
              <a:buChar char="■"/>
            </a:pPr>
            <a:r>
              <a:rPr lang="it" sz="1350">
                <a:solidFill>
                  <a:srgbClr val="1A1A1A"/>
                </a:solidFill>
              </a:rPr>
              <a:t>Training: Multi Subjects</a:t>
            </a:r>
            <a:endParaRPr sz="1350">
              <a:solidFill>
                <a:srgbClr val="1A1A1A"/>
              </a:solidFill>
            </a:endParaRPr>
          </a:p>
          <a:p>
            <a:pPr indent="-314325" lvl="1" marL="914400" rtl="0" algn="l">
              <a:spcBef>
                <a:spcPts val="0"/>
              </a:spcBef>
              <a:spcAft>
                <a:spcPts val="0"/>
              </a:spcAft>
              <a:buClr>
                <a:srgbClr val="1A1A1A"/>
              </a:buClr>
              <a:buSzPts val="1350"/>
              <a:buChar char="➢"/>
            </a:pPr>
            <a:r>
              <a:rPr lang="it" sz="1350">
                <a:solidFill>
                  <a:srgbClr val="1A1A1A"/>
                </a:solidFill>
              </a:rPr>
              <a:t>Intra Subject Concatenated Tasks (4 syn).</a:t>
            </a:r>
            <a:endParaRPr sz="1350">
              <a:solidFill>
                <a:srgbClr val="1A1A1A"/>
              </a:solidFill>
            </a:endParaRPr>
          </a:p>
          <a:p>
            <a:pPr indent="0" lvl="0" marL="457200" rtl="0" algn="l">
              <a:spcBef>
                <a:spcPts val="480"/>
              </a:spcBef>
              <a:spcAft>
                <a:spcPts val="0"/>
              </a:spcAft>
              <a:buNone/>
            </a:pPr>
            <a:r>
              <a:t/>
            </a:r>
            <a:endParaRPr sz="1350">
              <a:solidFill>
                <a:srgbClr val="1A1A1A"/>
              </a:solidFill>
            </a:endParaRPr>
          </a:p>
          <a:p>
            <a:pPr indent="0" lvl="0" marL="457200" rtl="0" algn="l">
              <a:spcBef>
                <a:spcPts val="480"/>
              </a:spcBef>
              <a:spcAft>
                <a:spcPts val="0"/>
              </a:spcAft>
              <a:buNone/>
            </a:pPr>
            <a:r>
              <a:t/>
            </a:r>
            <a:endParaRPr sz="1350">
              <a:solidFill>
                <a:srgbClr val="1A1A1A"/>
              </a:solidFill>
            </a:endParaRPr>
          </a:p>
          <a:p>
            <a:pPr indent="0" lvl="0" marL="0" rtl="0" algn="l">
              <a:lnSpc>
                <a:spcPct val="100000"/>
              </a:lnSpc>
              <a:spcBef>
                <a:spcPts val="480"/>
              </a:spcBef>
              <a:spcAft>
                <a:spcPts val="0"/>
              </a:spcAft>
              <a:buNone/>
            </a:pPr>
            <a:r>
              <a:t/>
            </a:r>
            <a:endParaRPr sz="1350">
              <a:solidFill>
                <a:srgbClr val="1A1A1A"/>
              </a:solidFill>
            </a:endParaRPr>
          </a:p>
          <a:p>
            <a:pPr indent="0" lvl="0" marL="0" rtl="0" algn="l">
              <a:lnSpc>
                <a:spcPct val="100000"/>
              </a:lnSpc>
              <a:spcBef>
                <a:spcPts val="480"/>
              </a:spcBef>
              <a:spcAft>
                <a:spcPts val="0"/>
              </a:spcAft>
              <a:buNone/>
            </a:pPr>
            <a:r>
              <a:t/>
            </a:r>
            <a:endParaRPr sz="1350">
              <a:solidFill>
                <a:srgbClr val="1A1A1A"/>
              </a:solidFill>
            </a:endParaRPr>
          </a:p>
          <a:p>
            <a:pPr indent="0" lvl="0" marL="457200" rtl="0" algn="l">
              <a:lnSpc>
                <a:spcPct val="100000"/>
              </a:lnSpc>
              <a:spcBef>
                <a:spcPts val="480"/>
              </a:spcBef>
              <a:spcAft>
                <a:spcPts val="0"/>
              </a:spcAft>
              <a:buNone/>
            </a:pPr>
            <a:br>
              <a:rPr lang="it" sz="1350">
                <a:solidFill>
                  <a:srgbClr val="1A1A1A"/>
                </a:solidFill>
              </a:rPr>
            </a:br>
            <a:endParaRPr sz="1350">
              <a:solidFill>
                <a:srgbClr val="1A1A1A"/>
              </a:solidFill>
            </a:endParaRPr>
          </a:p>
          <a:p>
            <a:pPr indent="0" lvl="0" marL="0" rtl="0" algn="l">
              <a:lnSpc>
                <a:spcPct val="100000"/>
              </a:lnSpc>
              <a:spcBef>
                <a:spcPts val="480"/>
              </a:spcBef>
              <a:spcAft>
                <a:spcPts val="0"/>
              </a:spcAft>
              <a:buNone/>
            </a:pPr>
            <a:r>
              <a:t/>
            </a:r>
            <a:endParaRPr sz="1350">
              <a:solidFill>
                <a:srgbClr val="1A1A1A"/>
              </a:solidFill>
            </a:endParaRPr>
          </a:p>
        </p:txBody>
      </p:sp>
      <p:pic>
        <p:nvPicPr>
          <p:cNvPr id="280" name="Google Shape;280;p33" title="Screenshot from 2026-07-21 22-35-43.png"/>
          <p:cNvPicPr preferRelativeResize="0"/>
          <p:nvPr/>
        </p:nvPicPr>
        <p:blipFill>
          <a:blip r:embed="rId3">
            <a:alphaModFix/>
          </a:blip>
          <a:stretch>
            <a:fillRect/>
          </a:stretch>
        </p:blipFill>
        <p:spPr>
          <a:xfrm>
            <a:off x="1066975" y="2403865"/>
            <a:ext cx="2516800" cy="273275"/>
          </a:xfrm>
          <a:prstGeom prst="rect">
            <a:avLst/>
          </a:prstGeom>
          <a:noFill/>
          <a:ln>
            <a:noFill/>
          </a:ln>
        </p:spPr>
      </p:pic>
      <p:pic>
        <p:nvPicPr>
          <p:cNvPr id="281" name="Google Shape;281;p33"/>
          <p:cNvPicPr preferRelativeResize="0"/>
          <p:nvPr/>
        </p:nvPicPr>
        <p:blipFill rotWithShape="1">
          <a:blip r:embed="rId4">
            <a:alphaModFix/>
          </a:blip>
          <a:srcRect b="52539" l="0" r="0" t="0"/>
          <a:stretch/>
        </p:blipFill>
        <p:spPr>
          <a:xfrm>
            <a:off x="5516175" y="1351200"/>
            <a:ext cx="1507000" cy="2441099"/>
          </a:xfrm>
          <a:prstGeom prst="rect">
            <a:avLst/>
          </a:prstGeom>
          <a:noFill/>
          <a:ln>
            <a:noFill/>
          </a:ln>
        </p:spPr>
      </p:pic>
      <p:pic>
        <p:nvPicPr>
          <p:cNvPr id="282" name="Google Shape;282;p33"/>
          <p:cNvPicPr preferRelativeResize="0"/>
          <p:nvPr/>
        </p:nvPicPr>
        <p:blipFill rotWithShape="1">
          <a:blip r:embed="rId4">
            <a:alphaModFix/>
          </a:blip>
          <a:srcRect b="0" l="0" r="0" t="46726"/>
          <a:stretch/>
        </p:blipFill>
        <p:spPr>
          <a:xfrm>
            <a:off x="7325300" y="1201650"/>
            <a:ext cx="1507000" cy="2740198"/>
          </a:xfrm>
          <a:prstGeom prst="rect">
            <a:avLst/>
          </a:prstGeom>
          <a:noFill/>
          <a:ln>
            <a:noFill/>
          </a:ln>
        </p:spPr>
      </p:pic>
      <p:cxnSp>
        <p:nvCxnSpPr>
          <p:cNvPr id="283" name="Google Shape;283;p33"/>
          <p:cNvCxnSpPr>
            <a:stCxn id="282" idx="0"/>
            <a:endCxn id="281" idx="2"/>
          </p:cNvCxnSpPr>
          <p:nvPr/>
        </p:nvCxnSpPr>
        <p:spPr>
          <a:xfrm rot="5400000">
            <a:off x="5879050" y="1592400"/>
            <a:ext cx="2590500" cy="1809000"/>
          </a:xfrm>
          <a:prstGeom prst="bentConnector5">
            <a:avLst>
              <a:gd fmla="val -9192" name="adj1"/>
              <a:gd fmla="val 50003" name="adj2"/>
              <a:gd fmla="val 109198" name="adj3"/>
            </a:avLst>
          </a:prstGeom>
          <a:noFill/>
          <a:ln cap="flat" cmpd="sng" w="9525">
            <a:solidFill>
              <a:srgbClr val="999999"/>
            </a:solidFill>
            <a:prstDash val="solid"/>
            <a:round/>
            <a:headEnd len="med" w="med" type="none"/>
            <a:tailEnd len="med" w="med" type="none"/>
          </a:ln>
        </p:spPr>
      </p:cxnSp>
      <p:sp>
        <p:nvSpPr>
          <p:cNvPr id="284" name="Google Shape;284;p33"/>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4"/>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457200" lvl="0" marL="0" rtl="0" algn="l">
              <a:spcBef>
                <a:spcPts val="0"/>
              </a:spcBef>
              <a:spcAft>
                <a:spcPts val="0"/>
              </a:spcAft>
              <a:buClr>
                <a:schemeClr val="dk1"/>
              </a:buClr>
              <a:buSzPts val="1100"/>
              <a:buFont typeface="Arial"/>
              <a:buNone/>
            </a:pPr>
            <a:r>
              <a:rPr lang="it">
                <a:solidFill>
                  <a:schemeClr val="dk1"/>
                </a:solidFill>
              </a:rPr>
              <a:t>Training: </a:t>
            </a:r>
            <a:r>
              <a:rPr lang="it">
                <a:solidFill>
                  <a:schemeClr val="dk1"/>
                </a:solidFill>
              </a:rPr>
              <a:t>2 Motoneuron Synergies Reconstruction</a:t>
            </a:r>
            <a:endParaRPr>
              <a:solidFill>
                <a:schemeClr val="dk1"/>
              </a:solidFill>
            </a:endParaRPr>
          </a:p>
        </p:txBody>
      </p:sp>
      <p:sp>
        <p:nvSpPr>
          <p:cNvPr id="290" name="Google Shape;290;p34"/>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pic>
        <p:nvPicPr>
          <p:cNvPr id="291" name="Google Shape;291;p34" title="imm1.png"/>
          <p:cNvPicPr preferRelativeResize="0"/>
          <p:nvPr/>
        </p:nvPicPr>
        <p:blipFill>
          <a:blip r:embed="rId3">
            <a:alphaModFix/>
          </a:blip>
          <a:stretch>
            <a:fillRect/>
          </a:stretch>
        </p:blipFill>
        <p:spPr>
          <a:xfrm>
            <a:off x="204288" y="1487917"/>
            <a:ext cx="4247149" cy="2017175"/>
          </a:xfrm>
          <a:prstGeom prst="rect">
            <a:avLst/>
          </a:prstGeom>
          <a:noFill/>
          <a:ln>
            <a:noFill/>
          </a:ln>
        </p:spPr>
      </p:pic>
      <p:pic>
        <p:nvPicPr>
          <p:cNvPr id="292" name="Google Shape;292;p34" title="imm2.png"/>
          <p:cNvPicPr preferRelativeResize="0"/>
          <p:nvPr/>
        </p:nvPicPr>
        <p:blipFill>
          <a:blip r:embed="rId4">
            <a:alphaModFix/>
          </a:blip>
          <a:stretch>
            <a:fillRect/>
          </a:stretch>
        </p:blipFill>
        <p:spPr>
          <a:xfrm>
            <a:off x="4607188" y="1459662"/>
            <a:ext cx="4355200" cy="2073693"/>
          </a:xfrm>
          <a:prstGeom prst="rect">
            <a:avLst/>
          </a:prstGeom>
          <a:noFill/>
          <a:ln>
            <a:noFill/>
          </a:ln>
        </p:spPr>
      </p:pic>
      <p:sp>
        <p:nvSpPr>
          <p:cNvPr id="293" name="Google Shape;293;p34"/>
          <p:cNvSpPr txBox="1"/>
          <p:nvPr/>
        </p:nvSpPr>
        <p:spPr>
          <a:xfrm>
            <a:off x="408000" y="1141725"/>
            <a:ext cx="19479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50">
                <a:solidFill>
                  <a:srgbClr val="1A1A1A"/>
                </a:solidFill>
                <a:latin typeface="Merriweather SemiBold"/>
                <a:ea typeface="Merriweather SemiBold"/>
                <a:cs typeface="Merriweather SemiBold"/>
                <a:sym typeface="Merriweather SemiBold"/>
              </a:rPr>
              <a:t>Intra Subject </a:t>
            </a:r>
            <a:endParaRPr sz="1050">
              <a:latin typeface="Merriweather SemiBold"/>
              <a:ea typeface="Merriweather SemiBold"/>
              <a:cs typeface="Merriweather SemiBold"/>
              <a:sym typeface="Merriweather SemiBold"/>
            </a:endParaRPr>
          </a:p>
        </p:txBody>
      </p:sp>
      <p:sp>
        <p:nvSpPr>
          <p:cNvPr id="294" name="Google Shape;294;p34"/>
          <p:cNvSpPr txBox="1"/>
          <p:nvPr/>
        </p:nvSpPr>
        <p:spPr>
          <a:xfrm>
            <a:off x="4863200" y="1113450"/>
            <a:ext cx="3000000" cy="346200"/>
          </a:xfrm>
          <a:prstGeom prst="rect">
            <a:avLst/>
          </a:prstGeom>
          <a:noFill/>
          <a:ln>
            <a:noFill/>
          </a:ln>
        </p:spPr>
        <p:txBody>
          <a:bodyPr anchorCtr="0" anchor="t" bIns="91425" lIns="91425" spcFirstLastPara="1" rIns="91425" wrap="square" tIns="91425">
            <a:spAutoFit/>
          </a:bodyPr>
          <a:lstStyle/>
          <a:p>
            <a:pPr indent="0" lvl="0" marL="0" rtl="0" algn="l">
              <a:spcBef>
                <a:spcPts val="480"/>
              </a:spcBef>
              <a:spcAft>
                <a:spcPts val="0"/>
              </a:spcAft>
              <a:buNone/>
            </a:pPr>
            <a:r>
              <a:rPr lang="it" sz="1050">
                <a:solidFill>
                  <a:srgbClr val="1A1A1A"/>
                </a:solidFill>
                <a:latin typeface="Merriweather SemiBold"/>
                <a:ea typeface="Merriweather SemiBold"/>
                <a:cs typeface="Merriweather SemiBold"/>
                <a:sym typeface="Merriweather SemiBold"/>
              </a:rPr>
              <a:t>Cross Subject - Multi Subject Training</a:t>
            </a:r>
            <a:endParaRPr sz="1050">
              <a:latin typeface="Merriweather SemiBold"/>
              <a:ea typeface="Merriweather SemiBold"/>
              <a:cs typeface="Merriweather SemiBold"/>
              <a:sym typeface="Merriweather SemiBold"/>
            </a:endParaRPr>
          </a:p>
        </p:txBody>
      </p:sp>
      <p:sp>
        <p:nvSpPr>
          <p:cNvPr id="295" name="Google Shape;295;p34"/>
          <p:cNvSpPr txBox="1"/>
          <p:nvPr/>
        </p:nvSpPr>
        <p:spPr>
          <a:xfrm rot="-5400000">
            <a:off x="-46350" y="2163425"/>
            <a:ext cx="377400" cy="28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650">
                <a:solidFill>
                  <a:srgbClr val="1A1A1A"/>
                </a:solidFill>
              </a:rPr>
              <a:t>Loss</a:t>
            </a:r>
            <a:r>
              <a:rPr lang="it" sz="650">
                <a:solidFill>
                  <a:srgbClr val="1A1A1A"/>
                </a:solidFill>
              </a:rPr>
              <a:t> </a:t>
            </a:r>
            <a:endParaRPr sz="650"/>
          </a:p>
        </p:txBody>
      </p:sp>
      <p:sp>
        <p:nvSpPr>
          <p:cNvPr id="296" name="Google Shape;296;p34"/>
          <p:cNvSpPr txBox="1"/>
          <p:nvPr/>
        </p:nvSpPr>
        <p:spPr>
          <a:xfrm rot="-5400000">
            <a:off x="4341500" y="2276900"/>
            <a:ext cx="377400" cy="28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650">
                <a:solidFill>
                  <a:srgbClr val="1A1A1A"/>
                </a:solidFill>
              </a:rPr>
              <a:t>Loss </a:t>
            </a:r>
            <a:endParaRPr sz="650"/>
          </a:p>
        </p:txBody>
      </p:sp>
      <p:sp>
        <p:nvSpPr>
          <p:cNvPr id="297" name="Google Shape;297;p34"/>
          <p:cNvSpPr txBox="1"/>
          <p:nvPr/>
        </p:nvSpPr>
        <p:spPr>
          <a:xfrm>
            <a:off x="7863200" y="2879550"/>
            <a:ext cx="966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it" sz="800"/>
              <a:t>loss </a:t>
            </a:r>
            <a:r>
              <a:rPr i="1" lang="it" sz="800"/>
              <a:t>target</a:t>
            </a:r>
            <a:r>
              <a:rPr i="1" lang="it" sz="800"/>
              <a:t> 0.074</a:t>
            </a:r>
            <a:endParaRPr i="1" sz="800"/>
          </a:p>
        </p:txBody>
      </p:sp>
      <p:sp>
        <p:nvSpPr>
          <p:cNvPr id="298" name="Google Shape;298;p34"/>
          <p:cNvSpPr txBox="1"/>
          <p:nvPr/>
        </p:nvSpPr>
        <p:spPr>
          <a:xfrm>
            <a:off x="3338625" y="2571750"/>
            <a:ext cx="966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it" sz="800"/>
              <a:t>loss target 0.030</a:t>
            </a:r>
            <a:endParaRPr i="1" sz="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5"/>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457200" lvl="0" marL="0" rtl="0" algn="l">
              <a:spcBef>
                <a:spcPts val="0"/>
              </a:spcBef>
              <a:spcAft>
                <a:spcPts val="0"/>
              </a:spcAft>
              <a:buClr>
                <a:schemeClr val="dk1"/>
              </a:buClr>
              <a:buSzPts val="1100"/>
              <a:buFont typeface="Arial"/>
              <a:buNone/>
            </a:pPr>
            <a:r>
              <a:rPr lang="it">
                <a:solidFill>
                  <a:schemeClr val="dk1"/>
                </a:solidFill>
              </a:rPr>
              <a:t>Prediction</a:t>
            </a:r>
            <a:r>
              <a:rPr lang="it">
                <a:solidFill>
                  <a:schemeClr val="dk1"/>
                </a:solidFill>
              </a:rPr>
              <a:t>: 2 Motoneuron Synergies Reconstruction</a:t>
            </a:r>
            <a:endParaRPr>
              <a:solidFill>
                <a:schemeClr val="dk1"/>
              </a:solidFill>
            </a:endParaRPr>
          </a:p>
        </p:txBody>
      </p:sp>
      <p:sp>
        <p:nvSpPr>
          <p:cNvPr id="304" name="Google Shape;304;p35"/>
          <p:cNvSpPr txBox="1"/>
          <p:nvPr/>
        </p:nvSpPr>
        <p:spPr>
          <a:xfrm>
            <a:off x="2504400" y="3945575"/>
            <a:ext cx="41352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rgbClr val="1A1A1A"/>
                </a:solidFill>
              </a:rPr>
              <a:t>Intra Subject, prediction on unseen trial. </a:t>
            </a:r>
            <a:endParaRPr sz="1260">
              <a:solidFill>
                <a:srgbClr val="1A1A1A"/>
              </a:solidFill>
            </a:endParaRPr>
          </a:p>
        </p:txBody>
      </p:sp>
      <p:pic>
        <p:nvPicPr>
          <p:cNvPr id="305" name="Google Shape;305;p35" title="Screenshot from 2026-07-13 23-00-25.png"/>
          <p:cNvPicPr preferRelativeResize="0"/>
          <p:nvPr/>
        </p:nvPicPr>
        <p:blipFill>
          <a:blip r:embed="rId3">
            <a:alphaModFix/>
          </a:blip>
          <a:stretch>
            <a:fillRect/>
          </a:stretch>
        </p:blipFill>
        <p:spPr>
          <a:xfrm>
            <a:off x="1217425" y="950375"/>
            <a:ext cx="6401436" cy="2722600"/>
          </a:xfrm>
          <a:prstGeom prst="rect">
            <a:avLst/>
          </a:prstGeom>
          <a:noFill/>
          <a:ln>
            <a:noFill/>
          </a:ln>
        </p:spPr>
      </p:pic>
      <p:sp>
        <p:nvSpPr>
          <p:cNvPr id="306" name="Google Shape;306;p35"/>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6"/>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Prediction Results: Intra Subject - Hand Closed</a:t>
            </a:r>
            <a:endParaRPr>
              <a:solidFill>
                <a:schemeClr val="dk1"/>
              </a:solidFill>
            </a:endParaRPr>
          </a:p>
        </p:txBody>
      </p:sp>
      <p:sp>
        <p:nvSpPr>
          <p:cNvPr id="312" name="Google Shape;312;p36"/>
          <p:cNvSpPr txBox="1"/>
          <p:nvPr/>
        </p:nvSpPr>
        <p:spPr>
          <a:xfrm>
            <a:off x="1201525" y="1224200"/>
            <a:ext cx="22692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t>Ground Truth</a:t>
            </a:r>
            <a:endParaRPr b="1" sz="1260"/>
          </a:p>
          <a:p>
            <a:pPr indent="0" lvl="0" marL="0" rtl="0" algn="ctr">
              <a:lnSpc>
                <a:spcPct val="130000"/>
              </a:lnSpc>
              <a:spcBef>
                <a:spcPts val="480"/>
              </a:spcBef>
              <a:spcAft>
                <a:spcPts val="0"/>
              </a:spcAft>
              <a:buNone/>
            </a:pPr>
            <a:r>
              <a:t/>
            </a:r>
            <a:endParaRPr sz="1260"/>
          </a:p>
        </p:txBody>
      </p:sp>
      <p:sp>
        <p:nvSpPr>
          <p:cNvPr id="313" name="Google Shape;313;p36"/>
          <p:cNvSpPr txBox="1"/>
          <p:nvPr/>
        </p:nvSpPr>
        <p:spPr>
          <a:xfrm>
            <a:off x="4884425" y="1224200"/>
            <a:ext cx="40479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rgbClr val="1A1A1A"/>
                </a:solidFill>
              </a:rPr>
              <a:t>Prediction - Training with possible unstable trials</a:t>
            </a:r>
            <a:endParaRPr b="1" sz="1260">
              <a:solidFill>
                <a:srgbClr val="1A1A1A"/>
              </a:solidFill>
            </a:endParaRPr>
          </a:p>
          <a:p>
            <a:pPr indent="0" lvl="0" marL="0" rtl="0" algn="ctr">
              <a:lnSpc>
                <a:spcPct val="130000"/>
              </a:lnSpc>
              <a:spcBef>
                <a:spcPts val="480"/>
              </a:spcBef>
              <a:spcAft>
                <a:spcPts val="0"/>
              </a:spcAft>
              <a:buNone/>
            </a:pPr>
            <a:r>
              <a:t/>
            </a:r>
            <a:endParaRPr sz="1260"/>
          </a:p>
        </p:txBody>
      </p:sp>
      <p:sp>
        <p:nvSpPr>
          <p:cNvPr id="314" name="Google Shape;314;p36"/>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pic>
        <p:nvPicPr>
          <p:cNvPr id="315" name="Google Shape;315;p36" title="Movie_023.mp4">
            <a:hlinkClick r:id="rId3"/>
          </p:cNvPr>
          <p:cNvPicPr preferRelativeResize="0"/>
          <p:nvPr/>
        </p:nvPicPr>
        <p:blipFill>
          <a:blip r:embed="rId4">
            <a:alphaModFix/>
          </a:blip>
          <a:stretch>
            <a:fillRect/>
          </a:stretch>
        </p:blipFill>
        <p:spPr>
          <a:xfrm>
            <a:off x="290250" y="1715300"/>
            <a:ext cx="4091750" cy="2301612"/>
          </a:xfrm>
          <a:prstGeom prst="rect">
            <a:avLst/>
          </a:prstGeom>
          <a:noFill/>
          <a:ln>
            <a:noFill/>
          </a:ln>
        </p:spPr>
      </p:pic>
      <p:pic>
        <p:nvPicPr>
          <p:cNvPr id="316" name="Google Shape;316;p36" title="Movie_024.mp4">
            <a:hlinkClick r:id="rId5"/>
          </p:cNvPr>
          <p:cNvPicPr preferRelativeResize="0"/>
          <p:nvPr/>
        </p:nvPicPr>
        <p:blipFill>
          <a:blip r:embed="rId6">
            <a:alphaModFix/>
          </a:blip>
          <a:stretch>
            <a:fillRect/>
          </a:stretch>
        </p:blipFill>
        <p:spPr>
          <a:xfrm>
            <a:off x="4840525" y="1715291"/>
            <a:ext cx="4091750" cy="2301610"/>
          </a:xfrm>
          <a:prstGeom prst="rect">
            <a:avLst/>
          </a:prstGeom>
          <a:noFill/>
          <a:ln>
            <a:noFill/>
          </a:ln>
        </p:spPr>
      </p:pic>
      <p:sp>
        <p:nvSpPr>
          <p:cNvPr id="317" name="Google Shape;317;p36"/>
          <p:cNvSpPr txBox="1"/>
          <p:nvPr/>
        </p:nvSpPr>
        <p:spPr>
          <a:xfrm>
            <a:off x="3437400" y="836350"/>
            <a:ext cx="2269200" cy="387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b="1" lang="it" sz="1260"/>
              <a:t>               1</a:t>
            </a:r>
            <a:r>
              <a:rPr b="1" lang="it" sz="1260"/>
              <a:t> Synergy</a:t>
            </a:r>
            <a:endParaRPr b="1" sz="1260"/>
          </a:p>
          <a:p>
            <a:pPr indent="0" lvl="0" marL="0" rtl="0" algn="ctr">
              <a:lnSpc>
                <a:spcPct val="130000"/>
              </a:lnSpc>
              <a:spcBef>
                <a:spcPts val="480"/>
              </a:spcBef>
              <a:spcAft>
                <a:spcPts val="0"/>
              </a:spcAft>
              <a:buNone/>
            </a:pPr>
            <a:r>
              <a:t/>
            </a:r>
            <a:endParaRPr sz="126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7"/>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Prediction Results: Intra Subject - Hand Closed</a:t>
            </a:r>
            <a:endParaRPr>
              <a:solidFill>
                <a:schemeClr val="dk1"/>
              </a:solidFill>
            </a:endParaRPr>
          </a:p>
        </p:txBody>
      </p:sp>
      <p:pic>
        <p:nvPicPr>
          <p:cNvPr id="323" name="Google Shape;323;p37" title="GT_soggetto3_trial1.mp4">
            <a:hlinkClick r:id="rId3"/>
          </p:cNvPr>
          <p:cNvPicPr preferRelativeResize="0"/>
          <p:nvPr/>
        </p:nvPicPr>
        <p:blipFill>
          <a:blip r:embed="rId4">
            <a:alphaModFix/>
          </a:blip>
          <a:stretch>
            <a:fillRect/>
          </a:stretch>
        </p:blipFill>
        <p:spPr>
          <a:xfrm>
            <a:off x="290263" y="1715300"/>
            <a:ext cx="4091712" cy="2301599"/>
          </a:xfrm>
          <a:prstGeom prst="rect">
            <a:avLst/>
          </a:prstGeom>
          <a:noFill/>
          <a:ln>
            <a:noFill/>
          </a:ln>
        </p:spPr>
      </p:pic>
      <p:sp>
        <p:nvSpPr>
          <p:cNvPr id="324" name="Google Shape;324;p37"/>
          <p:cNvSpPr txBox="1"/>
          <p:nvPr/>
        </p:nvSpPr>
        <p:spPr>
          <a:xfrm>
            <a:off x="1201525" y="1224200"/>
            <a:ext cx="22692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t>Ground Truth</a:t>
            </a:r>
            <a:endParaRPr b="1" sz="1260"/>
          </a:p>
          <a:p>
            <a:pPr indent="0" lvl="0" marL="0" rtl="0" algn="ctr">
              <a:lnSpc>
                <a:spcPct val="130000"/>
              </a:lnSpc>
              <a:spcBef>
                <a:spcPts val="480"/>
              </a:spcBef>
              <a:spcAft>
                <a:spcPts val="0"/>
              </a:spcAft>
              <a:buNone/>
            </a:pPr>
            <a:r>
              <a:t/>
            </a:r>
            <a:endParaRPr sz="1260"/>
          </a:p>
        </p:txBody>
      </p:sp>
      <p:sp>
        <p:nvSpPr>
          <p:cNvPr id="325" name="Google Shape;325;p37"/>
          <p:cNvSpPr txBox="1"/>
          <p:nvPr/>
        </p:nvSpPr>
        <p:spPr>
          <a:xfrm>
            <a:off x="4937750" y="1224200"/>
            <a:ext cx="37797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rgbClr val="1A1A1A"/>
                </a:solidFill>
              </a:rPr>
              <a:t>Prediction - Training on only </a:t>
            </a:r>
            <a:r>
              <a:rPr b="1" lang="it" sz="1260" u="sng">
                <a:solidFill>
                  <a:srgbClr val="1A1A1A"/>
                </a:solidFill>
              </a:rPr>
              <a:t>stable trials</a:t>
            </a:r>
            <a:r>
              <a:rPr b="1" lang="it" sz="1260">
                <a:solidFill>
                  <a:srgbClr val="1A1A1A"/>
                </a:solidFill>
              </a:rPr>
              <a:t> </a:t>
            </a:r>
            <a:endParaRPr b="1" sz="1260">
              <a:solidFill>
                <a:srgbClr val="1A1A1A"/>
              </a:solidFill>
            </a:endParaRPr>
          </a:p>
          <a:p>
            <a:pPr indent="0" lvl="0" marL="0" rtl="0" algn="ctr">
              <a:lnSpc>
                <a:spcPct val="130000"/>
              </a:lnSpc>
              <a:spcBef>
                <a:spcPts val="480"/>
              </a:spcBef>
              <a:spcAft>
                <a:spcPts val="0"/>
              </a:spcAft>
              <a:buNone/>
            </a:pPr>
            <a:r>
              <a:t/>
            </a:r>
            <a:endParaRPr sz="1260"/>
          </a:p>
        </p:txBody>
      </p:sp>
      <p:pic>
        <p:nvPicPr>
          <p:cNvPr id="326" name="Google Shape;326;p37" title="PRED_soggetto3_trial1.mp4">
            <a:hlinkClick r:id="rId5"/>
          </p:cNvPr>
          <p:cNvPicPr preferRelativeResize="0"/>
          <p:nvPr/>
        </p:nvPicPr>
        <p:blipFill>
          <a:blip r:embed="rId6">
            <a:alphaModFix/>
          </a:blip>
          <a:stretch>
            <a:fillRect/>
          </a:stretch>
        </p:blipFill>
        <p:spPr>
          <a:xfrm>
            <a:off x="4838125" y="1715300"/>
            <a:ext cx="4091746" cy="2301599"/>
          </a:xfrm>
          <a:prstGeom prst="rect">
            <a:avLst/>
          </a:prstGeom>
          <a:noFill/>
          <a:ln>
            <a:noFill/>
          </a:ln>
        </p:spPr>
      </p:pic>
      <p:sp>
        <p:nvSpPr>
          <p:cNvPr id="327" name="Google Shape;327;p37"/>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
        <p:nvSpPr>
          <p:cNvPr id="328" name="Google Shape;328;p37"/>
          <p:cNvSpPr txBox="1"/>
          <p:nvPr/>
        </p:nvSpPr>
        <p:spPr>
          <a:xfrm>
            <a:off x="3437400" y="836350"/>
            <a:ext cx="2269200" cy="387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b="1" lang="it" sz="1260"/>
              <a:t>               1 Synergy</a:t>
            </a:r>
            <a:endParaRPr b="1" sz="1260"/>
          </a:p>
          <a:p>
            <a:pPr indent="0" lvl="0" marL="0" rtl="0" algn="ctr">
              <a:lnSpc>
                <a:spcPct val="130000"/>
              </a:lnSpc>
              <a:spcBef>
                <a:spcPts val="480"/>
              </a:spcBef>
              <a:spcAft>
                <a:spcPts val="0"/>
              </a:spcAft>
              <a:buNone/>
            </a:pPr>
            <a:r>
              <a:t/>
            </a:r>
            <a:endParaRPr sz="126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1000"/>
                                        <p:tgtEl>
                                          <p:spTgt spid="3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8"/>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Prediction Results: Intra Subject - Concatenated Task</a:t>
            </a:r>
            <a:endParaRPr>
              <a:solidFill>
                <a:schemeClr val="dk1"/>
              </a:solidFill>
            </a:endParaRPr>
          </a:p>
        </p:txBody>
      </p:sp>
      <p:pic>
        <p:nvPicPr>
          <p:cNvPr id="334" name="Google Shape;334;p38" title="PRED_trainsoggetto2_testtrial4.mp4">
            <a:hlinkClick r:id="rId3"/>
          </p:cNvPr>
          <p:cNvPicPr preferRelativeResize="0"/>
          <p:nvPr/>
        </p:nvPicPr>
        <p:blipFill>
          <a:blip r:embed="rId4">
            <a:alphaModFix/>
          </a:blip>
          <a:stretch>
            <a:fillRect/>
          </a:stretch>
        </p:blipFill>
        <p:spPr>
          <a:xfrm>
            <a:off x="4839200" y="1715300"/>
            <a:ext cx="4091698" cy="2301580"/>
          </a:xfrm>
          <a:prstGeom prst="rect">
            <a:avLst/>
          </a:prstGeom>
          <a:noFill/>
          <a:ln>
            <a:noFill/>
          </a:ln>
        </p:spPr>
      </p:pic>
      <p:sp>
        <p:nvSpPr>
          <p:cNvPr id="335" name="Google Shape;335;p38"/>
          <p:cNvSpPr txBox="1"/>
          <p:nvPr/>
        </p:nvSpPr>
        <p:spPr>
          <a:xfrm>
            <a:off x="5384850" y="1224200"/>
            <a:ext cx="31680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rgbClr val="1A1A1A"/>
                </a:solidFill>
              </a:rPr>
              <a:t>Prediction </a:t>
            </a:r>
            <a:endParaRPr b="1" sz="1260">
              <a:solidFill>
                <a:srgbClr val="1A1A1A"/>
              </a:solidFill>
            </a:endParaRPr>
          </a:p>
          <a:p>
            <a:pPr indent="0" lvl="0" marL="0" rtl="0" algn="ctr">
              <a:lnSpc>
                <a:spcPct val="130000"/>
              </a:lnSpc>
              <a:spcBef>
                <a:spcPts val="480"/>
              </a:spcBef>
              <a:spcAft>
                <a:spcPts val="0"/>
              </a:spcAft>
              <a:buNone/>
            </a:pPr>
            <a:r>
              <a:t/>
            </a:r>
            <a:endParaRPr sz="1260"/>
          </a:p>
        </p:txBody>
      </p:sp>
      <p:pic>
        <p:nvPicPr>
          <p:cNvPr id="336" name="Google Shape;336;p38" title="GT_soggetto3_trial1.mp4">
            <a:hlinkClick r:id="rId5"/>
          </p:cNvPr>
          <p:cNvPicPr preferRelativeResize="0"/>
          <p:nvPr/>
        </p:nvPicPr>
        <p:blipFill>
          <a:blip r:embed="rId6">
            <a:alphaModFix/>
          </a:blip>
          <a:stretch>
            <a:fillRect/>
          </a:stretch>
        </p:blipFill>
        <p:spPr>
          <a:xfrm>
            <a:off x="290263" y="1715300"/>
            <a:ext cx="4091712" cy="2301599"/>
          </a:xfrm>
          <a:prstGeom prst="rect">
            <a:avLst/>
          </a:prstGeom>
          <a:noFill/>
          <a:ln>
            <a:noFill/>
          </a:ln>
        </p:spPr>
      </p:pic>
      <p:sp>
        <p:nvSpPr>
          <p:cNvPr id="337" name="Google Shape;337;p38"/>
          <p:cNvSpPr txBox="1"/>
          <p:nvPr/>
        </p:nvSpPr>
        <p:spPr>
          <a:xfrm>
            <a:off x="1201525" y="1224200"/>
            <a:ext cx="22692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t>Ground Truth</a:t>
            </a:r>
            <a:endParaRPr b="1" sz="1260"/>
          </a:p>
          <a:p>
            <a:pPr indent="0" lvl="0" marL="0" rtl="0" algn="ctr">
              <a:lnSpc>
                <a:spcPct val="130000"/>
              </a:lnSpc>
              <a:spcBef>
                <a:spcPts val="480"/>
              </a:spcBef>
              <a:spcAft>
                <a:spcPts val="0"/>
              </a:spcAft>
              <a:buNone/>
            </a:pPr>
            <a:r>
              <a:t/>
            </a:r>
            <a:endParaRPr sz="1260"/>
          </a:p>
        </p:txBody>
      </p:sp>
      <p:sp>
        <p:nvSpPr>
          <p:cNvPr id="338" name="Google Shape;338;p38"/>
          <p:cNvSpPr txBox="1"/>
          <p:nvPr/>
        </p:nvSpPr>
        <p:spPr>
          <a:xfrm>
            <a:off x="3437400" y="836350"/>
            <a:ext cx="22692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t>2 Synergies</a:t>
            </a:r>
            <a:endParaRPr b="1" sz="1260"/>
          </a:p>
          <a:p>
            <a:pPr indent="0" lvl="0" marL="0" rtl="0" algn="ctr">
              <a:lnSpc>
                <a:spcPct val="130000"/>
              </a:lnSpc>
              <a:spcBef>
                <a:spcPts val="480"/>
              </a:spcBef>
              <a:spcAft>
                <a:spcPts val="0"/>
              </a:spcAft>
              <a:buNone/>
            </a:pPr>
            <a:r>
              <a:t/>
            </a:r>
            <a:endParaRPr sz="1260"/>
          </a:p>
        </p:txBody>
      </p:sp>
      <p:sp>
        <p:nvSpPr>
          <p:cNvPr id="339" name="Google Shape;339;p38"/>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1000"/>
                                        <p:tgtEl>
                                          <p:spTgt spid="334"/>
                                        </p:tgtEl>
                                      </p:cBhvr>
                                    </p:animEffect>
                                  </p:childTnLst>
                                </p:cTn>
                              </p:par>
                              <p:par>
                                <p:cTn fill="hold" nodeType="with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9"/>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Prediction Results: Cross Subject - Concatenated Task</a:t>
            </a:r>
            <a:endParaRPr>
              <a:solidFill>
                <a:schemeClr val="dk1"/>
              </a:solidFill>
            </a:endParaRPr>
          </a:p>
        </p:txBody>
      </p:sp>
      <p:sp>
        <p:nvSpPr>
          <p:cNvPr id="345" name="Google Shape;345;p39"/>
          <p:cNvSpPr txBox="1"/>
          <p:nvPr/>
        </p:nvSpPr>
        <p:spPr>
          <a:xfrm>
            <a:off x="3531850" y="1485350"/>
            <a:ext cx="1863000" cy="8235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rgbClr val="1A1A1A"/>
                </a:solidFill>
              </a:rPr>
              <a:t>Prediction - Training: One Subject  </a:t>
            </a:r>
            <a:endParaRPr b="1" sz="1260">
              <a:solidFill>
                <a:srgbClr val="1A1A1A"/>
              </a:solidFill>
            </a:endParaRPr>
          </a:p>
          <a:p>
            <a:pPr indent="0" lvl="0" marL="0" rtl="0" algn="ctr">
              <a:lnSpc>
                <a:spcPct val="130000"/>
              </a:lnSpc>
              <a:spcBef>
                <a:spcPts val="480"/>
              </a:spcBef>
              <a:spcAft>
                <a:spcPts val="0"/>
              </a:spcAft>
              <a:buNone/>
            </a:pPr>
            <a:r>
              <a:t/>
            </a:r>
            <a:endParaRPr sz="1260"/>
          </a:p>
        </p:txBody>
      </p:sp>
      <p:sp>
        <p:nvSpPr>
          <p:cNvPr id="346" name="Google Shape;346;p39"/>
          <p:cNvSpPr txBox="1"/>
          <p:nvPr/>
        </p:nvSpPr>
        <p:spPr>
          <a:xfrm>
            <a:off x="167413" y="1653000"/>
            <a:ext cx="22692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t>Ground Truth - 2 Synergies</a:t>
            </a:r>
            <a:endParaRPr b="1" sz="1260"/>
          </a:p>
          <a:p>
            <a:pPr indent="0" lvl="0" marL="0" rtl="0" algn="ctr">
              <a:lnSpc>
                <a:spcPct val="130000"/>
              </a:lnSpc>
              <a:spcBef>
                <a:spcPts val="480"/>
              </a:spcBef>
              <a:spcAft>
                <a:spcPts val="0"/>
              </a:spcAft>
              <a:buNone/>
            </a:pPr>
            <a:r>
              <a:t/>
            </a:r>
            <a:endParaRPr sz="1260"/>
          </a:p>
        </p:txBody>
      </p:sp>
      <p:pic>
        <p:nvPicPr>
          <p:cNvPr id="347" name="Google Shape;347;p39" title="GT_soggetto3_trial1.mp4">
            <a:hlinkClick r:id="rId3"/>
          </p:cNvPr>
          <p:cNvPicPr preferRelativeResize="0"/>
          <p:nvPr/>
        </p:nvPicPr>
        <p:blipFill>
          <a:blip r:embed="rId4">
            <a:alphaModFix/>
          </a:blip>
          <a:stretch>
            <a:fillRect/>
          </a:stretch>
        </p:blipFill>
        <p:spPr>
          <a:xfrm>
            <a:off x="137150" y="2082632"/>
            <a:ext cx="2329723" cy="1310467"/>
          </a:xfrm>
          <a:prstGeom prst="rect">
            <a:avLst/>
          </a:prstGeom>
          <a:noFill/>
          <a:ln>
            <a:noFill/>
          </a:ln>
        </p:spPr>
      </p:pic>
      <p:pic>
        <p:nvPicPr>
          <p:cNvPr id="348" name="Google Shape;348;p39" title="PRED_trainsoggetto2_testsoggetto3_trial1.mp4">
            <a:hlinkClick r:id="rId5"/>
          </p:cNvPr>
          <p:cNvPicPr preferRelativeResize="0"/>
          <p:nvPr/>
        </p:nvPicPr>
        <p:blipFill>
          <a:blip r:embed="rId6">
            <a:alphaModFix/>
          </a:blip>
          <a:stretch>
            <a:fillRect/>
          </a:stretch>
        </p:blipFill>
        <p:spPr>
          <a:xfrm>
            <a:off x="5610324" y="956549"/>
            <a:ext cx="3078374" cy="1731599"/>
          </a:xfrm>
          <a:prstGeom prst="rect">
            <a:avLst/>
          </a:prstGeom>
          <a:noFill/>
          <a:ln>
            <a:noFill/>
          </a:ln>
        </p:spPr>
      </p:pic>
      <p:pic>
        <p:nvPicPr>
          <p:cNvPr id="349" name="Google Shape;349;p39" title="PRED_multisoggetto_testsoggetto3_trial1.mp4">
            <a:hlinkClick r:id="rId7"/>
          </p:cNvPr>
          <p:cNvPicPr preferRelativeResize="0"/>
          <p:nvPr/>
        </p:nvPicPr>
        <p:blipFill>
          <a:blip r:embed="rId8">
            <a:alphaModFix/>
          </a:blip>
          <a:stretch>
            <a:fillRect/>
          </a:stretch>
        </p:blipFill>
        <p:spPr>
          <a:xfrm>
            <a:off x="5610325" y="2751516"/>
            <a:ext cx="3078374" cy="1731586"/>
          </a:xfrm>
          <a:prstGeom prst="rect">
            <a:avLst/>
          </a:prstGeom>
          <a:noFill/>
          <a:ln>
            <a:noFill/>
          </a:ln>
        </p:spPr>
      </p:pic>
      <p:sp>
        <p:nvSpPr>
          <p:cNvPr id="350" name="Google Shape;350;p39"/>
          <p:cNvSpPr txBox="1"/>
          <p:nvPr/>
        </p:nvSpPr>
        <p:spPr>
          <a:xfrm>
            <a:off x="3691850" y="3205563"/>
            <a:ext cx="1863000" cy="8235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rgbClr val="1A1A1A"/>
                </a:solidFill>
              </a:rPr>
              <a:t>Prediction - Training: Multi Subjects  </a:t>
            </a:r>
            <a:endParaRPr b="1" sz="1260">
              <a:solidFill>
                <a:srgbClr val="1A1A1A"/>
              </a:solidFill>
            </a:endParaRPr>
          </a:p>
          <a:p>
            <a:pPr indent="0" lvl="0" marL="0" rtl="0" algn="ctr">
              <a:lnSpc>
                <a:spcPct val="130000"/>
              </a:lnSpc>
              <a:spcBef>
                <a:spcPts val="480"/>
              </a:spcBef>
              <a:spcAft>
                <a:spcPts val="0"/>
              </a:spcAft>
              <a:buNone/>
            </a:pPr>
            <a:r>
              <a:t/>
            </a:r>
            <a:endParaRPr sz="1260"/>
          </a:p>
        </p:txBody>
      </p:sp>
      <p:sp>
        <p:nvSpPr>
          <p:cNvPr id="351" name="Google Shape;351;p39"/>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pic>
        <p:nvPicPr>
          <p:cNvPr id="356" name="Google Shape;356;p40" title="PRED_trainsoggetto2_testtrial4.mp4">
            <a:hlinkClick r:id="rId3"/>
          </p:cNvPr>
          <p:cNvPicPr preferRelativeResize="0"/>
          <p:nvPr/>
        </p:nvPicPr>
        <p:blipFill>
          <a:blip r:embed="rId4">
            <a:alphaModFix/>
          </a:blip>
          <a:stretch>
            <a:fillRect/>
          </a:stretch>
        </p:blipFill>
        <p:spPr>
          <a:xfrm>
            <a:off x="4665900" y="1612049"/>
            <a:ext cx="4091698" cy="2301569"/>
          </a:xfrm>
          <a:prstGeom prst="rect">
            <a:avLst/>
          </a:prstGeom>
          <a:noFill/>
          <a:ln>
            <a:noFill/>
          </a:ln>
        </p:spPr>
      </p:pic>
      <p:sp>
        <p:nvSpPr>
          <p:cNvPr id="357" name="Google Shape;357;p40"/>
          <p:cNvSpPr txBox="1"/>
          <p:nvPr>
            <p:ph type="title"/>
          </p:nvPr>
        </p:nvSpPr>
        <p:spPr>
          <a:xfrm>
            <a:off x="311700" y="206375"/>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Prediction Results: Intra Subject - Concatenated Task</a:t>
            </a:r>
            <a:endParaRPr>
              <a:solidFill>
                <a:schemeClr val="dk1"/>
              </a:solidFill>
            </a:endParaRPr>
          </a:p>
        </p:txBody>
      </p:sp>
      <p:sp>
        <p:nvSpPr>
          <p:cNvPr id="358" name="Google Shape;358;p40"/>
          <p:cNvSpPr txBox="1"/>
          <p:nvPr/>
        </p:nvSpPr>
        <p:spPr>
          <a:xfrm>
            <a:off x="5384850" y="1224200"/>
            <a:ext cx="31680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rgbClr val="1A1A1A"/>
                </a:solidFill>
              </a:rPr>
              <a:t>Prediction </a:t>
            </a:r>
            <a:endParaRPr b="1" sz="1260">
              <a:solidFill>
                <a:srgbClr val="1A1A1A"/>
              </a:solidFill>
            </a:endParaRPr>
          </a:p>
          <a:p>
            <a:pPr indent="0" lvl="0" marL="0" rtl="0" algn="ctr">
              <a:lnSpc>
                <a:spcPct val="130000"/>
              </a:lnSpc>
              <a:spcBef>
                <a:spcPts val="480"/>
              </a:spcBef>
              <a:spcAft>
                <a:spcPts val="0"/>
              </a:spcAft>
              <a:buNone/>
            </a:pPr>
            <a:r>
              <a:t/>
            </a:r>
            <a:endParaRPr sz="1260"/>
          </a:p>
        </p:txBody>
      </p:sp>
      <p:pic>
        <p:nvPicPr>
          <p:cNvPr id="359" name="Google Shape;359;p40" title="GT_soggetto3_trial1.mp4">
            <a:hlinkClick r:id="rId5"/>
          </p:cNvPr>
          <p:cNvPicPr preferRelativeResize="0"/>
          <p:nvPr/>
        </p:nvPicPr>
        <p:blipFill>
          <a:blip r:embed="rId6">
            <a:alphaModFix/>
          </a:blip>
          <a:stretch>
            <a:fillRect/>
          </a:stretch>
        </p:blipFill>
        <p:spPr>
          <a:xfrm>
            <a:off x="290263" y="1612050"/>
            <a:ext cx="4091712" cy="2301599"/>
          </a:xfrm>
          <a:prstGeom prst="rect">
            <a:avLst/>
          </a:prstGeom>
          <a:noFill/>
          <a:ln>
            <a:noFill/>
          </a:ln>
        </p:spPr>
      </p:pic>
      <p:sp>
        <p:nvSpPr>
          <p:cNvPr id="360" name="Google Shape;360;p40"/>
          <p:cNvSpPr txBox="1"/>
          <p:nvPr/>
        </p:nvSpPr>
        <p:spPr>
          <a:xfrm>
            <a:off x="1201525" y="1224200"/>
            <a:ext cx="22692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t>Ground Truth</a:t>
            </a:r>
            <a:endParaRPr b="1" sz="1260"/>
          </a:p>
          <a:p>
            <a:pPr indent="0" lvl="0" marL="0" rtl="0" algn="ctr">
              <a:lnSpc>
                <a:spcPct val="130000"/>
              </a:lnSpc>
              <a:spcBef>
                <a:spcPts val="480"/>
              </a:spcBef>
              <a:spcAft>
                <a:spcPts val="0"/>
              </a:spcAft>
              <a:buNone/>
            </a:pPr>
            <a:r>
              <a:t/>
            </a:r>
            <a:endParaRPr sz="1260"/>
          </a:p>
        </p:txBody>
      </p:sp>
      <p:sp>
        <p:nvSpPr>
          <p:cNvPr id="361" name="Google Shape;361;p40"/>
          <p:cNvSpPr txBox="1"/>
          <p:nvPr/>
        </p:nvSpPr>
        <p:spPr>
          <a:xfrm>
            <a:off x="3437400" y="836350"/>
            <a:ext cx="2269200" cy="338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t>4</a:t>
            </a:r>
            <a:r>
              <a:rPr b="1" lang="it" sz="1260"/>
              <a:t> Synergies</a:t>
            </a:r>
            <a:endParaRPr b="1" sz="1260"/>
          </a:p>
          <a:p>
            <a:pPr indent="0" lvl="0" marL="0" rtl="0" algn="ctr">
              <a:lnSpc>
                <a:spcPct val="130000"/>
              </a:lnSpc>
              <a:spcBef>
                <a:spcPts val="480"/>
              </a:spcBef>
              <a:spcAft>
                <a:spcPts val="0"/>
              </a:spcAft>
              <a:buNone/>
            </a:pPr>
            <a:r>
              <a:t/>
            </a:r>
            <a:endParaRPr sz="1260"/>
          </a:p>
        </p:txBody>
      </p:sp>
      <p:sp>
        <p:nvSpPr>
          <p:cNvPr id="362" name="Google Shape;362;p40"/>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par>
                                <p:cTn fill="hold" nodeType="with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1000"/>
                                        <p:tgtEl>
                                          <p:spTgt spid="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1"/>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Future Works</a:t>
            </a:r>
            <a:endParaRPr>
              <a:solidFill>
                <a:schemeClr val="dk1"/>
              </a:solidFill>
            </a:endParaRPr>
          </a:p>
        </p:txBody>
      </p:sp>
      <p:sp>
        <p:nvSpPr>
          <p:cNvPr id="368" name="Google Shape;368;p41"/>
          <p:cNvSpPr txBox="1"/>
          <p:nvPr/>
        </p:nvSpPr>
        <p:spPr>
          <a:xfrm>
            <a:off x="469775" y="1207375"/>
            <a:ext cx="7996500" cy="2855400"/>
          </a:xfrm>
          <a:prstGeom prst="rect">
            <a:avLst/>
          </a:prstGeom>
          <a:noFill/>
          <a:ln>
            <a:noFill/>
          </a:ln>
        </p:spPr>
        <p:txBody>
          <a:bodyPr anchorCtr="0" anchor="t" bIns="91425" lIns="91425" spcFirstLastPara="1" rIns="91425" wrap="square" tIns="91425">
            <a:noAutofit/>
          </a:bodyPr>
          <a:lstStyle/>
          <a:p>
            <a:pPr indent="-320675" lvl="0" marL="457200" rtl="0" algn="l">
              <a:lnSpc>
                <a:spcPct val="130000"/>
              </a:lnSpc>
              <a:spcBef>
                <a:spcPts val="480"/>
              </a:spcBef>
              <a:spcAft>
                <a:spcPts val="0"/>
              </a:spcAft>
              <a:buClr>
                <a:schemeClr val="dk1"/>
              </a:buClr>
              <a:buSzPts val="1450"/>
              <a:buChar char="❖"/>
            </a:pPr>
            <a:r>
              <a:rPr b="1" lang="it" sz="1450">
                <a:solidFill>
                  <a:schemeClr val="dk1"/>
                </a:solidFill>
              </a:rPr>
              <a:t>Refinement of Motor Unit Decomposition and Validation</a:t>
            </a:r>
            <a:endParaRPr b="1" sz="1450">
              <a:solidFill>
                <a:schemeClr val="dk1"/>
              </a:solidFill>
            </a:endParaRPr>
          </a:p>
          <a:p>
            <a:pPr indent="0" lvl="0" marL="0" rtl="0" algn="l">
              <a:lnSpc>
                <a:spcPct val="130000"/>
              </a:lnSpc>
              <a:spcBef>
                <a:spcPts val="480"/>
              </a:spcBef>
              <a:spcAft>
                <a:spcPts val="0"/>
              </a:spcAft>
              <a:buNone/>
            </a:pPr>
            <a:r>
              <a:t/>
            </a:r>
            <a:endParaRPr b="1" sz="1450">
              <a:solidFill>
                <a:schemeClr val="dk1"/>
              </a:solidFill>
            </a:endParaRPr>
          </a:p>
          <a:p>
            <a:pPr indent="-320675" lvl="0" marL="457200" rtl="0" algn="l">
              <a:lnSpc>
                <a:spcPct val="130000"/>
              </a:lnSpc>
              <a:spcBef>
                <a:spcPts val="480"/>
              </a:spcBef>
              <a:spcAft>
                <a:spcPts val="0"/>
              </a:spcAft>
              <a:buClr>
                <a:schemeClr val="dk1"/>
              </a:buClr>
              <a:buSzPts val="1450"/>
              <a:buChar char="❖"/>
            </a:pPr>
            <a:r>
              <a:rPr b="1" lang="it" sz="1450">
                <a:solidFill>
                  <a:schemeClr val="dk1"/>
                </a:solidFill>
              </a:rPr>
              <a:t>Dataset Expansion and Synergies Correlation</a:t>
            </a:r>
            <a:endParaRPr b="1" sz="1450">
              <a:solidFill>
                <a:schemeClr val="dk1"/>
              </a:solidFill>
            </a:endParaRPr>
          </a:p>
          <a:p>
            <a:pPr indent="0" lvl="0" marL="0" rtl="0" algn="l">
              <a:lnSpc>
                <a:spcPct val="130000"/>
              </a:lnSpc>
              <a:spcBef>
                <a:spcPts val="480"/>
              </a:spcBef>
              <a:spcAft>
                <a:spcPts val="0"/>
              </a:spcAft>
              <a:buNone/>
            </a:pPr>
            <a:r>
              <a:t/>
            </a:r>
            <a:endParaRPr b="1" sz="1450">
              <a:solidFill>
                <a:schemeClr val="dk1"/>
              </a:solidFill>
            </a:endParaRPr>
          </a:p>
          <a:p>
            <a:pPr indent="-320675" lvl="0" marL="457200" rtl="0" algn="l">
              <a:lnSpc>
                <a:spcPct val="130000"/>
              </a:lnSpc>
              <a:spcBef>
                <a:spcPts val="480"/>
              </a:spcBef>
              <a:spcAft>
                <a:spcPts val="0"/>
              </a:spcAft>
              <a:buClr>
                <a:schemeClr val="dk1"/>
              </a:buClr>
              <a:buSzPts val="1450"/>
              <a:buChar char="❖"/>
            </a:pPr>
            <a:r>
              <a:rPr b="1" lang="it" sz="1450">
                <a:solidFill>
                  <a:schemeClr val="dk1"/>
                </a:solidFill>
              </a:rPr>
              <a:t>Dynamic Decomposition and Mapping</a:t>
            </a:r>
            <a:endParaRPr b="1" sz="1450">
              <a:solidFill>
                <a:schemeClr val="dk1"/>
              </a:solidFill>
            </a:endParaRPr>
          </a:p>
          <a:p>
            <a:pPr indent="0" lvl="0" marL="457200" rtl="0" algn="l">
              <a:lnSpc>
                <a:spcPct val="130000"/>
              </a:lnSpc>
              <a:spcBef>
                <a:spcPts val="480"/>
              </a:spcBef>
              <a:spcAft>
                <a:spcPts val="0"/>
              </a:spcAft>
              <a:buNone/>
            </a:pPr>
            <a:r>
              <a:t/>
            </a:r>
            <a:endParaRPr b="1" sz="1450">
              <a:solidFill>
                <a:schemeClr val="dk1"/>
              </a:solidFill>
            </a:endParaRPr>
          </a:p>
          <a:p>
            <a:pPr indent="-320675" lvl="0" marL="457200" rtl="0" algn="l">
              <a:lnSpc>
                <a:spcPct val="130000"/>
              </a:lnSpc>
              <a:spcBef>
                <a:spcPts val="480"/>
              </a:spcBef>
              <a:spcAft>
                <a:spcPts val="0"/>
              </a:spcAft>
              <a:buClr>
                <a:schemeClr val="dk1"/>
              </a:buClr>
              <a:buSzPts val="1450"/>
              <a:buChar char="❖"/>
            </a:pPr>
            <a:r>
              <a:rPr b="1" lang="it" sz="1450">
                <a:solidFill>
                  <a:schemeClr val="dk1"/>
                </a:solidFill>
              </a:rPr>
              <a:t>Prediction based on Postural Synergies </a:t>
            </a:r>
            <a:endParaRPr b="1" sz="1450">
              <a:solidFill>
                <a:schemeClr val="dk1"/>
              </a:solidFill>
            </a:endParaRPr>
          </a:p>
        </p:txBody>
      </p:sp>
      <p:sp>
        <p:nvSpPr>
          <p:cNvPr id="369" name="Google Shape;369;p41"/>
          <p:cNvSpPr txBox="1"/>
          <p:nvPr/>
        </p:nvSpPr>
        <p:spPr>
          <a:xfrm>
            <a:off x="1217425" y="4556875"/>
            <a:ext cx="562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HAND POSE PREDICTION DRIVEN BY MOTONEURON SYNERGIES                </a:t>
            </a:r>
            <a:endParaRPr sz="1000">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2"/>
          <p:cNvSpPr txBox="1"/>
          <p:nvPr/>
        </p:nvSpPr>
        <p:spPr>
          <a:xfrm>
            <a:off x="0" y="0"/>
            <a:ext cx="9144000" cy="4065000"/>
          </a:xfrm>
          <a:prstGeom prst="rect">
            <a:avLst/>
          </a:prstGeom>
          <a:solidFill>
            <a:srgbClr val="0067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00" u="none">
              <a:solidFill>
                <a:schemeClr val="lt1"/>
              </a:solidFill>
              <a:latin typeface="Arial"/>
              <a:ea typeface="Arial"/>
              <a:cs typeface="Arial"/>
              <a:sym typeface="Arial"/>
            </a:endParaRPr>
          </a:p>
        </p:txBody>
      </p:sp>
      <p:sp>
        <p:nvSpPr>
          <p:cNvPr id="375" name="Google Shape;375;p42"/>
          <p:cNvSpPr txBox="1"/>
          <p:nvPr>
            <p:ph type="title"/>
          </p:nvPr>
        </p:nvSpPr>
        <p:spPr>
          <a:xfrm>
            <a:off x="357875" y="461575"/>
            <a:ext cx="8520600" cy="572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SzPts val="990"/>
              <a:buNone/>
            </a:pPr>
            <a:r>
              <a:rPr lang="it" sz="3020">
                <a:solidFill>
                  <a:schemeClr val="lt1"/>
                </a:solidFill>
              </a:rPr>
              <a:t>Thank you for your attention!</a:t>
            </a:r>
            <a:endParaRPr sz="3020">
              <a:solidFill>
                <a:schemeClr val="lt1"/>
              </a:solidFill>
            </a:endParaRPr>
          </a:p>
        </p:txBody>
      </p:sp>
      <p:sp>
        <p:nvSpPr>
          <p:cNvPr id="376" name="Google Shape;376;p42"/>
          <p:cNvSpPr txBox="1"/>
          <p:nvPr/>
        </p:nvSpPr>
        <p:spPr>
          <a:xfrm>
            <a:off x="2912750" y="3990150"/>
            <a:ext cx="4209300" cy="8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595959"/>
              </a:solidFill>
            </a:endParaRPr>
          </a:p>
        </p:txBody>
      </p:sp>
      <p:sp>
        <p:nvSpPr>
          <p:cNvPr id="377" name="Google Shape;377;p42"/>
          <p:cNvSpPr txBox="1"/>
          <p:nvPr>
            <p:ph idx="1" type="body"/>
          </p:nvPr>
        </p:nvSpPr>
        <p:spPr>
          <a:xfrm>
            <a:off x="2442562" y="3887028"/>
            <a:ext cx="6138900" cy="5145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400"/>
              <a:buFont typeface="Arial"/>
              <a:buNone/>
            </a:pPr>
            <a:r>
              <a:t/>
            </a:r>
            <a:endParaRPr sz="2400"/>
          </a:p>
        </p:txBody>
      </p:sp>
      <p:sp>
        <p:nvSpPr>
          <p:cNvPr id="378" name="Google Shape;378;p42"/>
          <p:cNvSpPr txBox="1"/>
          <p:nvPr/>
        </p:nvSpPr>
        <p:spPr>
          <a:xfrm>
            <a:off x="2243137" y="4462463"/>
            <a:ext cx="6216600" cy="785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1"/>
              </a:buClr>
              <a:buSzPts val="900"/>
              <a:buFont typeface="Arial"/>
              <a:buNone/>
            </a:pPr>
            <a:r>
              <a:rPr b="0" i="0" lang="it" sz="900" u="none">
                <a:solidFill>
                  <a:schemeClr val="lt1"/>
                </a:solidFill>
                <a:latin typeface="Arial"/>
                <a:ea typeface="Arial"/>
                <a:cs typeface="Arial"/>
                <a:sym typeface="Arial"/>
              </a:rPr>
              <a:t>Tutti i diritti relativi al presente materiale didattico ed al suo contenuto sono riservati a Sapienza e ai suoi autori (o docenti che lo hanno prodotto). È consentito l'uso personale dello stesso da parte dello studente a fini di studio. Ne è vietata nel modo più assoluto la diffusione, duplicazione, cessione, trasmissione, distribuzione a terzi o al pubblico pena le sanzioni applicabili per legge</a:t>
            </a:r>
            <a:endParaRPr/>
          </a:p>
          <a:p>
            <a:pPr indent="0" lvl="0" marL="0" marR="0" rtl="0" algn="l">
              <a:lnSpc>
                <a:spcPct val="100000"/>
              </a:lnSpc>
              <a:spcBef>
                <a:spcPts val="0"/>
              </a:spcBef>
              <a:spcAft>
                <a:spcPts val="0"/>
              </a:spcAft>
              <a:buNone/>
            </a:pPr>
            <a:r>
              <a:t/>
            </a:r>
            <a:endParaRPr b="0" i="0" sz="900" u="none">
              <a:solidFill>
                <a:schemeClr val="lt1"/>
              </a:solidFill>
              <a:latin typeface="Arial"/>
              <a:ea typeface="Arial"/>
              <a:cs typeface="Arial"/>
              <a:sym typeface="Arial"/>
            </a:endParaRPr>
          </a:p>
        </p:txBody>
      </p:sp>
      <p:grpSp>
        <p:nvGrpSpPr>
          <p:cNvPr id="379" name="Google Shape;379;p42"/>
          <p:cNvGrpSpPr/>
          <p:nvPr/>
        </p:nvGrpSpPr>
        <p:grpSpPr>
          <a:xfrm>
            <a:off x="0" y="3829250"/>
            <a:ext cx="9146306" cy="1391799"/>
            <a:chOff x="-573" y="2805"/>
            <a:chExt cx="6336" cy="1036"/>
          </a:xfrm>
        </p:grpSpPr>
        <p:pic>
          <p:nvPicPr>
            <p:cNvPr descr="Fondino" id="380" name="Google Shape;380;p42"/>
            <p:cNvPicPr preferRelativeResize="0"/>
            <p:nvPr/>
          </p:nvPicPr>
          <p:blipFill rotWithShape="1">
            <a:blip r:embed="rId3">
              <a:alphaModFix/>
            </a:blip>
            <a:srcRect b="21240" l="0" r="0" t="13567"/>
            <a:stretch/>
          </p:blipFill>
          <p:spPr>
            <a:xfrm>
              <a:off x="-573" y="3037"/>
              <a:ext cx="6336" cy="804"/>
            </a:xfrm>
            <a:prstGeom prst="rect">
              <a:avLst/>
            </a:prstGeom>
            <a:noFill/>
            <a:ln>
              <a:noFill/>
            </a:ln>
          </p:spPr>
        </p:pic>
        <p:pic>
          <p:nvPicPr>
            <p:cNvPr descr="logo +marchio" id="381" name="Google Shape;381;p42"/>
            <p:cNvPicPr preferRelativeResize="0"/>
            <p:nvPr/>
          </p:nvPicPr>
          <p:blipFill rotWithShape="1">
            <a:blip r:embed="rId4">
              <a:alphaModFix/>
            </a:blip>
            <a:srcRect b="0" l="11918" r="0" t="0"/>
            <a:stretch/>
          </p:blipFill>
          <p:spPr>
            <a:xfrm>
              <a:off x="-573" y="2805"/>
              <a:ext cx="5074" cy="722"/>
            </a:xfrm>
            <a:prstGeom prst="rect">
              <a:avLst/>
            </a:prstGeom>
            <a:noFill/>
            <a:ln>
              <a:noFill/>
            </a:ln>
          </p:spPr>
        </p:pic>
        <p:pic>
          <p:nvPicPr>
            <p:cNvPr descr="fascia" id="382" name="Google Shape;382;p42"/>
            <p:cNvPicPr preferRelativeResize="0"/>
            <p:nvPr/>
          </p:nvPicPr>
          <p:blipFill rotWithShape="1">
            <a:blip r:embed="rId5">
              <a:alphaModFix/>
            </a:blip>
            <a:srcRect b="0" l="0" r="0" t="0"/>
            <a:stretch/>
          </p:blipFill>
          <p:spPr>
            <a:xfrm>
              <a:off x="1316" y="2816"/>
              <a:ext cx="4443" cy="584"/>
            </a:xfrm>
            <a:prstGeom prst="rect">
              <a:avLst/>
            </a:prstGeom>
            <a:noFill/>
            <a:ln>
              <a:noFill/>
            </a:ln>
          </p:spPr>
        </p:pic>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6" name="Shape 386"/>
        <p:cNvGrpSpPr/>
        <p:nvPr/>
      </p:nvGrpSpPr>
      <p:grpSpPr>
        <a:xfrm>
          <a:off x="0" y="0"/>
          <a:ext cx="0" cy="0"/>
          <a:chOff x="0" y="0"/>
          <a:chExt cx="0" cy="0"/>
        </a:xfrm>
      </p:grpSpPr>
      <p:sp>
        <p:nvSpPr>
          <p:cNvPr id="387" name="Google Shape;387;p43"/>
          <p:cNvSpPr txBox="1"/>
          <p:nvPr>
            <p:ph type="title"/>
          </p:nvPr>
        </p:nvSpPr>
        <p:spPr>
          <a:xfrm>
            <a:off x="311700" y="445025"/>
            <a:ext cx="8520600" cy="572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it"/>
              <a:t>Dataset Online</a:t>
            </a:r>
            <a:endParaRPr/>
          </a:p>
        </p:txBody>
      </p:sp>
      <p:sp>
        <p:nvSpPr>
          <p:cNvPr id="388" name="Google Shape;388;p43"/>
          <p:cNvSpPr txBox="1"/>
          <p:nvPr>
            <p:ph idx="1" type="body"/>
          </p:nvPr>
        </p:nvSpPr>
        <p:spPr>
          <a:xfrm>
            <a:off x="311700" y="1152475"/>
            <a:ext cx="4548900" cy="33897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it" sz="900">
                <a:solidFill>
                  <a:srgbClr val="252525"/>
                </a:solidFill>
                <a:highlight>
                  <a:srgbClr val="F8F8F8"/>
                </a:highlight>
              </a:rPr>
              <a:t>HD sEMG of Forearm Muscles and 3D Hand Kinematics During Sinusoidally-Modulated Finger Movements and Grasping Tasks.</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PARTECIPANTI: 21 partecipanti sani.</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TASK MOTORI: 8 primati (dita singole, pinze, 5 dita) + start position e rest.</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PARAMETRI DI ESECUZIONE: 2 frequenze (0.50 Hz e 0.75 Hz) con pattern sinusoidale ripetute 3 volte.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DURATA TRIAL: ~45 secondi per singola registrazione/prova.</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PREPROCESSING CONSIGLIATO: Taglio dei primi e ultimi 5 secondi del segnale, per eliminare i transitori. </a:t>
            </a:r>
            <a:endParaRPr sz="900">
              <a:solidFill>
                <a:srgbClr val="252525"/>
              </a:solidFill>
              <a:highlight>
                <a:srgbClr val="F8F8F8"/>
              </a:highlight>
            </a:endParaRPr>
          </a:p>
          <a:p>
            <a:pPr indent="0" lvl="0" marL="0" rtl="0" algn="l">
              <a:spcBef>
                <a:spcPts val="0"/>
              </a:spcBef>
              <a:spcAft>
                <a:spcPts val="0"/>
              </a:spcAft>
              <a:buNone/>
            </a:pPr>
            <a:r>
              <a:t/>
            </a:r>
            <a:endParaRPr sz="800"/>
          </a:p>
          <a:p>
            <a:pPr indent="0" lvl="0" marL="0" rtl="0" algn="l">
              <a:spcBef>
                <a:spcPts val="0"/>
              </a:spcBef>
              <a:spcAft>
                <a:spcPts val="0"/>
              </a:spcAft>
              <a:buNone/>
            </a:pPr>
            <a:r>
              <a:rPr lang="it" sz="800"/>
              <a:t>Task sequences were randomized, and approximately 30 s of rest were provided between recordings. Participants were seated comfortably; the elbow of the dominant hand was supported on an adjustable-height table at approximately 45° of flexion, and the hand was maintained in a neutral position, with the palm aligned parallel to the sagittal axis. The gesture sequences were displayed on a virtual interface that participants were required to observe and imitate during each task, all of which began from an open hand position.</a:t>
            </a:r>
            <a:endParaRPr sz="800"/>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pic>
        <p:nvPicPr>
          <p:cNvPr id="389" name="Google Shape;389;p43" title="task.png"/>
          <p:cNvPicPr preferRelativeResize="0"/>
          <p:nvPr/>
        </p:nvPicPr>
        <p:blipFill rotWithShape="1">
          <a:blip r:embed="rId3">
            <a:alphaModFix/>
          </a:blip>
          <a:srcRect b="-12251" l="-12251" r="-12251" t="-12251"/>
          <a:stretch/>
        </p:blipFill>
        <p:spPr>
          <a:xfrm>
            <a:off x="5421600" y="888724"/>
            <a:ext cx="3469313" cy="2955776"/>
          </a:xfrm>
          <a:prstGeom prst="rect">
            <a:avLst/>
          </a:prstGeom>
          <a:noFill/>
          <a:ln>
            <a:noFill/>
          </a:ln>
        </p:spPr>
      </p:pic>
      <p:sp>
        <p:nvSpPr>
          <p:cNvPr id="390" name="Google Shape;390;p43"/>
          <p:cNvSpPr txBox="1"/>
          <p:nvPr/>
        </p:nvSpPr>
        <p:spPr>
          <a:xfrm>
            <a:off x="5421600" y="3684200"/>
            <a:ext cx="3722400" cy="9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it" sz="900">
                <a:solidFill>
                  <a:srgbClr val="252525"/>
                </a:solidFill>
                <a:highlight>
                  <a:srgbClr val="F8F8F8"/>
                </a:highlight>
              </a:rPr>
              <a:t>Cit. https://figshare.com/articles/dataset/HD_sEMG_of_Forearm_Muscles_and_3D_Hand_Kinematics_During_Sinusoidally-Modulated_Finger_Movements_and_Grasping_Tasks/31032934</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4" name="Shape 394"/>
        <p:cNvGrpSpPr/>
        <p:nvPr/>
      </p:nvGrpSpPr>
      <p:grpSpPr>
        <a:xfrm>
          <a:off x="0" y="0"/>
          <a:ext cx="0" cy="0"/>
          <a:chOff x="0" y="0"/>
          <a:chExt cx="0" cy="0"/>
        </a:xfrm>
      </p:grpSpPr>
      <p:sp>
        <p:nvSpPr>
          <p:cNvPr id="395" name="Google Shape;395;p44"/>
          <p:cNvSpPr txBox="1"/>
          <p:nvPr>
            <p:ph type="title"/>
          </p:nvPr>
        </p:nvSpPr>
        <p:spPr>
          <a:xfrm>
            <a:off x="311700" y="445025"/>
            <a:ext cx="8520600" cy="572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it"/>
              <a:t>Dataset Online</a:t>
            </a:r>
            <a:endParaRPr/>
          </a:p>
        </p:txBody>
      </p:sp>
      <p:sp>
        <p:nvSpPr>
          <p:cNvPr id="396" name="Google Shape;396;p44"/>
          <p:cNvSpPr txBox="1"/>
          <p:nvPr>
            <p:ph idx="1" type="body"/>
          </p:nvPr>
        </p:nvSpPr>
        <p:spPr>
          <a:xfrm>
            <a:off x="4737550" y="1017725"/>
            <a:ext cx="4548900" cy="33897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1000">
                <a:solidFill>
                  <a:srgbClr val="252525"/>
                </a:solidFill>
                <a:highlight>
                  <a:srgbClr val="F8F8F8"/>
                </a:highlight>
              </a:rPr>
              <a:t>CINEMATICA DELLA MANO</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ANGOLI</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DIMENSIONI: 17 colonne x 45000 righe (100 Hz campionamento)</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CONTENUTO: Indici temporali (Frame, Sub Frame) + 15 angoli articolari (3 per dito: pollice, indice, medio, anulare, mignolo)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TRAJECTORIES (POSIZIONI 3D DEI MARKER):</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DIMENSIONI: 38 colonne x 4500 righe.</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CONTENUTO: Indici temporali + 36 coordinate spaziali (x,y,z in mm) per 12 marker totali ( 2 sul polso e 10 sulle dita: prossimale e distale per ciascun dito). </a:t>
            </a:r>
            <a:endParaRPr sz="900">
              <a:solidFill>
                <a:srgbClr val="252525"/>
              </a:solidFill>
              <a:highlight>
                <a:srgbClr val="F8F8F8"/>
              </a:highlight>
            </a:endParaRPr>
          </a:p>
        </p:txBody>
      </p:sp>
      <p:sp>
        <p:nvSpPr>
          <p:cNvPr id="397" name="Google Shape;397;p44"/>
          <p:cNvSpPr txBox="1"/>
          <p:nvPr>
            <p:ph idx="1" type="body"/>
          </p:nvPr>
        </p:nvSpPr>
        <p:spPr>
          <a:xfrm>
            <a:off x="188650" y="1017725"/>
            <a:ext cx="4548900" cy="33897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it" sz="900">
                <a:solidFill>
                  <a:srgbClr val="252525"/>
                </a:solidFill>
                <a:highlight>
                  <a:srgbClr val="F8F8F8"/>
                </a:highlight>
              </a:rPr>
              <a:t>HD sEMG of Forearm Muscles and 3D Hand Kinematics During Sinusoidally-Modulated Finger Movements and Grasping Tasks.</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1000">
                <a:solidFill>
                  <a:srgbClr val="252525"/>
                </a:solidFill>
                <a:highlight>
                  <a:srgbClr val="F8F8F8"/>
                </a:highlight>
              </a:rPr>
              <a:t>HD-sEMG</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CANALI: 2 array 8x8 posizionali sui muscoli EDC (Extensor) e FDS (Flexor) rispettivamente.</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CAMPIONAMENTO: HDsEMG con  frequenza 2.052.52 Hz, 92160 campioni.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1" name="Shape 401"/>
        <p:cNvGrpSpPr/>
        <p:nvPr/>
      </p:nvGrpSpPr>
      <p:grpSpPr>
        <a:xfrm>
          <a:off x="0" y="0"/>
          <a:ext cx="0" cy="0"/>
          <a:chOff x="0" y="0"/>
          <a:chExt cx="0" cy="0"/>
        </a:xfrm>
      </p:grpSpPr>
      <p:sp>
        <p:nvSpPr>
          <p:cNvPr id="402" name="Google Shape;402;p45"/>
          <p:cNvSpPr txBox="1"/>
          <p:nvPr>
            <p:ph type="title"/>
          </p:nvPr>
        </p:nvSpPr>
        <p:spPr>
          <a:xfrm>
            <a:off x="311700" y="445025"/>
            <a:ext cx="8520600" cy="572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it"/>
              <a:t>Deep Learning for Robust Decomposition of High-Density Surface EMG Signals</a:t>
            </a:r>
            <a:endParaRPr/>
          </a:p>
        </p:txBody>
      </p:sp>
      <p:sp>
        <p:nvSpPr>
          <p:cNvPr id="403" name="Google Shape;403;p45"/>
          <p:cNvSpPr txBox="1"/>
          <p:nvPr>
            <p:ph idx="1" type="body"/>
          </p:nvPr>
        </p:nvSpPr>
        <p:spPr>
          <a:xfrm>
            <a:off x="392350" y="1388625"/>
            <a:ext cx="3987000" cy="10467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the number of identified motor units and the accuracy of the detection of their discharge timing strongly depend on the decomposition algorithm used, but there is no consensus on the optimal algorithm.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sp>
        <p:nvSpPr>
          <p:cNvPr id="404" name="Google Shape;404;p45"/>
          <p:cNvSpPr txBox="1"/>
          <p:nvPr>
            <p:ph idx="1" type="body"/>
          </p:nvPr>
        </p:nvSpPr>
        <p:spPr>
          <a:xfrm>
            <a:off x="392350" y="2297575"/>
            <a:ext cx="4548900" cy="20130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Hanno preso i dati scomposati dal CKC, li hanno usati come "ground truth" (verità di base) e hanno addestrato una rete neurale convoluzionale a predire gli spike dei motoneuroni direttamente dal segnale grezzo. Hanno dimostrato che il Deep Learning non solo riesce a estrarre gli spike, ma è più robusto del CKC rispetto al rumore o ai piccoli spostamenti degli elettrodi.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Cit. </a:t>
            </a:r>
            <a:r>
              <a:rPr b="1" lang="it" sz="1100"/>
              <a:t>Clarke, A. K., et al. (2020).</a:t>
            </a:r>
            <a:r>
              <a:rPr lang="it" sz="1100"/>
              <a:t> </a:t>
            </a:r>
            <a:r>
              <a:rPr i="1" lang="it" sz="1100"/>
              <a:t>"Deep Learning for Robust Decomposition of High-Density Surface EMG Signals." </a:t>
            </a:r>
            <a:endParaRPr sz="900">
              <a:solidFill>
                <a:srgbClr val="252525"/>
              </a:solidFill>
              <a:highlight>
                <a:srgbClr val="F8F8F8"/>
              </a:highlight>
            </a:endParaRPr>
          </a:p>
        </p:txBody>
      </p:sp>
      <p:sp>
        <p:nvSpPr>
          <p:cNvPr id="405" name="Google Shape;405;p45"/>
          <p:cNvSpPr txBox="1"/>
          <p:nvPr>
            <p:ph idx="1" type="body"/>
          </p:nvPr>
        </p:nvSpPr>
        <p:spPr>
          <a:xfrm>
            <a:off x="4845300" y="1388625"/>
            <a:ext cx="3987000" cy="30462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Avrillon nel 2021:  We demonstrate the feasibility and the validity of using deep CNN to accurately identify MU activity from HD-EMG with a latency lower than 80 ms, which falls within the lower bound of the human electromechanical delay.</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Il paper più </a:t>
            </a:r>
            <a:r>
              <a:rPr lang="it" sz="900">
                <a:solidFill>
                  <a:srgbClr val="252525"/>
                </a:solidFill>
                <a:highlight>
                  <a:srgbClr val="F8F8F8"/>
                </a:highlight>
              </a:rPr>
              <a:t>importante</a:t>
            </a:r>
            <a:r>
              <a:rPr lang="it" sz="900">
                <a:solidFill>
                  <a:srgbClr val="252525"/>
                </a:solidFill>
                <a:highlight>
                  <a:srgbClr val="F8F8F8"/>
                </a:highlight>
              </a:rPr>
              <a:t> è recente è “A Deep Learning Framework for Efficient Online Decomposition  of High-Density Surface Electromyogram into Motor Unit  Spike Trains” Liu et al. 2026,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9" name="Shape 409"/>
        <p:cNvGrpSpPr/>
        <p:nvPr/>
      </p:nvGrpSpPr>
      <p:grpSpPr>
        <a:xfrm>
          <a:off x="0" y="0"/>
          <a:ext cx="0" cy="0"/>
          <a:chOff x="0" y="0"/>
          <a:chExt cx="0" cy="0"/>
        </a:xfrm>
      </p:grpSpPr>
      <p:sp>
        <p:nvSpPr>
          <p:cNvPr id="410" name="Google Shape;410;p46"/>
          <p:cNvSpPr txBox="1"/>
          <p:nvPr>
            <p:ph type="title"/>
          </p:nvPr>
        </p:nvSpPr>
        <p:spPr>
          <a:xfrm>
            <a:off x="311700" y="445025"/>
            <a:ext cx="8520600" cy="572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it"/>
              <a:t>Deep Learning for Robust Decomposition of High-Density Surface EMG Signals</a:t>
            </a:r>
            <a:endParaRPr/>
          </a:p>
        </p:txBody>
      </p:sp>
      <p:sp>
        <p:nvSpPr>
          <p:cNvPr id="411" name="Google Shape;411;p46"/>
          <p:cNvSpPr txBox="1"/>
          <p:nvPr>
            <p:ph idx="1" type="body"/>
          </p:nvPr>
        </p:nvSpPr>
        <p:spPr>
          <a:xfrm>
            <a:off x="472750" y="4343400"/>
            <a:ext cx="8520600" cy="2220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it" sz="900">
                <a:solidFill>
                  <a:srgbClr val="252525"/>
                </a:solidFill>
                <a:highlight>
                  <a:srgbClr val="F8F8F8"/>
                </a:highlight>
              </a:rPr>
              <a:t>“A Deep Learning Framework for Efficient Online Decomposition  of High-Density Surface Electromyogram into Motor Unit  Spike Trains” Liu et al. 2026</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pic>
        <p:nvPicPr>
          <p:cNvPr id="412" name="Google Shape;412;p46" title="Screenshot (404).png"/>
          <p:cNvPicPr preferRelativeResize="0"/>
          <p:nvPr/>
        </p:nvPicPr>
        <p:blipFill>
          <a:blip r:embed="rId3">
            <a:alphaModFix/>
          </a:blip>
          <a:stretch>
            <a:fillRect/>
          </a:stretch>
        </p:blipFill>
        <p:spPr>
          <a:xfrm>
            <a:off x="1810625" y="1411800"/>
            <a:ext cx="5522760" cy="2401200"/>
          </a:xfrm>
          <a:prstGeom prst="rect">
            <a:avLst/>
          </a:prstGeom>
          <a:noFill/>
          <a:ln>
            <a:noFill/>
          </a:ln>
        </p:spPr>
      </p:pic>
      <p:sp>
        <p:nvSpPr>
          <p:cNvPr id="413" name="Google Shape;413;p46"/>
          <p:cNvSpPr txBox="1"/>
          <p:nvPr>
            <p:ph idx="1" type="body"/>
          </p:nvPr>
        </p:nvSpPr>
        <p:spPr>
          <a:xfrm>
            <a:off x="472750" y="3901200"/>
            <a:ext cx="8520600" cy="4422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it" sz="900">
                <a:solidFill>
                  <a:srgbClr val="252525"/>
                </a:solidFill>
                <a:highlight>
                  <a:srgbClr val="F8F8F8"/>
                </a:highlight>
              </a:rPr>
              <a:t>Tempo Totale inclusa predizione e post processing per determinare i MUSTs: 7.5 ms</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7" name="Shape 417"/>
        <p:cNvGrpSpPr/>
        <p:nvPr/>
      </p:nvGrpSpPr>
      <p:grpSpPr>
        <a:xfrm>
          <a:off x="0" y="0"/>
          <a:ext cx="0" cy="0"/>
          <a:chOff x="0" y="0"/>
          <a:chExt cx="0" cy="0"/>
        </a:xfrm>
      </p:grpSpPr>
      <p:sp>
        <p:nvSpPr>
          <p:cNvPr id="418" name="Google Shape;418;p47"/>
          <p:cNvSpPr txBox="1"/>
          <p:nvPr>
            <p:ph type="title"/>
          </p:nvPr>
        </p:nvSpPr>
        <p:spPr>
          <a:xfrm>
            <a:off x="311700" y="445025"/>
            <a:ext cx="8520600" cy="572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it"/>
              <a:t>Deep Learning for Robust Decomposition of High-Density Surface EMG Signals</a:t>
            </a:r>
            <a:endParaRPr/>
          </a:p>
        </p:txBody>
      </p:sp>
      <p:sp>
        <p:nvSpPr>
          <p:cNvPr id="419" name="Google Shape;419;p47"/>
          <p:cNvSpPr txBox="1"/>
          <p:nvPr>
            <p:ph idx="1" type="body"/>
          </p:nvPr>
        </p:nvSpPr>
        <p:spPr>
          <a:xfrm>
            <a:off x="472750" y="4343400"/>
            <a:ext cx="8520600" cy="2220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it" sz="900">
                <a:solidFill>
                  <a:srgbClr val="252525"/>
                </a:solidFill>
                <a:highlight>
                  <a:srgbClr val="F8F8F8"/>
                </a:highlight>
              </a:rPr>
              <a:t>“A Deep Learning Framework for Efficient Online Decomposition  of High-Density Surface Electromyogram into Motor Unit  Spike Trains” Liu et al. 2026</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pic>
        <p:nvPicPr>
          <p:cNvPr id="420" name="Google Shape;420;p47" title="Screenshot from 2026-10-03 16-47-22.png"/>
          <p:cNvPicPr preferRelativeResize="0"/>
          <p:nvPr/>
        </p:nvPicPr>
        <p:blipFill>
          <a:blip r:embed="rId3">
            <a:alphaModFix/>
          </a:blip>
          <a:stretch>
            <a:fillRect/>
          </a:stretch>
        </p:blipFill>
        <p:spPr>
          <a:xfrm>
            <a:off x="1996413" y="1294550"/>
            <a:ext cx="5151175" cy="2954575"/>
          </a:xfrm>
          <a:prstGeom prst="rect">
            <a:avLst/>
          </a:prstGeom>
          <a:noFill/>
          <a:ln>
            <a:noFill/>
          </a:ln>
        </p:spPr>
      </p:pic>
      <p:sp>
        <p:nvSpPr>
          <p:cNvPr id="421" name="Google Shape;421;p47"/>
          <p:cNvSpPr txBox="1"/>
          <p:nvPr>
            <p:ph idx="1" type="body"/>
          </p:nvPr>
        </p:nvSpPr>
        <p:spPr>
          <a:xfrm>
            <a:off x="226150" y="1347325"/>
            <a:ext cx="1645500" cy="26799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it" sz="900">
                <a:solidFill>
                  <a:srgbClr val="252525"/>
                </a:solidFill>
                <a:highlight>
                  <a:srgbClr val="F8F8F8"/>
                </a:highlight>
              </a:rPr>
              <a:t>Solution for low online latency in HDsEMG decomposition. 7.5 ms to find MUSTs from raw signal.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5" name="Shape 425"/>
        <p:cNvGrpSpPr/>
        <p:nvPr/>
      </p:nvGrpSpPr>
      <p:grpSpPr>
        <a:xfrm>
          <a:off x="0" y="0"/>
          <a:ext cx="0" cy="0"/>
          <a:chOff x="0" y="0"/>
          <a:chExt cx="0" cy="0"/>
        </a:xfrm>
      </p:grpSpPr>
      <p:sp>
        <p:nvSpPr>
          <p:cNvPr id="426" name="Google Shape;426;p48"/>
          <p:cNvSpPr txBox="1"/>
          <p:nvPr>
            <p:ph type="title"/>
          </p:nvPr>
        </p:nvSpPr>
        <p:spPr>
          <a:xfrm>
            <a:off x="311700" y="445025"/>
            <a:ext cx="8520600" cy="572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it"/>
              <a:t>Deep Learning for Robust Decomposition of High-Density Surface EMG Signals</a:t>
            </a:r>
            <a:endParaRPr/>
          </a:p>
        </p:txBody>
      </p:sp>
      <p:sp>
        <p:nvSpPr>
          <p:cNvPr id="427" name="Google Shape;427;p48"/>
          <p:cNvSpPr txBox="1"/>
          <p:nvPr>
            <p:ph idx="1" type="body"/>
          </p:nvPr>
        </p:nvSpPr>
        <p:spPr>
          <a:xfrm>
            <a:off x="472750" y="4343400"/>
            <a:ext cx="8520600" cy="2220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it" sz="900">
                <a:solidFill>
                  <a:srgbClr val="252525"/>
                </a:solidFill>
                <a:highlight>
                  <a:srgbClr val="F8F8F8"/>
                </a:highlight>
              </a:rPr>
              <a:t>“A Deep Learning Framework for Efficient Online Decomposition  of High-Density Surface Electromyogram into Motor Unit  Spike Trains” Liu et al. 2026</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sp>
        <p:nvSpPr>
          <p:cNvPr id="428" name="Google Shape;428;p48"/>
          <p:cNvSpPr txBox="1"/>
          <p:nvPr>
            <p:ph idx="1" type="body"/>
          </p:nvPr>
        </p:nvSpPr>
        <p:spPr>
          <a:xfrm>
            <a:off x="472750" y="3901200"/>
            <a:ext cx="8520600" cy="4422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sp>
        <p:nvSpPr>
          <p:cNvPr id="429" name="Google Shape;429;p48"/>
          <p:cNvSpPr txBox="1"/>
          <p:nvPr>
            <p:ph idx="1" type="body"/>
          </p:nvPr>
        </p:nvSpPr>
        <p:spPr>
          <a:xfrm>
            <a:off x="311700" y="1297200"/>
            <a:ext cx="3987000" cy="30462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it" sz="900">
                <a:solidFill>
                  <a:srgbClr val="252525"/>
                </a:solidFill>
                <a:highlight>
                  <a:srgbClr val="F8F8F8"/>
                </a:highlight>
              </a:rPr>
              <a:t>SUBJECTS: 10 patients</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DATA:  MVC from thumb force </a:t>
            </a:r>
            <a:r>
              <a:rPr lang="it" sz="900">
                <a:solidFill>
                  <a:srgbClr val="252525"/>
                </a:solidFill>
                <a:highlight>
                  <a:srgbClr val="F8F8F8"/>
                </a:highlight>
              </a:rPr>
              <a:t>abduction detected with an electrode 64 array on the thumb directly.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3" name="Shape 433"/>
        <p:cNvGrpSpPr/>
        <p:nvPr/>
      </p:nvGrpSpPr>
      <p:grpSpPr>
        <a:xfrm>
          <a:off x="0" y="0"/>
          <a:ext cx="0" cy="0"/>
          <a:chOff x="0" y="0"/>
          <a:chExt cx="0" cy="0"/>
        </a:xfrm>
      </p:grpSpPr>
      <p:sp>
        <p:nvSpPr>
          <p:cNvPr id="434" name="Google Shape;434;p49"/>
          <p:cNvSpPr txBox="1"/>
          <p:nvPr>
            <p:ph type="title"/>
          </p:nvPr>
        </p:nvSpPr>
        <p:spPr>
          <a:xfrm>
            <a:off x="311700" y="445025"/>
            <a:ext cx="8520600" cy="572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it"/>
              <a:t>From HD-sEMG to Motoneural Synergies</a:t>
            </a:r>
            <a:endParaRPr/>
          </a:p>
        </p:txBody>
      </p:sp>
      <p:sp>
        <p:nvSpPr>
          <p:cNvPr id="435" name="Google Shape;435;p49"/>
          <p:cNvSpPr txBox="1"/>
          <p:nvPr>
            <p:ph idx="1" type="body"/>
          </p:nvPr>
        </p:nvSpPr>
        <p:spPr>
          <a:xfrm>
            <a:off x="4737550" y="1017725"/>
            <a:ext cx="4548900" cy="33897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sp>
        <p:nvSpPr>
          <p:cNvPr id="436" name="Google Shape;436;p49"/>
          <p:cNvSpPr txBox="1"/>
          <p:nvPr>
            <p:ph idx="1" type="body"/>
          </p:nvPr>
        </p:nvSpPr>
        <p:spPr>
          <a:xfrm>
            <a:off x="188650" y="1098350"/>
            <a:ext cx="4548900" cy="33897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rPr lang="it" sz="900">
                <a:solidFill>
                  <a:srgbClr val="252525"/>
                </a:solidFill>
                <a:highlight>
                  <a:srgbClr val="F8F8F8"/>
                </a:highlight>
              </a:rPr>
              <a:t>A causa della cancellazione di ampiezza: nel segnale si sommano i potenziali d azione di segno opposto, questo rende più complessa la separazione dei singoli potenziali di azioni, per cui mappare il segnale grezzo direttamente alle sinergie, non garantirebbe un mapping sensato. MA se considerassimo il segnale come un video allora possiamo estrarre informazioni spazio temporali. </a:t>
            </a:r>
            <a:endParaRPr sz="900">
              <a:solidFill>
                <a:srgbClr val="252525"/>
              </a:solidFill>
              <a:highlight>
                <a:srgbClr val="F8F8F8"/>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0" name="Shape 440"/>
        <p:cNvGrpSpPr/>
        <p:nvPr/>
      </p:nvGrpSpPr>
      <p:grpSpPr>
        <a:xfrm>
          <a:off x="0" y="0"/>
          <a:ext cx="0" cy="0"/>
          <a:chOff x="0" y="0"/>
          <a:chExt cx="0" cy="0"/>
        </a:xfrm>
      </p:grpSpPr>
      <p:sp>
        <p:nvSpPr>
          <p:cNvPr id="441" name="Google Shape;441;p50"/>
          <p:cNvSpPr txBox="1"/>
          <p:nvPr>
            <p:ph type="title"/>
          </p:nvPr>
        </p:nvSpPr>
        <p:spPr>
          <a:xfrm>
            <a:off x="311700" y="445025"/>
            <a:ext cx="8520600" cy="572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it"/>
              <a:t>Contesto</a:t>
            </a:r>
            <a:endParaRPr/>
          </a:p>
        </p:txBody>
      </p:sp>
      <p:sp>
        <p:nvSpPr>
          <p:cNvPr id="442" name="Google Shape;442;p50"/>
          <p:cNvSpPr txBox="1"/>
          <p:nvPr>
            <p:ph idx="1" type="body"/>
          </p:nvPr>
        </p:nvSpPr>
        <p:spPr>
          <a:xfrm>
            <a:off x="4737550" y="1017725"/>
            <a:ext cx="4548900" cy="33897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a:p>
            <a:pPr indent="0" lvl="0" marL="0" rtl="0" algn="l">
              <a:lnSpc>
                <a:spcPct val="150000"/>
              </a:lnSpc>
              <a:spcBef>
                <a:spcPts val="0"/>
              </a:spcBef>
              <a:spcAft>
                <a:spcPts val="0"/>
              </a:spcAft>
              <a:buNone/>
            </a:pPr>
            <a:r>
              <a:t/>
            </a:r>
            <a:endParaRPr sz="1000">
              <a:solidFill>
                <a:srgbClr val="252525"/>
              </a:solidFill>
              <a:highlight>
                <a:srgbClr val="F8F8F8"/>
              </a:highlight>
            </a:endParaRPr>
          </a:p>
          <a:p>
            <a:pPr indent="0" lvl="0" marL="0" rtl="0" algn="l">
              <a:lnSpc>
                <a:spcPct val="150000"/>
              </a:lnSpc>
              <a:spcBef>
                <a:spcPts val="0"/>
              </a:spcBef>
              <a:spcAft>
                <a:spcPts val="0"/>
              </a:spcAft>
              <a:buNone/>
            </a:pPr>
            <a:r>
              <a:t/>
            </a:r>
            <a:endParaRPr sz="900">
              <a:solidFill>
                <a:srgbClr val="252525"/>
              </a:solidFill>
              <a:highlight>
                <a:srgbClr val="F8F8F8"/>
              </a:highlight>
            </a:endParaRPr>
          </a:p>
        </p:txBody>
      </p:sp>
      <p:sp>
        <p:nvSpPr>
          <p:cNvPr id="443" name="Google Shape;443;p50"/>
          <p:cNvSpPr txBox="1"/>
          <p:nvPr>
            <p:ph idx="1" type="body"/>
          </p:nvPr>
        </p:nvSpPr>
        <p:spPr>
          <a:xfrm>
            <a:off x="188650" y="1098350"/>
            <a:ext cx="4548900" cy="33897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it" sz="900">
                <a:solidFill>
                  <a:srgbClr val="252525"/>
                </a:solidFill>
                <a:highlight>
                  <a:srgbClr val="F8F8F8"/>
                </a:highlight>
              </a:rPr>
              <a:t>Mi immagino un sistema fatto di 3 modelli in cascata, la cui somma temporale rientri nei limiti di efficienza responsiva: il primo modello predice real time gli spike train, poi vi è il calcolo dei MUAP (da valutare), poi un modello che predice dagli spike train alle sinergie motoneurali per evitare di passare attraverso la NNMF (per questo compariamo le tempistiche tra usare un modello o l’algoritmo), e poi il modello che dalle sinergie predice il la cinematica della mano. </a:t>
            </a:r>
            <a:endParaRPr sz="900">
              <a:solidFill>
                <a:srgbClr val="252525"/>
              </a:solidFill>
              <a:highlight>
                <a:srgbClr val="F8F8F8"/>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7" name="Shape 447"/>
        <p:cNvGrpSpPr/>
        <p:nvPr/>
      </p:nvGrpSpPr>
      <p:grpSpPr>
        <a:xfrm>
          <a:off x="0" y="0"/>
          <a:ext cx="0" cy="0"/>
          <a:chOff x="0" y="0"/>
          <a:chExt cx="0" cy="0"/>
        </a:xfrm>
      </p:grpSpPr>
      <p:sp>
        <p:nvSpPr>
          <p:cNvPr id="448" name="Google Shape;448;p51"/>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Surface EMG Signal</a:t>
            </a:r>
            <a:endParaRPr>
              <a:solidFill>
                <a:schemeClr val="dk1"/>
              </a:solidFill>
            </a:endParaRPr>
          </a:p>
        </p:txBody>
      </p:sp>
      <p:sp>
        <p:nvSpPr>
          <p:cNvPr id="449" name="Google Shape;449;p51"/>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450" name="Google Shape;450;p51"/>
          <p:cNvSpPr txBox="1"/>
          <p:nvPr/>
        </p:nvSpPr>
        <p:spPr>
          <a:xfrm>
            <a:off x="469775" y="821625"/>
            <a:ext cx="7996500" cy="3122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b="1" lang="it" sz="1250">
                <a:solidFill>
                  <a:schemeClr val="dk1"/>
                </a:solidFill>
              </a:rPr>
              <a:t>Forearm muscles</a:t>
            </a:r>
            <a:r>
              <a:rPr lang="it" sz="1250"/>
              <a:t> that control hand and wrist motion (flexors and extensors) are still </a:t>
            </a:r>
            <a:r>
              <a:rPr i="1" lang="it" sz="1250"/>
              <a:t>partially intact</a:t>
            </a:r>
            <a:r>
              <a:rPr lang="it" sz="1250"/>
              <a:t> and accessible under the skin. Studies have shown that </a:t>
            </a:r>
            <a:r>
              <a:rPr lang="it" sz="1250"/>
              <a:t>residual</a:t>
            </a:r>
            <a:r>
              <a:rPr lang="it" sz="1250"/>
              <a:t> muscles continuously receives neural information even after 10 years.</a:t>
            </a:r>
            <a:endParaRPr sz="1250"/>
          </a:p>
          <a:p>
            <a:pPr indent="0" lvl="0" marL="0" rtl="0" algn="l">
              <a:lnSpc>
                <a:spcPct val="130000"/>
              </a:lnSpc>
              <a:spcBef>
                <a:spcPts val="480"/>
              </a:spcBef>
              <a:spcAft>
                <a:spcPts val="0"/>
              </a:spcAft>
              <a:buNone/>
            </a:pPr>
            <a:r>
              <a:rPr lang="it" sz="1250"/>
              <a:t>Surface EMG (sEMG) electrodes placed on the residual limb can easily detect their activity.</a:t>
            </a:r>
            <a:endParaRPr sz="1250"/>
          </a:p>
          <a:p>
            <a:pPr indent="0" lvl="0" marL="0" rtl="0" algn="l">
              <a:lnSpc>
                <a:spcPct val="130000"/>
              </a:lnSpc>
              <a:spcBef>
                <a:spcPts val="480"/>
              </a:spcBef>
              <a:spcAft>
                <a:spcPts val="0"/>
              </a:spcAft>
              <a:buNone/>
            </a:pPr>
            <a:r>
              <a:rPr lang="it" sz="1250"/>
              <a:t>Therefore, </a:t>
            </a:r>
            <a:r>
              <a:rPr b="1" lang="it" sz="1250"/>
              <a:t>non-invasive sEMG</a:t>
            </a:r>
            <a:r>
              <a:rPr lang="it" sz="1250"/>
              <a:t> is effective and convenient — it provides enough information for control of prosthetic hand and wrist.</a:t>
            </a:r>
            <a:endParaRPr sz="1250"/>
          </a:p>
          <a:p>
            <a:pPr indent="0" lvl="0" marL="0" rtl="0" algn="l">
              <a:lnSpc>
                <a:spcPct val="130000"/>
              </a:lnSpc>
              <a:spcBef>
                <a:spcPts val="480"/>
              </a:spcBef>
              <a:spcAft>
                <a:spcPts val="0"/>
              </a:spcAft>
              <a:buNone/>
            </a:pPr>
            <a:r>
              <a:rPr lang="it" sz="1260"/>
              <a:t>The sEMG signal is a multi-channel biomedical signal, its datarecording is easily affected by the external environment, biological tissue interference, muscle fatigue, electrode displacement, so there is a lot of noise and non-stationarity, which may obscure important information about muscle electrical activity.</a:t>
            </a:r>
            <a:endParaRPr sz="1260"/>
          </a:p>
          <a:p>
            <a:pPr indent="0" lvl="0" marL="0" rtl="0" algn="l">
              <a:lnSpc>
                <a:spcPct val="130000"/>
              </a:lnSpc>
              <a:spcBef>
                <a:spcPts val="480"/>
              </a:spcBef>
              <a:spcAft>
                <a:spcPts val="0"/>
              </a:spcAft>
              <a:buNone/>
            </a:pPr>
            <a:r>
              <a:t/>
            </a:r>
            <a:endParaRPr sz="1260"/>
          </a:p>
          <a:p>
            <a:pPr indent="0" lvl="0" marL="0" rtl="0" algn="l">
              <a:lnSpc>
                <a:spcPct val="130000"/>
              </a:lnSpc>
              <a:spcBef>
                <a:spcPts val="480"/>
              </a:spcBef>
              <a:spcAft>
                <a:spcPts val="0"/>
              </a:spcAft>
              <a:buNone/>
            </a:pPr>
            <a:r>
              <a:rPr lang="it" sz="1250"/>
              <a:t>For higher-level amputations (transhumeral or shoulder), sEMG alone is often insufficient, but  Targeted Muscle Reinnervation </a:t>
            </a:r>
            <a:r>
              <a:rPr b="1" lang="it" sz="1250"/>
              <a:t>TMR</a:t>
            </a:r>
            <a:r>
              <a:rPr lang="it" sz="1250"/>
              <a:t>, Implanted EMG (iEMG) or Nerve or cortical interfaces (ENG, ECoG) can make it usable again by creating new EMG control sites.</a:t>
            </a:r>
            <a:endParaRPr sz="125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4" name="Shape 454"/>
        <p:cNvGrpSpPr/>
        <p:nvPr/>
      </p:nvGrpSpPr>
      <p:grpSpPr>
        <a:xfrm>
          <a:off x="0" y="0"/>
          <a:ext cx="0" cy="0"/>
          <a:chOff x="0" y="0"/>
          <a:chExt cx="0" cy="0"/>
        </a:xfrm>
      </p:grpSpPr>
      <p:sp>
        <p:nvSpPr>
          <p:cNvPr id="455" name="Google Shape;455;p52"/>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Map Motoneuron Synergies to Hand Pose</a:t>
            </a:r>
            <a:endParaRPr>
              <a:solidFill>
                <a:schemeClr val="dk1"/>
              </a:solidFill>
            </a:endParaRPr>
          </a:p>
        </p:txBody>
      </p:sp>
      <p:sp>
        <p:nvSpPr>
          <p:cNvPr id="456" name="Google Shape;456;p52"/>
          <p:cNvSpPr txBox="1"/>
          <p:nvPr/>
        </p:nvSpPr>
        <p:spPr>
          <a:xfrm>
            <a:off x="1257525" y="1853400"/>
            <a:ext cx="1369800" cy="762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Hand-Wrist Kinematic (MANUS Core)</a:t>
            </a:r>
            <a:endParaRPr sz="1250"/>
          </a:p>
        </p:txBody>
      </p:sp>
      <p:cxnSp>
        <p:nvCxnSpPr>
          <p:cNvPr id="457" name="Google Shape;457;p52"/>
          <p:cNvCxnSpPr>
            <a:stCxn id="458" idx="3"/>
            <a:endCxn id="459" idx="1"/>
          </p:cNvCxnSpPr>
          <p:nvPr/>
        </p:nvCxnSpPr>
        <p:spPr>
          <a:xfrm>
            <a:off x="5441325" y="1254150"/>
            <a:ext cx="627600" cy="0"/>
          </a:xfrm>
          <a:prstGeom prst="straightConnector1">
            <a:avLst/>
          </a:prstGeom>
          <a:noFill/>
          <a:ln cap="flat" cmpd="sng" w="9525">
            <a:solidFill>
              <a:schemeClr val="dk2"/>
            </a:solidFill>
            <a:prstDash val="solid"/>
            <a:round/>
            <a:headEnd len="med" w="med" type="none"/>
            <a:tailEnd len="med" w="med" type="triangle"/>
          </a:ln>
        </p:spPr>
      </p:cxnSp>
      <p:cxnSp>
        <p:nvCxnSpPr>
          <p:cNvPr id="460" name="Google Shape;460;p52"/>
          <p:cNvCxnSpPr>
            <a:stCxn id="456" idx="3"/>
            <a:endCxn id="461" idx="1"/>
          </p:cNvCxnSpPr>
          <p:nvPr/>
        </p:nvCxnSpPr>
        <p:spPr>
          <a:xfrm>
            <a:off x="2627325" y="2234400"/>
            <a:ext cx="1029300" cy="0"/>
          </a:xfrm>
          <a:prstGeom prst="straightConnector1">
            <a:avLst/>
          </a:prstGeom>
          <a:noFill/>
          <a:ln cap="flat" cmpd="sng" w="9525">
            <a:solidFill>
              <a:schemeClr val="dk2"/>
            </a:solidFill>
            <a:prstDash val="solid"/>
            <a:round/>
            <a:headEnd len="med" w="med" type="none"/>
            <a:tailEnd len="med" w="med" type="triangle"/>
          </a:ln>
        </p:spPr>
      </p:cxnSp>
      <p:sp>
        <p:nvSpPr>
          <p:cNvPr id="459" name="Google Shape;459;p52"/>
          <p:cNvSpPr txBox="1"/>
          <p:nvPr/>
        </p:nvSpPr>
        <p:spPr>
          <a:xfrm>
            <a:off x="6068775" y="873150"/>
            <a:ext cx="2002500" cy="762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Feature Extraction (RMS, M synergies, MN synergies)</a:t>
            </a:r>
            <a:endParaRPr sz="1250"/>
          </a:p>
        </p:txBody>
      </p:sp>
      <p:sp>
        <p:nvSpPr>
          <p:cNvPr id="458" name="Google Shape;458;p52"/>
          <p:cNvSpPr txBox="1"/>
          <p:nvPr/>
        </p:nvSpPr>
        <p:spPr>
          <a:xfrm>
            <a:off x="3151125" y="969450"/>
            <a:ext cx="2290200" cy="569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Pre-Processing (filtering, rectification, segmentation)</a:t>
            </a:r>
            <a:endParaRPr sz="1250"/>
          </a:p>
        </p:txBody>
      </p:sp>
      <p:cxnSp>
        <p:nvCxnSpPr>
          <p:cNvPr id="462" name="Google Shape;462;p52"/>
          <p:cNvCxnSpPr>
            <a:stCxn id="463" idx="3"/>
            <a:endCxn id="458" idx="1"/>
          </p:cNvCxnSpPr>
          <p:nvPr/>
        </p:nvCxnSpPr>
        <p:spPr>
          <a:xfrm>
            <a:off x="2627325" y="1254150"/>
            <a:ext cx="523800" cy="0"/>
          </a:xfrm>
          <a:prstGeom prst="straightConnector1">
            <a:avLst/>
          </a:prstGeom>
          <a:noFill/>
          <a:ln cap="flat" cmpd="sng" w="9525">
            <a:solidFill>
              <a:schemeClr val="dk2"/>
            </a:solidFill>
            <a:prstDash val="solid"/>
            <a:round/>
            <a:headEnd len="med" w="med" type="none"/>
            <a:tailEnd len="med" w="med" type="triangle"/>
          </a:ln>
        </p:spPr>
      </p:cxnSp>
      <p:sp>
        <p:nvSpPr>
          <p:cNvPr id="463" name="Google Shape;463;p52"/>
          <p:cNvSpPr txBox="1"/>
          <p:nvPr/>
        </p:nvSpPr>
        <p:spPr>
          <a:xfrm>
            <a:off x="1257525" y="969450"/>
            <a:ext cx="1369800" cy="569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sEMG (BioGAP)</a:t>
            </a:r>
            <a:endParaRPr sz="1250"/>
          </a:p>
        </p:txBody>
      </p:sp>
      <p:cxnSp>
        <p:nvCxnSpPr>
          <p:cNvPr id="464" name="Google Shape;464;p52"/>
          <p:cNvCxnSpPr>
            <a:endCxn id="461" idx="0"/>
          </p:cNvCxnSpPr>
          <p:nvPr/>
        </p:nvCxnSpPr>
        <p:spPr>
          <a:xfrm flipH="1">
            <a:off x="4572450" y="1642350"/>
            <a:ext cx="1504500" cy="403500"/>
          </a:xfrm>
          <a:prstGeom prst="straightConnector1">
            <a:avLst/>
          </a:prstGeom>
          <a:noFill/>
          <a:ln cap="flat" cmpd="sng" w="9525">
            <a:solidFill>
              <a:schemeClr val="dk2"/>
            </a:solidFill>
            <a:prstDash val="solid"/>
            <a:round/>
            <a:headEnd len="med" w="med" type="none"/>
            <a:tailEnd len="med" w="med" type="triangle"/>
          </a:ln>
        </p:spPr>
      </p:cxnSp>
      <p:sp>
        <p:nvSpPr>
          <p:cNvPr id="465" name="Google Shape;465;p52"/>
          <p:cNvSpPr txBox="1"/>
          <p:nvPr/>
        </p:nvSpPr>
        <p:spPr>
          <a:xfrm>
            <a:off x="5869425" y="2045850"/>
            <a:ext cx="2401200" cy="377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Model (Transformer, LSTM)</a:t>
            </a:r>
            <a:endParaRPr sz="1250"/>
          </a:p>
        </p:txBody>
      </p:sp>
      <p:cxnSp>
        <p:nvCxnSpPr>
          <p:cNvPr id="466" name="Google Shape;466;p52"/>
          <p:cNvCxnSpPr>
            <a:endCxn id="467" idx="0"/>
          </p:cNvCxnSpPr>
          <p:nvPr/>
        </p:nvCxnSpPr>
        <p:spPr>
          <a:xfrm flipH="1">
            <a:off x="7111350" y="2431850"/>
            <a:ext cx="4200" cy="1099800"/>
          </a:xfrm>
          <a:prstGeom prst="straightConnector1">
            <a:avLst/>
          </a:prstGeom>
          <a:noFill/>
          <a:ln cap="flat" cmpd="sng" w="9525">
            <a:solidFill>
              <a:schemeClr val="dk2"/>
            </a:solidFill>
            <a:prstDash val="solid"/>
            <a:round/>
            <a:headEnd len="med" w="med" type="none"/>
            <a:tailEnd len="med" w="med" type="triangle"/>
          </a:ln>
        </p:spPr>
      </p:cxnSp>
      <p:sp>
        <p:nvSpPr>
          <p:cNvPr id="467" name="Google Shape;467;p52"/>
          <p:cNvSpPr txBox="1"/>
          <p:nvPr/>
        </p:nvSpPr>
        <p:spPr>
          <a:xfrm>
            <a:off x="6033450" y="3531650"/>
            <a:ext cx="2155800" cy="377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Virtual Hand</a:t>
            </a:r>
            <a:endParaRPr sz="1250"/>
          </a:p>
        </p:txBody>
      </p:sp>
      <p:cxnSp>
        <p:nvCxnSpPr>
          <p:cNvPr id="468" name="Google Shape;468;p52"/>
          <p:cNvCxnSpPr>
            <a:stCxn id="469" idx="3"/>
            <a:endCxn id="463" idx="1"/>
          </p:cNvCxnSpPr>
          <p:nvPr/>
        </p:nvCxnSpPr>
        <p:spPr>
          <a:xfrm flipH="1" rot="10800000">
            <a:off x="974975" y="1254288"/>
            <a:ext cx="282600" cy="473100"/>
          </a:xfrm>
          <a:prstGeom prst="straightConnector1">
            <a:avLst/>
          </a:prstGeom>
          <a:noFill/>
          <a:ln cap="flat" cmpd="sng" w="9525">
            <a:solidFill>
              <a:schemeClr val="dk2"/>
            </a:solidFill>
            <a:prstDash val="solid"/>
            <a:round/>
            <a:headEnd len="med" w="med" type="none"/>
            <a:tailEnd len="med" w="med" type="triangle"/>
          </a:ln>
        </p:spPr>
      </p:cxnSp>
      <p:sp>
        <p:nvSpPr>
          <p:cNvPr id="470" name="Google Shape;470;p52"/>
          <p:cNvSpPr txBox="1"/>
          <p:nvPr/>
        </p:nvSpPr>
        <p:spPr>
          <a:xfrm>
            <a:off x="4147625" y="3462350"/>
            <a:ext cx="2155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Haptic Feedback </a:t>
            </a:r>
            <a:r>
              <a:rPr lang="it" sz="1200">
                <a:solidFill>
                  <a:schemeClr val="dk1"/>
                </a:solidFill>
                <a:highlight>
                  <a:srgbClr val="FFFFFF"/>
                </a:highlight>
              </a:rPr>
              <a:t>α</a:t>
            </a:r>
            <a:r>
              <a:rPr lang="it" sz="1000">
                <a:solidFill>
                  <a:schemeClr val="dk1"/>
                </a:solidFill>
              </a:rPr>
              <a:t> Force</a:t>
            </a:r>
            <a:endParaRPr sz="1000">
              <a:solidFill>
                <a:schemeClr val="dk1"/>
              </a:solidFill>
            </a:endParaRPr>
          </a:p>
        </p:txBody>
      </p:sp>
      <p:cxnSp>
        <p:nvCxnSpPr>
          <p:cNvPr id="471" name="Google Shape;471;p52"/>
          <p:cNvCxnSpPr>
            <a:endCxn id="467" idx="1"/>
          </p:cNvCxnSpPr>
          <p:nvPr/>
        </p:nvCxnSpPr>
        <p:spPr>
          <a:xfrm flipH="1" rot="10800000">
            <a:off x="551250" y="3720200"/>
            <a:ext cx="5482200" cy="16200"/>
          </a:xfrm>
          <a:prstGeom prst="straightConnector1">
            <a:avLst/>
          </a:prstGeom>
          <a:noFill/>
          <a:ln cap="flat" cmpd="sng" w="9525">
            <a:solidFill>
              <a:schemeClr val="dk2"/>
            </a:solidFill>
            <a:prstDash val="solid"/>
            <a:round/>
            <a:headEnd len="med" w="med" type="none"/>
            <a:tailEnd len="med" w="med" type="none"/>
          </a:ln>
        </p:spPr>
      </p:cxnSp>
      <p:sp>
        <p:nvSpPr>
          <p:cNvPr id="469" name="Google Shape;469;p52"/>
          <p:cNvSpPr txBox="1"/>
          <p:nvPr/>
        </p:nvSpPr>
        <p:spPr>
          <a:xfrm>
            <a:off x="115175" y="1538838"/>
            <a:ext cx="859800" cy="377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Patient</a:t>
            </a:r>
            <a:endParaRPr sz="1250"/>
          </a:p>
        </p:txBody>
      </p:sp>
      <p:cxnSp>
        <p:nvCxnSpPr>
          <p:cNvPr id="472" name="Google Shape;472;p52"/>
          <p:cNvCxnSpPr>
            <a:stCxn id="469" idx="3"/>
            <a:endCxn id="456" idx="1"/>
          </p:cNvCxnSpPr>
          <p:nvPr/>
        </p:nvCxnSpPr>
        <p:spPr>
          <a:xfrm>
            <a:off x="974975" y="1727388"/>
            <a:ext cx="282600" cy="507000"/>
          </a:xfrm>
          <a:prstGeom prst="straightConnector1">
            <a:avLst/>
          </a:prstGeom>
          <a:noFill/>
          <a:ln cap="flat" cmpd="sng" w="9525">
            <a:solidFill>
              <a:schemeClr val="dk2"/>
            </a:solidFill>
            <a:prstDash val="solid"/>
            <a:round/>
            <a:headEnd len="med" w="med" type="none"/>
            <a:tailEnd len="med" w="med" type="triangle"/>
          </a:ln>
        </p:spPr>
      </p:cxnSp>
      <p:cxnSp>
        <p:nvCxnSpPr>
          <p:cNvPr id="473" name="Google Shape;473;p52"/>
          <p:cNvCxnSpPr/>
          <p:nvPr/>
        </p:nvCxnSpPr>
        <p:spPr>
          <a:xfrm flipH="1" rot="10800000">
            <a:off x="551200" y="1916125"/>
            <a:ext cx="11400" cy="1812000"/>
          </a:xfrm>
          <a:prstGeom prst="straightConnector1">
            <a:avLst/>
          </a:prstGeom>
          <a:noFill/>
          <a:ln cap="flat" cmpd="sng" w="9525">
            <a:solidFill>
              <a:schemeClr val="dk2"/>
            </a:solidFill>
            <a:prstDash val="solid"/>
            <a:round/>
            <a:headEnd len="med" w="med" type="none"/>
            <a:tailEnd len="med" w="med" type="triangle"/>
          </a:ln>
        </p:spPr>
      </p:cxnSp>
      <p:cxnSp>
        <p:nvCxnSpPr>
          <p:cNvPr id="474" name="Google Shape;474;p52"/>
          <p:cNvCxnSpPr/>
          <p:nvPr/>
        </p:nvCxnSpPr>
        <p:spPr>
          <a:xfrm>
            <a:off x="6632450" y="2449350"/>
            <a:ext cx="9600" cy="1087800"/>
          </a:xfrm>
          <a:prstGeom prst="straightConnector1">
            <a:avLst/>
          </a:prstGeom>
          <a:noFill/>
          <a:ln cap="flat" cmpd="sng" w="9525">
            <a:solidFill>
              <a:schemeClr val="dk2"/>
            </a:solidFill>
            <a:prstDash val="solid"/>
            <a:round/>
            <a:headEnd len="med" w="med" type="none"/>
            <a:tailEnd len="med" w="med" type="triangle"/>
          </a:ln>
        </p:spPr>
      </p:cxnSp>
      <p:cxnSp>
        <p:nvCxnSpPr>
          <p:cNvPr id="475" name="Google Shape;475;p52"/>
          <p:cNvCxnSpPr/>
          <p:nvPr/>
        </p:nvCxnSpPr>
        <p:spPr>
          <a:xfrm>
            <a:off x="7584838" y="2449950"/>
            <a:ext cx="2700" cy="1086600"/>
          </a:xfrm>
          <a:prstGeom prst="straightConnector1">
            <a:avLst/>
          </a:prstGeom>
          <a:noFill/>
          <a:ln cap="flat" cmpd="sng" w="9525">
            <a:solidFill>
              <a:schemeClr val="dk2"/>
            </a:solidFill>
            <a:prstDash val="solid"/>
            <a:round/>
            <a:headEnd len="med" w="med" type="none"/>
            <a:tailEnd len="med" w="med" type="triangle"/>
          </a:ln>
        </p:spPr>
      </p:cxnSp>
      <p:sp>
        <p:nvSpPr>
          <p:cNvPr id="476" name="Google Shape;476;p52"/>
          <p:cNvSpPr txBox="1"/>
          <p:nvPr/>
        </p:nvSpPr>
        <p:spPr>
          <a:xfrm rot="5400000">
            <a:off x="7538400" y="2467800"/>
            <a:ext cx="523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Force</a:t>
            </a:r>
            <a:endParaRPr sz="1000">
              <a:solidFill>
                <a:schemeClr val="dk1"/>
              </a:solidFill>
            </a:endParaRPr>
          </a:p>
        </p:txBody>
      </p:sp>
      <p:sp>
        <p:nvSpPr>
          <p:cNvPr id="477" name="Google Shape;477;p52"/>
          <p:cNvSpPr txBox="1"/>
          <p:nvPr/>
        </p:nvSpPr>
        <p:spPr>
          <a:xfrm rot="5400000">
            <a:off x="7135250" y="2467800"/>
            <a:ext cx="474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Wrist</a:t>
            </a:r>
            <a:endParaRPr sz="1000">
              <a:solidFill>
                <a:schemeClr val="dk1"/>
              </a:solidFill>
            </a:endParaRPr>
          </a:p>
        </p:txBody>
      </p:sp>
      <p:sp>
        <p:nvSpPr>
          <p:cNvPr id="478" name="Google Shape;478;p52"/>
          <p:cNvSpPr txBox="1"/>
          <p:nvPr/>
        </p:nvSpPr>
        <p:spPr>
          <a:xfrm rot="5400000">
            <a:off x="6571475" y="2466975"/>
            <a:ext cx="560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Hand</a:t>
            </a:r>
            <a:endParaRPr sz="1000">
              <a:solidFill>
                <a:schemeClr val="dk1"/>
              </a:solidFill>
            </a:endParaRPr>
          </a:p>
        </p:txBody>
      </p:sp>
      <p:sp>
        <p:nvSpPr>
          <p:cNvPr id="479" name="Google Shape;479;p52"/>
          <p:cNvSpPr txBox="1"/>
          <p:nvPr/>
        </p:nvSpPr>
        <p:spPr>
          <a:xfrm>
            <a:off x="1257525" y="2859313"/>
            <a:ext cx="1369800" cy="569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Grasped Object  (Weart, tactors)</a:t>
            </a:r>
            <a:endParaRPr sz="1250"/>
          </a:p>
        </p:txBody>
      </p:sp>
      <p:cxnSp>
        <p:nvCxnSpPr>
          <p:cNvPr id="480" name="Google Shape;480;p52"/>
          <p:cNvCxnSpPr>
            <a:endCxn id="461" idx="2"/>
          </p:cNvCxnSpPr>
          <p:nvPr/>
        </p:nvCxnSpPr>
        <p:spPr>
          <a:xfrm rot="10800000">
            <a:off x="4572450" y="2422950"/>
            <a:ext cx="3000" cy="734100"/>
          </a:xfrm>
          <a:prstGeom prst="straightConnector1">
            <a:avLst/>
          </a:prstGeom>
          <a:noFill/>
          <a:ln cap="flat" cmpd="sng" w="9525">
            <a:solidFill>
              <a:schemeClr val="dk2"/>
            </a:solidFill>
            <a:prstDash val="solid"/>
            <a:round/>
            <a:headEnd len="med" w="med" type="none"/>
            <a:tailEnd len="med" w="med" type="triangle"/>
          </a:ln>
        </p:spPr>
      </p:cxnSp>
      <p:cxnSp>
        <p:nvCxnSpPr>
          <p:cNvPr id="481" name="Google Shape;481;p52"/>
          <p:cNvCxnSpPr>
            <a:stCxn id="479" idx="3"/>
          </p:cNvCxnSpPr>
          <p:nvPr/>
        </p:nvCxnSpPr>
        <p:spPr>
          <a:xfrm flipH="1" rot="10800000">
            <a:off x="2627325" y="3142813"/>
            <a:ext cx="1953900" cy="1200"/>
          </a:xfrm>
          <a:prstGeom prst="straightConnector1">
            <a:avLst/>
          </a:prstGeom>
          <a:noFill/>
          <a:ln cap="flat" cmpd="sng" w="9525">
            <a:solidFill>
              <a:schemeClr val="dk2"/>
            </a:solidFill>
            <a:prstDash val="solid"/>
            <a:round/>
            <a:headEnd len="med" w="med" type="none"/>
            <a:tailEnd len="med" w="med" type="none"/>
          </a:ln>
        </p:spPr>
      </p:cxnSp>
      <p:sp>
        <p:nvSpPr>
          <p:cNvPr id="482" name="Google Shape;482;p52"/>
          <p:cNvSpPr txBox="1"/>
          <p:nvPr/>
        </p:nvSpPr>
        <p:spPr>
          <a:xfrm>
            <a:off x="2675375" y="2807950"/>
            <a:ext cx="85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Force</a:t>
            </a:r>
            <a:endParaRPr sz="1000">
              <a:solidFill>
                <a:schemeClr val="dk1"/>
              </a:solidFill>
            </a:endParaRPr>
          </a:p>
        </p:txBody>
      </p:sp>
      <p:cxnSp>
        <p:nvCxnSpPr>
          <p:cNvPr id="483" name="Google Shape;483;p52"/>
          <p:cNvCxnSpPr>
            <a:stCxn id="469" idx="3"/>
            <a:endCxn id="479" idx="1"/>
          </p:cNvCxnSpPr>
          <p:nvPr/>
        </p:nvCxnSpPr>
        <p:spPr>
          <a:xfrm>
            <a:off x="974975" y="1727388"/>
            <a:ext cx="282600" cy="1416600"/>
          </a:xfrm>
          <a:prstGeom prst="straightConnector1">
            <a:avLst/>
          </a:prstGeom>
          <a:noFill/>
          <a:ln cap="flat" cmpd="sng" w="9525">
            <a:solidFill>
              <a:schemeClr val="dk2"/>
            </a:solidFill>
            <a:prstDash val="solid"/>
            <a:round/>
            <a:headEnd len="med" w="med" type="none"/>
            <a:tailEnd len="med" w="med" type="triangle"/>
          </a:ln>
        </p:spPr>
      </p:cxnSp>
      <p:sp>
        <p:nvSpPr>
          <p:cNvPr id="484" name="Google Shape;484;p52"/>
          <p:cNvSpPr txBox="1"/>
          <p:nvPr/>
        </p:nvSpPr>
        <p:spPr>
          <a:xfrm>
            <a:off x="7723500" y="2898900"/>
            <a:ext cx="1420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Synergy reconstruction?</a:t>
            </a:r>
            <a:endParaRPr sz="1000">
              <a:solidFill>
                <a:schemeClr val="dk1"/>
              </a:solidFill>
            </a:endParaRPr>
          </a:p>
        </p:txBody>
      </p:sp>
      <p:sp>
        <p:nvSpPr>
          <p:cNvPr id="461" name="Google Shape;461;p52"/>
          <p:cNvSpPr txBox="1"/>
          <p:nvPr/>
        </p:nvSpPr>
        <p:spPr>
          <a:xfrm>
            <a:off x="3656550" y="2045850"/>
            <a:ext cx="1831800" cy="377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BioGUI synchro data</a:t>
            </a:r>
            <a:endParaRPr sz="1250"/>
          </a:p>
        </p:txBody>
      </p:sp>
      <p:cxnSp>
        <p:nvCxnSpPr>
          <p:cNvPr id="485" name="Google Shape;485;p52"/>
          <p:cNvCxnSpPr>
            <a:stCxn id="461" idx="3"/>
            <a:endCxn id="465" idx="1"/>
          </p:cNvCxnSpPr>
          <p:nvPr/>
        </p:nvCxnSpPr>
        <p:spPr>
          <a:xfrm>
            <a:off x="5488350" y="2234400"/>
            <a:ext cx="381000" cy="0"/>
          </a:xfrm>
          <a:prstGeom prst="straightConnector1">
            <a:avLst/>
          </a:prstGeom>
          <a:noFill/>
          <a:ln cap="flat" cmpd="sng" w="9525">
            <a:solidFill>
              <a:schemeClr val="dk2"/>
            </a:solidFill>
            <a:prstDash val="solid"/>
            <a:round/>
            <a:headEnd len="med" w="med" type="none"/>
            <a:tailEnd len="med" w="med" type="triangle"/>
          </a:ln>
        </p:spPr>
      </p:cxnSp>
      <p:sp>
        <p:nvSpPr>
          <p:cNvPr id="486" name="Google Shape;486;p52"/>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MOTONEURON SYNERGIES DRIVEN HAND POSE PREDICTION                   </a:t>
            </a:r>
            <a:endParaRPr sz="1000">
              <a:solidFill>
                <a:schemeClr val="l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0" name="Shape 490"/>
        <p:cNvGrpSpPr/>
        <p:nvPr/>
      </p:nvGrpSpPr>
      <p:grpSpPr>
        <a:xfrm>
          <a:off x="0" y="0"/>
          <a:ext cx="0" cy="0"/>
          <a:chOff x="0" y="0"/>
          <a:chExt cx="0" cy="0"/>
        </a:xfrm>
      </p:grpSpPr>
      <p:sp>
        <p:nvSpPr>
          <p:cNvPr id="491" name="Google Shape;491;p53"/>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Non-Negative Matrix Factorization (NMF)</a:t>
            </a:r>
            <a:endParaRPr>
              <a:solidFill>
                <a:schemeClr val="dk1"/>
              </a:solidFill>
            </a:endParaRPr>
          </a:p>
        </p:txBody>
      </p:sp>
      <p:sp>
        <p:nvSpPr>
          <p:cNvPr id="492" name="Google Shape;492;p53"/>
          <p:cNvSpPr txBox="1"/>
          <p:nvPr/>
        </p:nvSpPr>
        <p:spPr>
          <a:xfrm>
            <a:off x="248075" y="1001525"/>
            <a:ext cx="8520600" cy="3133200"/>
          </a:xfrm>
          <a:prstGeom prst="rect">
            <a:avLst/>
          </a:prstGeom>
          <a:noFill/>
          <a:ln>
            <a:noFill/>
          </a:ln>
        </p:spPr>
        <p:txBody>
          <a:bodyPr anchorCtr="0" anchor="t" bIns="91425" lIns="91425" spcFirstLastPara="1" rIns="91425" wrap="square" tIns="91425">
            <a:noAutofit/>
          </a:bodyPr>
          <a:lstStyle/>
          <a:p>
            <a:pPr indent="0" lvl="0" marL="45720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rPr lang="it" sz="1100" u="sng">
                <a:solidFill>
                  <a:schemeClr val="dk1"/>
                </a:solidFill>
              </a:rPr>
              <a:t>Input Matrix (V)</a:t>
            </a:r>
            <a:r>
              <a:rPr lang="it" sz="1100"/>
              <a:t>: The matrix containing the </a:t>
            </a:r>
            <a:r>
              <a:rPr b="1" lang="it" sz="1100"/>
              <a:t>neural drivers (MUSTs)</a:t>
            </a:r>
            <a:r>
              <a:rPr lang="it" sz="1100"/>
              <a:t> or muscular envelopes across all time points and all Motoneurons (or channels). </a:t>
            </a:r>
            <a:endParaRPr b="1" sz="1100"/>
          </a:p>
          <a:p>
            <a:pPr indent="0" lvl="0" marL="0" rtl="0" algn="l">
              <a:lnSpc>
                <a:spcPct val="130000"/>
              </a:lnSpc>
              <a:spcBef>
                <a:spcPts val="480"/>
              </a:spcBef>
              <a:spcAft>
                <a:spcPts val="0"/>
              </a:spcAft>
              <a:buNone/>
            </a:pPr>
            <a:r>
              <a:rPr lang="it" sz="1100" u="sng">
                <a:solidFill>
                  <a:schemeClr val="dk1"/>
                </a:solidFill>
              </a:rPr>
              <a:t>Factorization Goal</a:t>
            </a:r>
            <a:r>
              <a:rPr lang="it" sz="1100"/>
              <a:t>: NMF decomposes the input matrix (V) into two lower-rank matrices: </a:t>
            </a:r>
            <a:endParaRPr sz="1100"/>
          </a:p>
          <a:p>
            <a:pPr indent="0" lvl="0" marL="0" rtl="0" algn="l">
              <a:lnSpc>
                <a:spcPct val="130000"/>
              </a:lnSpc>
              <a:spcBef>
                <a:spcPts val="480"/>
              </a:spcBef>
              <a:spcAft>
                <a:spcPts val="0"/>
              </a:spcAft>
              <a:buNone/>
            </a:pPr>
            <a:r>
              <a:rPr lang="it" sz="1100" u="sng">
                <a:solidFill>
                  <a:schemeClr val="dk1"/>
                </a:solidFill>
              </a:rPr>
              <a:t>Minimization Target</a:t>
            </a:r>
            <a:r>
              <a:rPr lang="it" sz="1100"/>
              <a:t>:  NMF is an </a:t>
            </a:r>
            <a:r>
              <a:rPr b="1" lang="it" sz="1100"/>
              <a:t>iterative process</a:t>
            </a:r>
            <a:r>
              <a:rPr lang="it" sz="1100"/>
              <a:t> that minimizes the </a:t>
            </a:r>
            <a:r>
              <a:rPr b="1" lang="it" sz="1100"/>
              <a:t>Euclidean distance</a:t>
            </a:r>
            <a:r>
              <a:rPr lang="it" sz="1100"/>
              <a:t> (or other metrics like Kullback-Leibler divergence) between the </a:t>
            </a:r>
            <a:r>
              <a:rPr b="1" lang="it" sz="1100"/>
              <a:t>Original Signal (V)</a:t>
            </a:r>
            <a:r>
              <a:rPr lang="it" sz="1100"/>
              <a:t> and the </a:t>
            </a:r>
            <a:r>
              <a:rPr b="1" lang="it" sz="1100"/>
              <a:t>Reconstruction. </a:t>
            </a:r>
            <a:endParaRPr b="1" sz="1100"/>
          </a:p>
          <a:p>
            <a:pPr indent="0" lvl="0" marL="0" rtl="0" algn="l">
              <a:lnSpc>
                <a:spcPct val="130000"/>
              </a:lnSpc>
              <a:spcBef>
                <a:spcPts val="480"/>
              </a:spcBef>
              <a:spcAft>
                <a:spcPts val="0"/>
              </a:spcAft>
              <a:buNone/>
            </a:pPr>
            <a:r>
              <a:t/>
            </a:r>
            <a:endParaRPr b="1" sz="1100"/>
          </a:p>
          <a:p>
            <a:pPr indent="0" lvl="0" marL="0" rtl="0" algn="l">
              <a:lnSpc>
                <a:spcPct val="130000"/>
              </a:lnSpc>
              <a:spcBef>
                <a:spcPts val="480"/>
              </a:spcBef>
              <a:spcAft>
                <a:spcPts val="0"/>
              </a:spcAft>
              <a:buNone/>
            </a:pPr>
            <a:r>
              <a:rPr b="1" lang="it" sz="1100"/>
              <a:t>The process is run for 100 iterations and repeated 10 times. The solution with the greatest Coefficient of Determination among 10 repetitions is retained for each number of synergies. </a:t>
            </a:r>
            <a:endParaRPr b="1" sz="1100"/>
          </a:p>
          <a:p>
            <a:pPr indent="0" lvl="0" marL="457200" rtl="0" algn="l">
              <a:lnSpc>
                <a:spcPct val="130000"/>
              </a:lnSpc>
              <a:spcBef>
                <a:spcPts val="480"/>
              </a:spcBef>
              <a:spcAft>
                <a:spcPts val="0"/>
              </a:spcAft>
              <a:buNone/>
            </a:pPr>
            <a:r>
              <a:t/>
            </a:r>
            <a:endParaRPr sz="1100">
              <a:solidFill>
                <a:srgbClr val="1A1A1A"/>
              </a:solidFill>
            </a:endParaRPr>
          </a:p>
        </p:txBody>
      </p:sp>
      <p:pic>
        <p:nvPicPr>
          <p:cNvPr id="493" name="Google Shape;493;p53" title="Screenshot from 2025-10-13 20-29-00.png"/>
          <p:cNvPicPr preferRelativeResize="0"/>
          <p:nvPr/>
        </p:nvPicPr>
        <p:blipFill>
          <a:blip r:embed="rId3">
            <a:alphaModFix/>
          </a:blip>
          <a:stretch>
            <a:fillRect/>
          </a:stretch>
        </p:blipFill>
        <p:spPr>
          <a:xfrm>
            <a:off x="6542925" y="1806325"/>
            <a:ext cx="1114425" cy="285750"/>
          </a:xfrm>
          <a:prstGeom prst="rect">
            <a:avLst/>
          </a:prstGeom>
          <a:noFill/>
          <a:ln>
            <a:noFill/>
          </a:ln>
        </p:spPr>
      </p:pic>
      <p:sp>
        <p:nvSpPr>
          <p:cNvPr id="494" name="Google Shape;494;p53"/>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MOTONEURON SYNERGIES DRIVEN HAND POSE PREDICTION                   </a:t>
            </a:r>
            <a:endParaRPr sz="1000">
              <a:solidFill>
                <a:schemeClr val="l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8" name="Shape 498"/>
        <p:cNvGrpSpPr/>
        <p:nvPr/>
      </p:nvGrpSpPr>
      <p:grpSpPr>
        <a:xfrm>
          <a:off x="0" y="0"/>
          <a:ext cx="0" cy="0"/>
          <a:chOff x="0" y="0"/>
          <a:chExt cx="0" cy="0"/>
        </a:xfrm>
      </p:grpSpPr>
      <p:sp>
        <p:nvSpPr>
          <p:cNvPr id="499" name="Google Shape;499;p54"/>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First Generation</a:t>
            </a:r>
            <a:endParaRPr>
              <a:solidFill>
                <a:schemeClr val="dk1"/>
              </a:solidFill>
            </a:endParaRPr>
          </a:p>
        </p:txBody>
      </p:sp>
      <p:sp>
        <p:nvSpPr>
          <p:cNvPr id="500" name="Google Shape;500;p54"/>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01" name="Google Shape;501;p54"/>
          <p:cNvSpPr txBox="1"/>
          <p:nvPr/>
        </p:nvSpPr>
        <p:spPr>
          <a:xfrm>
            <a:off x="586626" y="1228800"/>
            <a:ext cx="3572400" cy="17973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Direct Control (60’)</a:t>
            </a:r>
            <a:endParaRPr b="1" sz="1260">
              <a:solidFill>
                <a:schemeClr val="dk1"/>
              </a:solidFill>
            </a:endParaRPr>
          </a:p>
          <a:p>
            <a:pPr indent="0" lvl="0" marL="0" rtl="0" algn="ctr">
              <a:lnSpc>
                <a:spcPct val="130000"/>
              </a:lnSpc>
              <a:spcBef>
                <a:spcPts val="480"/>
              </a:spcBef>
              <a:spcAft>
                <a:spcPts val="0"/>
              </a:spcAft>
              <a:buNone/>
            </a:pPr>
            <a:r>
              <a:rPr lang="it" sz="1260"/>
              <a:t>Proportional Control:</a:t>
            </a:r>
            <a:endParaRPr sz="1260"/>
          </a:p>
          <a:p>
            <a:pPr indent="0" lvl="0" marL="0" rtl="0" algn="ctr">
              <a:lnSpc>
                <a:spcPct val="130000"/>
              </a:lnSpc>
              <a:spcBef>
                <a:spcPts val="480"/>
              </a:spcBef>
              <a:spcAft>
                <a:spcPts val="0"/>
              </a:spcAft>
              <a:buNone/>
            </a:pPr>
            <a:r>
              <a:rPr lang="it" sz="1260"/>
              <a:t>Force output ∝ EMG amplitude</a:t>
            </a:r>
            <a:endParaRPr sz="1260"/>
          </a:p>
          <a:p>
            <a:pPr indent="0" lvl="0" marL="0" rtl="0" algn="ctr">
              <a:lnSpc>
                <a:spcPct val="130000"/>
              </a:lnSpc>
              <a:spcBef>
                <a:spcPts val="480"/>
              </a:spcBef>
              <a:spcAft>
                <a:spcPts val="0"/>
              </a:spcAft>
              <a:buNone/>
            </a:pPr>
            <a:r>
              <a:rPr lang="it" sz="1260"/>
              <a:t>EMG amplitude of flexor/extensor muscle</a:t>
            </a:r>
            <a:endParaRPr sz="1260"/>
          </a:p>
          <a:p>
            <a:pPr indent="0" lvl="0" marL="0" rtl="0" algn="ctr">
              <a:lnSpc>
                <a:spcPct val="130000"/>
              </a:lnSpc>
              <a:spcBef>
                <a:spcPts val="480"/>
              </a:spcBef>
              <a:spcAft>
                <a:spcPts val="0"/>
              </a:spcAft>
              <a:buNone/>
            </a:pPr>
            <a:r>
              <a:rPr lang="it" sz="1260"/>
              <a:t>No distinctions between more complex gestures</a:t>
            </a:r>
            <a:endParaRPr sz="1260"/>
          </a:p>
        </p:txBody>
      </p:sp>
      <p:sp>
        <p:nvSpPr>
          <p:cNvPr id="502" name="Google Shape;502;p54"/>
          <p:cNvSpPr txBox="1"/>
          <p:nvPr/>
        </p:nvSpPr>
        <p:spPr>
          <a:xfrm>
            <a:off x="5165288" y="1228800"/>
            <a:ext cx="3392100" cy="17973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Pattern Recognition</a:t>
            </a:r>
            <a:endParaRPr b="1" sz="1260">
              <a:solidFill>
                <a:schemeClr val="dk1"/>
              </a:solidFill>
            </a:endParaRPr>
          </a:p>
          <a:p>
            <a:pPr indent="0" lvl="0" marL="0" rtl="0" algn="ctr">
              <a:lnSpc>
                <a:spcPct val="130000"/>
              </a:lnSpc>
              <a:spcBef>
                <a:spcPts val="480"/>
              </a:spcBef>
              <a:spcAft>
                <a:spcPts val="0"/>
              </a:spcAft>
              <a:buNone/>
            </a:pPr>
            <a:r>
              <a:rPr lang="it" sz="1260"/>
              <a:t>Extract Features from EMG window </a:t>
            </a:r>
            <a:endParaRPr sz="1260"/>
          </a:p>
          <a:p>
            <a:pPr indent="0" lvl="0" marL="0" rtl="0" algn="ctr">
              <a:lnSpc>
                <a:spcPct val="130000"/>
              </a:lnSpc>
              <a:spcBef>
                <a:spcPts val="480"/>
              </a:spcBef>
              <a:spcAft>
                <a:spcPts val="0"/>
              </a:spcAft>
              <a:buNone/>
            </a:pPr>
            <a:r>
              <a:rPr lang="it" sz="1260"/>
              <a:t>Classification of </a:t>
            </a:r>
            <a:r>
              <a:rPr lang="it" sz="1260"/>
              <a:t>gestures (pinch, open hand, grasp)</a:t>
            </a:r>
            <a:endParaRPr sz="126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6" name="Shape 506"/>
        <p:cNvGrpSpPr/>
        <p:nvPr/>
      </p:nvGrpSpPr>
      <p:grpSpPr>
        <a:xfrm>
          <a:off x="0" y="0"/>
          <a:ext cx="0" cy="0"/>
          <a:chOff x="0" y="0"/>
          <a:chExt cx="0" cy="0"/>
        </a:xfrm>
      </p:grpSpPr>
      <p:sp>
        <p:nvSpPr>
          <p:cNvPr id="507" name="Google Shape;507;p55"/>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EMG Features</a:t>
            </a:r>
            <a:endParaRPr>
              <a:solidFill>
                <a:schemeClr val="dk1"/>
              </a:solidFill>
            </a:endParaRPr>
          </a:p>
        </p:txBody>
      </p:sp>
      <p:sp>
        <p:nvSpPr>
          <p:cNvPr id="508" name="Google Shape;508;p55"/>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09" name="Google Shape;509;p55"/>
          <p:cNvSpPr txBox="1"/>
          <p:nvPr/>
        </p:nvSpPr>
        <p:spPr>
          <a:xfrm>
            <a:off x="586613" y="787200"/>
            <a:ext cx="3572400" cy="3227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Handcrafted Features</a:t>
            </a:r>
            <a:endParaRPr b="1" sz="1260">
              <a:solidFill>
                <a:schemeClr val="dk1"/>
              </a:solidFill>
            </a:endParaRPr>
          </a:p>
          <a:p>
            <a:pPr indent="0" lvl="0" marL="0" rtl="0" algn="l">
              <a:lnSpc>
                <a:spcPct val="130000"/>
              </a:lnSpc>
              <a:spcBef>
                <a:spcPts val="480"/>
              </a:spcBef>
              <a:spcAft>
                <a:spcPts val="0"/>
              </a:spcAft>
              <a:buNone/>
            </a:pPr>
            <a:r>
              <a:t/>
            </a:r>
            <a:endParaRPr sz="1260" u="sng">
              <a:solidFill>
                <a:schemeClr val="dk2"/>
              </a:solidFill>
            </a:endParaRPr>
          </a:p>
          <a:p>
            <a:pPr indent="0" lvl="0" marL="0" rtl="0" algn="l">
              <a:lnSpc>
                <a:spcPct val="130000"/>
              </a:lnSpc>
              <a:spcBef>
                <a:spcPts val="480"/>
              </a:spcBef>
              <a:spcAft>
                <a:spcPts val="0"/>
              </a:spcAft>
              <a:buNone/>
            </a:pPr>
            <a:r>
              <a:rPr lang="it" sz="1260" u="sng">
                <a:solidFill>
                  <a:schemeClr val="dk2"/>
                </a:solidFill>
              </a:rPr>
              <a:t>Time</a:t>
            </a:r>
            <a:r>
              <a:rPr lang="it" sz="1260"/>
              <a:t>: </a:t>
            </a:r>
            <a:r>
              <a:rPr lang="it" sz="1100"/>
              <a:t> Mean Absolute Value, Mean Absolute Value Slope, Zero Crossings, Slope Sign Changes, Waveform Length, Root Mean Square, Histogram, etc.</a:t>
            </a:r>
            <a:endParaRPr sz="1100"/>
          </a:p>
          <a:p>
            <a:pPr indent="0" lvl="0" marL="0" rtl="0" algn="l">
              <a:lnSpc>
                <a:spcPct val="130000"/>
              </a:lnSpc>
              <a:spcBef>
                <a:spcPts val="480"/>
              </a:spcBef>
              <a:spcAft>
                <a:spcPts val="0"/>
              </a:spcAft>
              <a:buNone/>
            </a:pPr>
            <a:r>
              <a:rPr lang="it" sz="1260" u="sng">
                <a:solidFill>
                  <a:schemeClr val="dk1"/>
                </a:solidFill>
              </a:rPr>
              <a:t>Frequency</a:t>
            </a:r>
            <a:r>
              <a:rPr lang="it" sz="1260"/>
              <a:t>: </a:t>
            </a:r>
            <a:r>
              <a:rPr lang="it" sz="1100"/>
              <a:t>mean frequency, median frequency, peak frequency, mean power, total power, the 1st, 2nd, and 3rd spectral moments, frequency ratio, power spectrum ratio, the variance of central frequency, etc.</a:t>
            </a:r>
            <a:endParaRPr sz="1260"/>
          </a:p>
          <a:p>
            <a:pPr indent="0" lvl="0" marL="0" rtl="0" algn="l">
              <a:lnSpc>
                <a:spcPct val="130000"/>
              </a:lnSpc>
              <a:spcBef>
                <a:spcPts val="480"/>
              </a:spcBef>
              <a:spcAft>
                <a:spcPts val="0"/>
              </a:spcAft>
              <a:buNone/>
            </a:pPr>
            <a:r>
              <a:rPr lang="it" sz="1260" u="sng">
                <a:solidFill>
                  <a:schemeClr val="dk1"/>
                </a:solidFill>
              </a:rPr>
              <a:t>Time-Frequency</a:t>
            </a:r>
            <a:r>
              <a:rPr lang="it" sz="1260"/>
              <a:t>: </a:t>
            </a:r>
            <a:r>
              <a:rPr lang="it" sz="1100"/>
              <a:t>short-time Fourier Transform, wavelet transform, and wavelet packet transform</a:t>
            </a:r>
            <a:endParaRPr sz="1260"/>
          </a:p>
        </p:txBody>
      </p:sp>
      <p:sp>
        <p:nvSpPr>
          <p:cNvPr id="510" name="Google Shape;510;p55"/>
          <p:cNvSpPr txBox="1"/>
          <p:nvPr/>
        </p:nvSpPr>
        <p:spPr>
          <a:xfrm>
            <a:off x="5165275" y="787200"/>
            <a:ext cx="3392100" cy="34389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From Handcrafted Features to Learned Representations</a:t>
            </a:r>
            <a:endParaRPr b="1" sz="1260">
              <a:solidFill>
                <a:schemeClr val="dk1"/>
              </a:solidFill>
            </a:endParaRPr>
          </a:p>
          <a:p>
            <a:pPr indent="0" lvl="0" marL="0" rtl="0" algn="ctr">
              <a:lnSpc>
                <a:spcPct val="130000"/>
              </a:lnSpc>
              <a:spcBef>
                <a:spcPts val="480"/>
              </a:spcBef>
              <a:spcAft>
                <a:spcPts val="0"/>
              </a:spcAft>
              <a:buNone/>
            </a:pPr>
            <a:r>
              <a:rPr lang="it" sz="1260"/>
              <a:t>Feature Extraction + </a:t>
            </a:r>
            <a:r>
              <a:rPr lang="it" sz="1260"/>
              <a:t>Classifier substituted by </a:t>
            </a:r>
            <a:r>
              <a:rPr lang="it" sz="1260"/>
              <a:t> a Supervised (CNN or RNN/LSTM), Self-Supervised (Unsupervised pre-training + supervised fine-tuning), Unsupervised </a:t>
            </a:r>
            <a:r>
              <a:rPr lang="it" sz="1260"/>
              <a:t>(AE, VAE) </a:t>
            </a:r>
            <a:r>
              <a:rPr lang="it" sz="1260"/>
              <a:t> Learning Models</a:t>
            </a:r>
            <a:r>
              <a:rPr lang="it" sz="1260"/>
              <a:t> which can learn spatial, spectral patterns or temporal information and directly extract the hand pose.  </a:t>
            </a:r>
            <a:endParaRPr sz="1260"/>
          </a:p>
          <a:p>
            <a:pPr indent="0" lvl="0" marL="0" rtl="0" algn="ctr">
              <a:lnSpc>
                <a:spcPct val="130000"/>
              </a:lnSpc>
              <a:spcBef>
                <a:spcPts val="480"/>
              </a:spcBef>
              <a:spcAft>
                <a:spcPts val="0"/>
              </a:spcAft>
              <a:buNone/>
            </a:pPr>
            <a:r>
              <a:rPr lang="it" sz="1260"/>
              <a:t>Self-Supervised Learning allow to mitigate Data Distribution </a:t>
            </a:r>
            <a:r>
              <a:rPr lang="it" sz="1260"/>
              <a:t>Mutation</a:t>
            </a:r>
            <a:r>
              <a:rPr lang="it" sz="1260"/>
              <a:t> thanks to Transfer Learning and Domain Adaptation.</a:t>
            </a:r>
            <a:endParaRPr sz="126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4" name="Shape 514"/>
        <p:cNvGrpSpPr/>
        <p:nvPr/>
      </p:nvGrpSpPr>
      <p:grpSpPr>
        <a:xfrm>
          <a:off x="0" y="0"/>
          <a:ext cx="0" cy="0"/>
          <a:chOff x="0" y="0"/>
          <a:chExt cx="0" cy="0"/>
        </a:xfrm>
      </p:grpSpPr>
      <p:sp>
        <p:nvSpPr>
          <p:cNvPr id="515" name="Google Shape;515;p56"/>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Spatial Resolution: Sparse vs Dense EMG Acquisition</a:t>
            </a:r>
            <a:endParaRPr>
              <a:solidFill>
                <a:schemeClr val="dk1"/>
              </a:solidFill>
            </a:endParaRPr>
          </a:p>
        </p:txBody>
      </p:sp>
      <p:sp>
        <p:nvSpPr>
          <p:cNvPr id="516" name="Google Shape;516;p56"/>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17" name="Google Shape;517;p56"/>
          <p:cNvSpPr txBox="1"/>
          <p:nvPr/>
        </p:nvSpPr>
        <p:spPr>
          <a:xfrm>
            <a:off x="586613" y="787200"/>
            <a:ext cx="3572400" cy="3227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Sparse EMG (2-16 channels)</a:t>
            </a:r>
            <a:endParaRPr b="1" sz="1260">
              <a:solidFill>
                <a:schemeClr val="dk1"/>
              </a:solidFill>
            </a:endParaRPr>
          </a:p>
          <a:p>
            <a:pPr indent="0" lvl="0" marL="0" rtl="0" algn="l">
              <a:lnSpc>
                <a:spcPct val="130000"/>
              </a:lnSpc>
              <a:spcBef>
                <a:spcPts val="480"/>
              </a:spcBef>
              <a:spcAft>
                <a:spcPts val="0"/>
              </a:spcAft>
              <a:buNone/>
            </a:pPr>
            <a:r>
              <a:t/>
            </a:r>
            <a:endParaRPr sz="1260"/>
          </a:p>
          <a:p>
            <a:pPr indent="0" lvl="0" marL="0" rtl="0" algn="l">
              <a:lnSpc>
                <a:spcPct val="130000"/>
              </a:lnSpc>
              <a:spcBef>
                <a:spcPts val="480"/>
              </a:spcBef>
              <a:spcAft>
                <a:spcPts val="0"/>
              </a:spcAft>
              <a:buNone/>
            </a:pPr>
            <a:r>
              <a:rPr lang="it" sz="1250"/>
              <a:t>L</a:t>
            </a:r>
            <a:r>
              <a:rPr lang="it" sz="1250"/>
              <a:t>ess data to transfer and low cost of but sensitive to the domain change of sEMG signal.</a:t>
            </a:r>
            <a:endParaRPr sz="1250"/>
          </a:p>
          <a:p>
            <a:pPr indent="0" lvl="0" marL="0" rtl="0" algn="ctr">
              <a:lnSpc>
                <a:spcPct val="130000"/>
              </a:lnSpc>
              <a:spcBef>
                <a:spcPts val="480"/>
              </a:spcBef>
              <a:spcAft>
                <a:spcPts val="0"/>
              </a:spcAft>
              <a:buNone/>
            </a:pPr>
            <a:r>
              <a:rPr lang="it" sz="1260"/>
              <a:t>Gesture Recognition and lightweight prosthesis. </a:t>
            </a:r>
            <a:endParaRPr b="1" sz="1260">
              <a:solidFill>
                <a:schemeClr val="dk1"/>
              </a:solidFill>
            </a:endParaRPr>
          </a:p>
          <a:p>
            <a:pPr indent="0" lvl="0" marL="0" rtl="0" algn="l">
              <a:lnSpc>
                <a:spcPct val="130000"/>
              </a:lnSpc>
              <a:spcBef>
                <a:spcPts val="480"/>
              </a:spcBef>
              <a:spcAft>
                <a:spcPts val="0"/>
              </a:spcAft>
              <a:buNone/>
            </a:pPr>
            <a:r>
              <a:t/>
            </a:r>
            <a:endParaRPr sz="1260" u="sng">
              <a:solidFill>
                <a:schemeClr val="dk2"/>
              </a:solidFill>
            </a:endParaRPr>
          </a:p>
          <a:p>
            <a:pPr indent="0" lvl="0" marL="0" rtl="0" algn="l">
              <a:lnSpc>
                <a:spcPct val="130000"/>
              </a:lnSpc>
              <a:spcBef>
                <a:spcPts val="480"/>
              </a:spcBef>
              <a:spcAft>
                <a:spcPts val="0"/>
              </a:spcAft>
              <a:buNone/>
            </a:pPr>
            <a:r>
              <a:t/>
            </a:r>
            <a:endParaRPr sz="1260"/>
          </a:p>
        </p:txBody>
      </p:sp>
      <p:sp>
        <p:nvSpPr>
          <p:cNvPr id="518" name="Google Shape;518;p56"/>
          <p:cNvSpPr txBox="1"/>
          <p:nvPr/>
        </p:nvSpPr>
        <p:spPr>
          <a:xfrm>
            <a:off x="5165275" y="787200"/>
            <a:ext cx="3392100" cy="29826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Dense / High-Density EMG (32-256 channels)</a:t>
            </a:r>
            <a:endParaRPr b="1" sz="1260">
              <a:solidFill>
                <a:schemeClr val="dk1"/>
              </a:solidFill>
            </a:endParaRPr>
          </a:p>
          <a:p>
            <a:pPr indent="0" lvl="0" marL="0" rtl="0" algn="l">
              <a:lnSpc>
                <a:spcPct val="130000"/>
              </a:lnSpc>
              <a:spcBef>
                <a:spcPts val="480"/>
              </a:spcBef>
              <a:spcAft>
                <a:spcPts val="0"/>
              </a:spcAft>
              <a:buNone/>
            </a:pPr>
            <a:r>
              <a:rPr lang="it" sz="1250"/>
              <a:t>captures the spatial and temporal distribution of motor unit action potentials in muscles through a two-dimensional array of electrodes. This technique increases the amount of data collected and has high recognition efficiency and control quality</a:t>
            </a:r>
            <a:endParaRPr sz="1250"/>
          </a:p>
          <a:p>
            <a:pPr indent="0" lvl="0" marL="0" rtl="0" algn="l">
              <a:lnSpc>
                <a:spcPct val="130000"/>
              </a:lnSpc>
              <a:spcBef>
                <a:spcPts val="480"/>
              </a:spcBef>
              <a:spcAft>
                <a:spcPts val="0"/>
              </a:spcAft>
              <a:buNone/>
            </a:pPr>
            <a:r>
              <a:rPr lang="it" sz="1260"/>
              <a:t>Motoneuronal synergies. </a:t>
            </a:r>
            <a:endParaRPr sz="1260"/>
          </a:p>
          <a:p>
            <a:pPr indent="0" lvl="0" marL="0" rtl="0" algn="l">
              <a:lnSpc>
                <a:spcPct val="130000"/>
              </a:lnSpc>
              <a:spcBef>
                <a:spcPts val="480"/>
              </a:spcBef>
              <a:spcAft>
                <a:spcPts val="0"/>
              </a:spcAft>
              <a:buNone/>
            </a:pPr>
            <a:r>
              <a:rPr lang="it" sz="1260"/>
              <a:t>Dry or textile electrodes for everyday tasks.</a:t>
            </a:r>
            <a:endParaRPr sz="1260"/>
          </a:p>
          <a:p>
            <a:pPr indent="0" lvl="0" marL="0" rtl="0" algn="l">
              <a:lnSpc>
                <a:spcPct val="130000"/>
              </a:lnSpc>
              <a:spcBef>
                <a:spcPts val="480"/>
              </a:spcBef>
              <a:spcAft>
                <a:spcPts val="0"/>
              </a:spcAft>
              <a:buNone/>
            </a:pPr>
            <a:r>
              <a:rPr lang="it" sz="1260"/>
              <a:t>Wet electrodes for research.</a:t>
            </a:r>
            <a:endParaRPr sz="1260"/>
          </a:p>
          <a:p>
            <a:pPr indent="0" lvl="0" marL="0" rtl="0" algn="l">
              <a:lnSpc>
                <a:spcPct val="130000"/>
              </a:lnSpc>
              <a:spcBef>
                <a:spcPts val="480"/>
              </a:spcBef>
              <a:spcAft>
                <a:spcPts val="0"/>
              </a:spcAft>
              <a:buNone/>
            </a:pPr>
            <a:r>
              <a:t/>
            </a:r>
            <a:endParaRPr sz="1260"/>
          </a:p>
        </p:txBody>
      </p:sp>
      <p:sp>
        <p:nvSpPr>
          <p:cNvPr id="519" name="Google Shape;519;p56"/>
          <p:cNvSpPr txBox="1"/>
          <p:nvPr/>
        </p:nvSpPr>
        <p:spPr>
          <a:xfrm>
            <a:off x="773950" y="3849688"/>
            <a:ext cx="7428900" cy="6273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480"/>
              </a:spcBef>
              <a:spcAft>
                <a:spcPts val="0"/>
              </a:spcAft>
              <a:buNone/>
            </a:pPr>
            <a:r>
              <a:rPr lang="it" sz="1250">
                <a:solidFill>
                  <a:schemeClr val="dk1"/>
                </a:solidFill>
              </a:rPr>
              <a:t>For DL, the final prediction results are immediately affected by the quality and quantity of inputs, so the application of HD-sEMG seems to be an effective method to solve myoelectric control problems.</a:t>
            </a:r>
            <a:endParaRPr sz="125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3" name="Shape 523"/>
        <p:cNvGrpSpPr/>
        <p:nvPr/>
      </p:nvGrpSpPr>
      <p:grpSpPr>
        <a:xfrm>
          <a:off x="0" y="0"/>
          <a:ext cx="0" cy="0"/>
          <a:chOff x="0" y="0"/>
          <a:chExt cx="0" cy="0"/>
        </a:xfrm>
      </p:grpSpPr>
      <p:sp>
        <p:nvSpPr>
          <p:cNvPr id="524" name="Google Shape;524;p57"/>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Temporal Phases: Steady-State vs Transient EMG</a:t>
            </a:r>
            <a:endParaRPr>
              <a:solidFill>
                <a:schemeClr val="dk1"/>
              </a:solidFill>
            </a:endParaRPr>
          </a:p>
        </p:txBody>
      </p:sp>
      <p:sp>
        <p:nvSpPr>
          <p:cNvPr id="525" name="Google Shape;525;p57"/>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26" name="Google Shape;526;p57"/>
          <p:cNvSpPr txBox="1"/>
          <p:nvPr/>
        </p:nvSpPr>
        <p:spPr>
          <a:xfrm>
            <a:off x="5309113" y="916375"/>
            <a:ext cx="3572400" cy="3227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Steady-state</a:t>
            </a:r>
            <a:endParaRPr b="1" sz="1260">
              <a:solidFill>
                <a:schemeClr val="dk1"/>
              </a:solidFill>
            </a:endParaRPr>
          </a:p>
          <a:p>
            <a:pPr indent="0" lvl="0" marL="0" rtl="0" algn="ctr">
              <a:lnSpc>
                <a:spcPct val="130000"/>
              </a:lnSpc>
              <a:spcBef>
                <a:spcPts val="480"/>
              </a:spcBef>
              <a:spcAft>
                <a:spcPts val="0"/>
              </a:spcAft>
              <a:buNone/>
            </a:pPr>
            <a:r>
              <a:t/>
            </a:r>
            <a:endParaRPr sz="1250"/>
          </a:p>
          <a:p>
            <a:pPr indent="0" lvl="0" marL="0" rtl="0" algn="l">
              <a:lnSpc>
                <a:spcPct val="130000"/>
              </a:lnSpc>
              <a:spcBef>
                <a:spcPts val="480"/>
              </a:spcBef>
              <a:spcAft>
                <a:spcPts val="0"/>
              </a:spcAft>
              <a:buNone/>
            </a:pPr>
            <a:r>
              <a:rPr lang="it" sz="1250"/>
              <a:t>The </a:t>
            </a:r>
            <a:r>
              <a:rPr b="1" lang="it" sz="1250"/>
              <a:t>steady-state</a:t>
            </a:r>
            <a:r>
              <a:rPr lang="it" sz="1250"/>
              <a:t> is the period when the contraction is </a:t>
            </a:r>
            <a:r>
              <a:rPr b="1" lang="it" sz="1250"/>
              <a:t>sustained at a relatively constant level.</a:t>
            </a:r>
            <a:endParaRPr sz="1250"/>
          </a:p>
          <a:p>
            <a:pPr indent="0" lvl="0" marL="0" rtl="0" algn="l">
              <a:lnSpc>
                <a:spcPct val="130000"/>
              </a:lnSpc>
              <a:spcBef>
                <a:spcPts val="480"/>
              </a:spcBef>
              <a:spcAft>
                <a:spcPts val="0"/>
              </a:spcAft>
              <a:buNone/>
            </a:pPr>
            <a:r>
              <a:rPr lang="it" sz="1250"/>
              <a:t>T</a:t>
            </a:r>
            <a:r>
              <a:rPr lang="it" sz="1250"/>
              <a:t>he EMG signal exhibits very little temporal structure, since the recruitment and firing patterns are actively adjusted to sustain the contraction, resulting in quasi-stationary activity.</a:t>
            </a:r>
            <a:endParaRPr sz="1250"/>
          </a:p>
          <a:p>
            <a:pPr indent="0" lvl="0" marL="0" rtl="0" algn="l">
              <a:lnSpc>
                <a:spcPct val="130000"/>
              </a:lnSpc>
              <a:spcBef>
                <a:spcPts val="480"/>
              </a:spcBef>
              <a:spcAft>
                <a:spcPts val="0"/>
              </a:spcAft>
              <a:buNone/>
            </a:pPr>
            <a:r>
              <a:rPr lang="it" sz="1250"/>
              <a:t>It is useful for </a:t>
            </a:r>
            <a:r>
              <a:rPr lang="it" sz="1250" u="sng">
                <a:solidFill>
                  <a:schemeClr val="dk1"/>
                </a:solidFill>
              </a:rPr>
              <a:t>continuous control / force estimation</a:t>
            </a:r>
            <a:r>
              <a:rPr lang="it" sz="1250"/>
              <a:t> because of proportional relation between EMG amplitude and force. </a:t>
            </a:r>
            <a:endParaRPr sz="1250"/>
          </a:p>
          <a:p>
            <a:pPr indent="0" lvl="0" marL="0" rtl="0" algn="l">
              <a:lnSpc>
                <a:spcPct val="130000"/>
              </a:lnSpc>
              <a:spcBef>
                <a:spcPts val="480"/>
              </a:spcBef>
              <a:spcAft>
                <a:spcPts val="0"/>
              </a:spcAft>
              <a:buNone/>
            </a:pPr>
            <a:r>
              <a:t/>
            </a:r>
            <a:endParaRPr sz="1260" u="sng">
              <a:solidFill>
                <a:schemeClr val="dk2"/>
              </a:solidFill>
            </a:endParaRPr>
          </a:p>
          <a:p>
            <a:pPr indent="0" lvl="0" marL="0" rtl="0" algn="l">
              <a:lnSpc>
                <a:spcPct val="130000"/>
              </a:lnSpc>
              <a:spcBef>
                <a:spcPts val="480"/>
              </a:spcBef>
              <a:spcAft>
                <a:spcPts val="0"/>
              </a:spcAft>
              <a:buNone/>
            </a:pPr>
            <a:r>
              <a:t/>
            </a:r>
            <a:endParaRPr sz="1260"/>
          </a:p>
        </p:txBody>
      </p:sp>
      <p:sp>
        <p:nvSpPr>
          <p:cNvPr id="527" name="Google Shape;527;p57"/>
          <p:cNvSpPr txBox="1"/>
          <p:nvPr/>
        </p:nvSpPr>
        <p:spPr>
          <a:xfrm>
            <a:off x="311700" y="916375"/>
            <a:ext cx="3802800" cy="39792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Transient (Onset/Offset)</a:t>
            </a:r>
            <a:endParaRPr b="1" sz="1260">
              <a:solidFill>
                <a:schemeClr val="dk1"/>
              </a:solidFill>
            </a:endParaRPr>
          </a:p>
          <a:p>
            <a:pPr indent="0" lvl="0" marL="0" rtl="0" algn="ctr">
              <a:lnSpc>
                <a:spcPct val="130000"/>
              </a:lnSpc>
              <a:spcBef>
                <a:spcPts val="480"/>
              </a:spcBef>
              <a:spcAft>
                <a:spcPts val="0"/>
              </a:spcAft>
              <a:buNone/>
            </a:pPr>
            <a:r>
              <a:t/>
            </a:r>
            <a:endParaRPr sz="1260"/>
          </a:p>
          <a:p>
            <a:pPr indent="0" lvl="0" marL="0" rtl="0" algn="l">
              <a:lnSpc>
                <a:spcPct val="130000"/>
              </a:lnSpc>
              <a:spcBef>
                <a:spcPts val="480"/>
              </a:spcBef>
              <a:spcAft>
                <a:spcPts val="0"/>
              </a:spcAft>
              <a:buNone/>
            </a:pPr>
            <a:r>
              <a:rPr lang="it" sz="1250"/>
              <a:t>The </a:t>
            </a:r>
            <a:r>
              <a:rPr b="1" lang="it" sz="1250"/>
              <a:t>transient state</a:t>
            </a:r>
            <a:r>
              <a:rPr lang="it" sz="1250"/>
              <a:t> is the </a:t>
            </a:r>
            <a:r>
              <a:rPr b="1" lang="it" sz="1250"/>
              <a:t>short time interval</a:t>
            </a:r>
            <a:r>
              <a:rPr lang="it" sz="1250"/>
              <a:t> in which the muscle changes from rest to active contraction, Onset (or vice versa, Offset)</a:t>
            </a:r>
            <a:endParaRPr sz="1250"/>
          </a:p>
          <a:p>
            <a:pPr indent="0" lvl="0" marL="0" rtl="0" algn="l">
              <a:lnSpc>
                <a:spcPct val="130000"/>
              </a:lnSpc>
              <a:spcBef>
                <a:spcPts val="480"/>
              </a:spcBef>
              <a:spcAft>
                <a:spcPts val="0"/>
              </a:spcAft>
              <a:buNone/>
            </a:pPr>
            <a:r>
              <a:rPr lang="it" sz="1260"/>
              <a:t>The rapid recruitment of new motor units and the changes in firing rates introduce rich temporal dynamics that are </a:t>
            </a:r>
            <a:r>
              <a:rPr lang="it" sz="1260" u="sng">
                <a:solidFill>
                  <a:schemeClr val="dk1"/>
                </a:solidFill>
              </a:rPr>
              <a:t>highly discriminative</a:t>
            </a:r>
            <a:r>
              <a:rPr lang="it" sz="1260"/>
              <a:t> of specific movements.</a:t>
            </a:r>
            <a:r>
              <a:rPr lang="it" sz="1260"/>
              <a:t>   </a:t>
            </a:r>
            <a:endParaRPr sz="1260"/>
          </a:p>
          <a:p>
            <a:pPr indent="0" lvl="0" marL="0" rtl="0" algn="l">
              <a:lnSpc>
                <a:spcPct val="130000"/>
              </a:lnSpc>
              <a:spcBef>
                <a:spcPts val="480"/>
              </a:spcBef>
              <a:spcAft>
                <a:spcPts val="0"/>
              </a:spcAft>
              <a:buNone/>
            </a:pPr>
            <a:r>
              <a:rPr lang="it" sz="1250"/>
              <a:t>It enables </a:t>
            </a:r>
            <a:r>
              <a:rPr lang="it" sz="1250" u="sng">
                <a:solidFill>
                  <a:schemeClr val="dk1"/>
                </a:solidFill>
              </a:rPr>
              <a:t>low-latency</a:t>
            </a:r>
            <a:r>
              <a:rPr lang="it" sz="1250"/>
              <a:t>, anticipatory control in prosthetics and VR.</a:t>
            </a:r>
            <a:endParaRPr sz="1250"/>
          </a:p>
          <a:p>
            <a:pPr indent="0" lvl="0" marL="0" rtl="0" algn="l">
              <a:lnSpc>
                <a:spcPct val="130000"/>
              </a:lnSpc>
              <a:spcBef>
                <a:spcPts val="480"/>
              </a:spcBef>
              <a:spcAft>
                <a:spcPts val="0"/>
              </a:spcAft>
              <a:buNone/>
            </a:pPr>
            <a:r>
              <a:rPr lang="it" sz="1250"/>
              <a:t>Transient Detection: Onset Detection Algorithm (ODA) </a:t>
            </a:r>
            <a:endParaRPr sz="125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1" name="Shape 531"/>
        <p:cNvGrpSpPr/>
        <p:nvPr/>
      </p:nvGrpSpPr>
      <p:grpSpPr>
        <a:xfrm>
          <a:off x="0" y="0"/>
          <a:ext cx="0" cy="0"/>
          <a:chOff x="0" y="0"/>
          <a:chExt cx="0" cy="0"/>
        </a:xfrm>
      </p:grpSpPr>
      <p:sp>
        <p:nvSpPr>
          <p:cNvPr id="532" name="Google Shape;532;p58"/>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Temporal Phases: Steady-State vs Transient EMG</a:t>
            </a:r>
            <a:endParaRPr>
              <a:solidFill>
                <a:schemeClr val="dk1"/>
              </a:solidFill>
            </a:endParaRPr>
          </a:p>
        </p:txBody>
      </p:sp>
      <p:sp>
        <p:nvSpPr>
          <p:cNvPr id="533" name="Google Shape;533;p58"/>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34" name="Google Shape;534;p58"/>
          <p:cNvSpPr txBox="1"/>
          <p:nvPr/>
        </p:nvSpPr>
        <p:spPr>
          <a:xfrm>
            <a:off x="5259888" y="957900"/>
            <a:ext cx="3572400" cy="3227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Steady-state Detection</a:t>
            </a:r>
            <a:endParaRPr b="1" sz="1260">
              <a:solidFill>
                <a:schemeClr val="dk1"/>
              </a:solidFill>
            </a:endParaRPr>
          </a:p>
          <a:p>
            <a:pPr indent="0" lvl="0" marL="0" rtl="0" algn="ctr">
              <a:lnSpc>
                <a:spcPct val="130000"/>
              </a:lnSpc>
              <a:spcBef>
                <a:spcPts val="480"/>
              </a:spcBef>
              <a:spcAft>
                <a:spcPts val="0"/>
              </a:spcAft>
              <a:buNone/>
            </a:pPr>
            <a:r>
              <a:t/>
            </a:r>
            <a:endParaRPr b="1" sz="1260">
              <a:solidFill>
                <a:schemeClr val="dk1"/>
              </a:solidFill>
            </a:endParaRPr>
          </a:p>
          <a:p>
            <a:pPr indent="0" lvl="0" marL="342900" rtl="0" algn="l">
              <a:lnSpc>
                <a:spcPct val="130000"/>
              </a:lnSpc>
              <a:spcBef>
                <a:spcPts val="480"/>
              </a:spcBef>
              <a:spcAft>
                <a:spcPts val="0"/>
              </a:spcAft>
              <a:buNone/>
            </a:pPr>
            <a:r>
              <a:rPr lang="it" sz="1250"/>
              <a:t>Once the onset has been detected we can </a:t>
            </a:r>
            <a:r>
              <a:rPr lang="it" sz="1250"/>
              <a:t>find</a:t>
            </a:r>
            <a:r>
              <a:rPr lang="it" sz="1250"/>
              <a:t> when the EMG </a:t>
            </a:r>
            <a:r>
              <a:rPr lang="it" sz="1250"/>
              <a:t>signal</a:t>
            </a:r>
            <a:r>
              <a:rPr lang="it" sz="1250"/>
              <a:t> stabilizes with several methods: derivative-based, statistical window stability, plateau detection with energy metrics, model-based segmentation. </a:t>
            </a:r>
            <a:endParaRPr sz="1250"/>
          </a:p>
          <a:p>
            <a:pPr indent="0" lvl="0" marL="0" rtl="0" algn="l">
              <a:lnSpc>
                <a:spcPct val="130000"/>
              </a:lnSpc>
              <a:spcBef>
                <a:spcPts val="480"/>
              </a:spcBef>
              <a:spcAft>
                <a:spcPts val="0"/>
              </a:spcAft>
              <a:buNone/>
            </a:pPr>
            <a:r>
              <a:t/>
            </a:r>
            <a:endParaRPr sz="1250"/>
          </a:p>
          <a:p>
            <a:pPr indent="0" lvl="0" marL="0" rtl="0" algn="l">
              <a:lnSpc>
                <a:spcPct val="130000"/>
              </a:lnSpc>
              <a:spcBef>
                <a:spcPts val="480"/>
              </a:spcBef>
              <a:spcAft>
                <a:spcPts val="0"/>
              </a:spcAft>
              <a:buNone/>
            </a:pPr>
            <a:r>
              <a:t/>
            </a:r>
            <a:endParaRPr sz="1260" u="sng">
              <a:solidFill>
                <a:schemeClr val="dk2"/>
              </a:solidFill>
            </a:endParaRPr>
          </a:p>
          <a:p>
            <a:pPr indent="0" lvl="0" marL="0" rtl="0" algn="l">
              <a:lnSpc>
                <a:spcPct val="130000"/>
              </a:lnSpc>
              <a:spcBef>
                <a:spcPts val="480"/>
              </a:spcBef>
              <a:spcAft>
                <a:spcPts val="0"/>
              </a:spcAft>
              <a:buNone/>
            </a:pPr>
            <a:r>
              <a:t/>
            </a:r>
            <a:endParaRPr sz="1260"/>
          </a:p>
        </p:txBody>
      </p:sp>
      <p:sp>
        <p:nvSpPr>
          <p:cNvPr id="535" name="Google Shape;535;p58"/>
          <p:cNvSpPr txBox="1"/>
          <p:nvPr/>
        </p:nvSpPr>
        <p:spPr>
          <a:xfrm>
            <a:off x="311700" y="1010775"/>
            <a:ext cx="3802800" cy="5727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480"/>
              </a:spcBef>
              <a:spcAft>
                <a:spcPts val="0"/>
              </a:spcAft>
              <a:buNone/>
            </a:pPr>
            <a:r>
              <a:rPr b="1" lang="it" sz="1260">
                <a:solidFill>
                  <a:schemeClr val="dk1"/>
                </a:solidFill>
              </a:rPr>
              <a:t>Transient Detection (ODA)</a:t>
            </a:r>
            <a:endParaRPr b="1" sz="1260">
              <a:solidFill>
                <a:schemeClr val="dk1"/>
              </a:solidFill>
            </a:endParaRPr>
          </a:p>
          <a:p>
            <a:pPr indent="0" lvl="0" marL="0" rtl="0" algn="ctr">
              <a:lnSpc>
                <a:spcPct val="130000"/>
              </a:lnSpc>
              <a:spcBef>
                <a:spcPts val="480"/>
              </a:spcBef>
              <a:spcAft>
                <a:spcPts val="0"/>
              </a:spcAft>
              <a:buNone/>
            </a:pPr>
            <a:r>
              <a:t/>
            </a:r>
            <a:endParaRPr sz="1260"/>
          </a:p>
          <a:p>
            <a:pPr indent="0" lvl="0" marL="0" rtl="0" algn="l">
              <a:lnSpc>
                <a:spcPct val="130000"/>
              </a:lnSpc>
              <a:spcBef>
                <a:spcPts val="480"/>
              </a:spcBef>
              <a:spcAft>
                <a:spcPts val="0"/>
              </a:spcAft>
              <a:buNone/>
            </a:pPr>
            <a:r>
              <a:t/>
            </a:r>
            <a:endParaRPr sz="1250"/>
          </a:p>
        </p:txBody>
      </p:sp>
      <p:sp>
        <p:nvSpPr>
          <p:cNvPr id="536" name="Google Shape;536;p58"/>
          <p:cNvSpPr txBox="1"/>
          <p:nvPr/>
        </p:nvSpPr>
        <p:spPr>
          <a:xfrm>
            <a:off x="426900" y="1107775"/>
            <a:ext cx="3572400" cy="37878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AutoNum type="arabicPeriod"/>
            </a:pPr>
            <a:r>
              <a:rPr lang="it" sz="1260"/>
              <a:t>Take a baseline window when the muscle is known to be relaxed;</a:t>
            </a:r>
            <a:endParaRPr sz="1260"/>
          </a:p>
          <a:p>
            <a:pPr indent="-269875" lvl="0" marL="342900" rtl="0" algn="l">
              <a:lnSpc>
                <a:spcPct val="130000"/>
              </a:lnSpc>
              <a:spcBef>
                <a:spcPts val="480"/>
              </a:spcBef>
              <a:spcAft>
                <a:spcPts val="0"/>
              </a:spcAft>
              <a:buClr>
                <a:schemeClr val="dk1"/>
              </a:buClr>
              <a:buSzPts val="1250"/>
              <a:buAutoNum type="arabicPeriod"/>
            </a:pPr>
            <a:r>
              <a:rPr lang="it" sz="1250"/>
              <a:t>Compute the </a:t>
            </a:r>
            <a:r>
              <a:rPr b="1" lang="it" sz="1250"/>
              <a:t>root mean square (RMS)</a:t>
            </a:r>
            <a:r>
              <a:rPr lang="it" sz="1250"/>
              <a:t>, </a:t>
            </a:r>
            <a:r>
              <a:rPr b="1" lang="it" sz="1250"/>
              <a:t>mean absolute value (MAV)</a:t>
            </a:r>
            <a:r>
              <a:rPr lang="it" sz="1250"/>
              <a:t>, or even raw amplitude over that period;</a:t>
            </a:r>
            <a:endParaRPr sz="1250"/>
          </a:p>
          <a:p>
            <a:pPr indent="-269875" lvl="0" marL="342900" rtl="0" algn="l">
              <a:lnSpc>
                <a:spcPct val="130000"/>
              </a:lnSpc>
              <a:spcBef>
                <a:spcPts val="480"/>
              </a:spcBef>
              <a:spcAft>
                <a:spcPts val="0"/>
              </a:spcAft>
              <a:buClr>
                <a:schemeClr val="dk1"/>
              </a:buClr>
              <a:buSzPts val="1250"/>
              <a:buAutoNum type="arabicPeriod"/>
            </a:pPr>
            <a:r>
              <a:rPr lang="it" sz="1250"/>
              <a:t>Compute the mean and the standard deviation of the EMG amplitude during the rest period. </a:t>
            </a:r>
            <a:endParaRPr sz="1250"/>
          </a:p>
          <a:p>
            <a:pPr indent="-269875" lvl="0" marL="342900" rtl="0" algn="l">
              <a:lnSpc>
                <a:spcPct val="130000"/>
              </a:lnSpc>
              <a:spcBef>
                <a:spcPts val="480"/>
              </a:spcBef>
              <a:spcAft>
                <a:spcPts val="0"/>
              </a:spcAft>
              <a:buClr>
                <a:schemeClr val="dk1"/>
              </a:buClr>
              <a:buSzPts val="1250"/>
              <a:buAutoNum type="arabicPeriod"/>
            </a:pPr>
            <a:r>
              <a:t/>
            </a:r>
            <a:endParaRPr sz="1250"/>
          </a:p>
          <a:p>
            <a:pPr indent="457200" lvl="0" marL="0" rtl="0" algn="l">
              <a:lnSpc>
                <a:spcPct val="130000"/>
              </a:lnSpc>
              <a:spcBef>
                <a:spcPts val="480"/>
              </a:spcBef>
              <a:spcAft>
                <a:spcPts val="0"/>
              </a:spcAft>
              <a:buNone/>
            </a:pPr>
            <a:r>
              <a:rPr lang="it" sz="1250"/>
              <a:t>  </a:t>
            </a:r>
            <a:endParaRPr sz="1100"/>
          </a:p>
          <a:p>
            <a:pPr indent="0" lvl="0" marL="0" rtl="0" algn="l">
              <a:lnSpc>
                <a:spcPct val="130000"/>
              </a:lnSpc>
              <a:spcBef>
                <a:spcPts val="480"/>
              </a:spcBef>
              <a:spcAft>
                <a:spcPts val="0"/>
              </a:spcAft>
              <a:buNone/>
            </a:pPr>
            <a:r>
              <a:t/>
            </a:r>
            <a:endParaRPr sz="1260"/>
          </a:p>
        </p:txBody>
      </p:sp>
      <p:pic>
        <p:nvPicPr>
          <p:cNvPr descr="\text{if } \mathrm{RMS}(t) &gt; \mu_{\text{rest}} + k \cdot \sigma_{\text{rest}} \; \Rightarrow \; \text{ONSET at } t &#10;&#10;%30f446fe-930d-432e-ba1c-5efece0b1821" id="537" name="Google Shape;537;p58"/>
          <p:cNvPicPr preferRelativeResize="0"/>
          <p:nvPr/>
        </p:nvPicPr>
        <p:blipFill>
          <a:blip r:embed="rId3">
            <a:alphaModFix/>
          </a:blip>
          <a:stretch>
            <a:fillRect/>
          </a:stretch>
        </p:blipFill>
        <p:spPr>
          <a:xfrm>
            <a:off x="829225" y="3766275"/>
            <a:ext cx="3707675" cy="2013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1" name="Shape 541"/>
        <p:cNvGrpSpPr/>
        <p:nvPr/>
      </p:nvGrpSpPr>
      <p:grpSpPr>
        <a:xfrm>
          <a:off x="0" y="0"/>
          <a:ext cx="0" cy="0"/>
          <a:chOff x="0" y="0"/>
          <a:chExt cx="0" cy="0"/>
        </a:xfrm>
      </p:grpSpPr>
      <p:sp>
        <p:nvSpPr>
          <p:cNvPr id="542" name="Google Shape;542;p59"/>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Motor Unit &amp; EMG</a:t>
            </a:r>
            <a:endParaRPr>
              <a:solidFill>
                <a:schemeClr val="dk1"/>
              </a:solidFill>
            </a:endParaRPr>
          </a:p>
        </p:txBody>
      </p:sp>
      <p:sp>
        <p:nvSpPr>
          <p:cNvPr id="543" name="Google Shape;543;p59"/>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44" name="Google Shape;544;p59"/>
          <p:cNvSpPr txBox="1"/>
          <p:nvPr/>
        </p:nvSpPr>
        <p:spPr>
          <a:xfrm>
            <a:off x="311700" y="965938"/>
            <a:ext cx="5395800" cy="3412200"/>
          </a:xfrm>
          <a:prstGeom prst="rect">
            <a:avLst/>
          </a:prstGeom>
          <a:noFill/>
          <a:ln>
            <a:noFill/>
          </a:ln>
        </p:spPr>
        <p:txBody>
          <a:bodyPr anchorCtr="0" anchor="t" bIns="91425" lIns="91425" spcFirstLastPara="1" rIns="91425" wrap="square" tIns="91425">
            <a:noAutofit/>
          </a:bodyPr>
          <a:lstStyle/>
          <a:p>
            <a:pPr indent="-298450" lvl="0" marL="457200" rtl="0" algn="l">
              <a:lnSpc>
                <a:spcPct val="130000"/>
              </a:lnSpc>
              <a:spcBef>
                <a:spcPts val="480"/>
              </a:spcBef>
              <a:spcAft>
                <a:spcPts val="0"/>
              </a:spcAft>
              <a:buClr>
                <a:schemeClr val="dk1"/>
              </a:buClr>
              <a:buSzPts val="1100"/>
              <a:buChar char="●"/>
            </a:pPr>
            <a:r>
              <a:rPr b="1" lang="it" sz="1100"/>
              <a:t>Motor unit (MU):</a:t>
            </a:r>
            <a:r>
              <a:rPr lang="it" sz="1100"/>
              <a:t> 1 alpha motor neuron + all innervated muscle fibers</a:t>
            </a:r>
            <a:endParaRPr sz="1100"/>
          </a:p>
          <a:p>
            <a:pPr indent="-298450" lvl="0" marL="457200" rtl="0" algn="l">
              <a:lnSpc>
                <a:spcPct val="130000"/>
              </a:lnSpc>
              <a:spcBef>
                <a:spcPts val="0"/>
              </a:spcBef>
              <a:spcAft>
                <a:spcPts val="0"/>
              </a:spcAft>
              <a:buClr>
                <a:schemeClr val="dk1"/>
              </a:buClr>
              <a:buSzPts val="1100"/>
              <a:buChar char="●"/>
            </a:pPr>
            <a:r>
              <a:rPr lang="it" sz="1100"/>
              <a:t>Controlled by </a:t>
            </a:r>
            <a:r>
              <a:rPr b="1" lang="it" sz="1100"/>
              <a:t>CNS</a:t>
            </a:r>
            <a:r>
              <a:rPr lang="it" sz="1100"/>
              <a:t> (brain &amp; spinal cord)</a:t>
            </a:r>
            <a:br>
              <a:rPr lang="it" sz="1100"/>
            </a:br>
            <a:r>
              <a:rPr lang="it" sz="1100"/>
              <a:t>MU generates </a:t>
            </a:r>
            <a:r>
              <a:rPr b="1" lang="it" sz="1100"/>
              <a:t>motor unit action potentials (MUAPs) </a:t>
            </a:r>
            <a:r>
              <a:rPr lang="it" sz="1100"/>
              <a:t>which contains the </a:t>
            </a:r>
            <a:r>
              <a:rPr b="1" lang="it" sz="1100"/>
              <a:t>spatial information</a:t>
            </a:r>
            <a:r>
              <a:rPr lang="it" sz="1100"/>
              <a:t> (amplitude and shape) across the electrode grid. This signature indicates </a:t>
            </a:r>
            <a:r>
              <a:rPr b="1" lang="it" sz="1100"/>
              <a:t>which specific muscle</a:t>
            </a:r>
            <a:r>
              <a:rPr lang="it" sz="1100"/>
              <a:t> was activated and its location, which is crucial for subsequent analysis.</a:t>
            </a:r>
            <a:endParaRPr b="1" sz="1100"/>
          </a:p>
          <a:p>
            <a:pPr indent="-298450" lvl="0" marL="457200" rtl="0" algn="l">
              <a:lnSpc>
                <a:spcPct val="130000"/>
              </a:lnSpc>
              <a:spcBef>
                <a:spcPts val="0"/>
              </a:spcBef>
              <a:spcAft>
                <a:spcPts val="0"/>
              </a:spcAft>
              <a:buClr>
                <a:schemeClr val="dk1"/>
              </a:buClr>
              <a:buSzPts val="1100"/>
              <a:buChar char="●"/>
            </a:pPr>
            <a:r>
              <a:rPr lang="it" sz="1100"/>
              <a:t>MUAPs </a:t>
            </a:r>
            <a:r>
              <a:rPr b="1" lang="it" sz="1100"/>
              <a:t>summate → surface EMG signal</a:t>
            </a:r>
            <a:endParaRPr b="1" sz="1100"/>
          </a:p>
          <a:p>
            <a:pPr indent="-298450" lvl="0" marL="457200" rtl="0" algn="l">
              <a:lnSpc>
                <a:spcPct val="130000"/>
              </a:lnSpc>
              <a:spcBef>
                <a:spcPts val="0"/>
              </a:spcBef>
              <a:spcAft>
                <a:spcPts val="0"/>
              </a:spcAft>
              <a:buClr>
                <a:schemeClr val="dk1"/>
              </a:buClr>
              <a:buSzPts val="1100"/>
              <a:buChar char="●"/>
            </a:pPr>
            <a:r>
              <a:rPr lang="it" sz="1100"/>
              <a:t>The </a:t>
            </a:r>
            <a:r>
              <a:rPr b="1" lang="it" sz="1100"/>
              <a:t>Motor Unit Spike Train (MUST)</a:t>
            </a:r>
            <a:r>
              <a:rPr lang="it" sz="1100"/>
              <a:t> is the </a:t>
            </a:r>
            <a:r>
              <a:rPr b="1" lang="it" sz="1100"/>
              <a:t>temporal sequence</a:t>
            </a:r>
            <a:r>
              <a:rPr lang="it" sz="1100"/>
              <a:t> (the </a:t>
            </a:r>
            <a:r>
              <a:rPr i="1" lang="it" sz="1100"/>
              <a:t>when</a:t>
            </a:r>
            <a:r>
              <a:rPr lang="it" sz="1100"/>
              <a:t>) of the MN's firing events.</a:t>
            </a:r>
            <a:endParaRPr b="1" sz="1100"/>
          </a:p>
          <a:p>
            <a:pPr indent="-298450" lvl="0" marL="457200" rtl="0" algn="l">
              <a:lnSpc>
                <a:spcPct val="130000"/>
              </a:lnSpc>
              <a:spcBef>
                <a:spcPts val="0"/>
              </a:spcBef>
              <a:spcAft>
                <a:spcPts val="0"/>
              </a:spcAft>
              <a:buClr>
                <a:schemeClr val="dk1"/>
              </a:buClr>
              <a:buSzPts val="1100"/>
              <a:buChar char="●"/>
            </a:pPr>
            <a:r>
              <a:rPr lang="it" sz="1100"/>
              <a:t>1 MU innervates </a:t>
            </a:r>
            <a:r>
              <a:rPr b="1" lang="it" sz="1100"/>
              <a:t>only part of a muscle</a:t>
            </a:r>
            <a:r>
              <a:rPr lang="it" sz="1100"/>
              <a:t>, not the whole muscle</a:t>
            </a:r>
            <a:endParaRPr sz="1100"/>
          </a:p>
          <a:p>
            <a:pPr indent="-298450" lvl="0" marL="457200" rtl="0" algn="l">
              <a:lnSpc>
                <a:spcPct val="130000"/>
              </a:lnSpc>
              <a:spcBef>
                <a:spcPts val="0"/>
              </a:spcBef>
              <a:spcAft>
                <a:spcPts val="0"/>
              </a:spcAft>
              <a:buClr>
                <a:schemeClr val="dk1"/>
              </a:buClr>
              <a:buSzPts val="1100"/>
              <a:buChar char="●"/>
            </a:pPr>
            <a:r>
              <a:rPr b="1" lang="it" sz="1100"/>
              <a:t>Alpha motor neurons</a:t>
            </a:r>
            <a:r>
              <a:rPr lang="it" sz="1100"/>
              <a:t> originate in spinal cord</a:t>
            </a:r>
            <a:endParaRPr sz="1100"/>
          </a:p>
          <a:p>
            <a:pPr indent="-298450" lvl="0" marL="457200" rtl="0" algn="l">
              <a:lnSpc>
                <a:spcPct val="130000"/>
              </a:lnSpc>
              <a:spcBef>
                <a:spcPts val="0"/>
              </a:spcBef>
              <a:spcAft>
                <a:spcPts val="0"/>
              </a:spcAft>
              <a:buClr>
                <a:schemeClr val="dk1"/>
              </a:buClr>
              <a:buSzPts val="1100"/>
              <a:buChar char="●"/>
            </a:pPr>
            <a:r>
              <a:rPr b="1" lang="it" sz="1100"/>
              <a:t>Fine movement muscles</a:t>
            </a:r>
            <a:r>
              <a:rPr lang="it" sz="1100"/>
              <a:t> (e.g., hand) → </a:t>
            </a:r>
            <a:r>
              <a:rPr b="1" lang="it" sz="1100"/>
              <a:t>small MUs</a:t>
            </a:r>
            <a:r>
              <a:rPr lang="it" sz="1100"/>
              <a:t>, &lt;10 fibers per neuron</a:t>
            </a:r>
            <a:endParaRPr sz="1100"/>
          </a:p>
          <a:p>
            <a:pPr indent="-298450" lvl="0" marL="457200" rtl="0" algn="l">
              <a:lnSpc>
                <a:spcPct val="130000"/>
              </a:lnSpc>
              <a:spcBef>
                <a:spcPts val="0"/>
              </a:spcBef>
              <a:spcAft>
                <a:spcPts val="0"/>
              </a:spcAft>
              <a:buClr>
                <a:schemeClr val="dk1"/>
              </a:buClr>
              <a:buSzPts val="1100"/>
              <a:buChar char="●"/>
            </a:pPr>
            <a:r>
              <a:rPr b="1" lang="it" sz="1100"/>
              <a:t>Gross force muscles</a:t>
            </a:r>
            <a:r>
              <a:rPr lang="it" sz="1100"/>
              <a:t> → </a:t>
            </a:r>
            <a:r>
              <a:rPr b="1" lang="it" sz="1100"/>
              <a:t>large MUs</a:t>
            </a:r>
            <a:r>
              <a:rPr lang="it" sz="1100"/>
              <a:t>, hundreds–&gt;1000 fibers per neuron</a:t>
            </a:r>
            <a:endParaRPr sz="1100"/>
          </a:p>
          <a:p>
            <a:pPr indent="0" lvl="0" marL="457200" rtl="0" algn="l">
              <a:lnSpc>
                <a:spcPct val="130000"/>
              </a:lnSpc>
              <a:spcBef>
                <a:spcPts val="480"/>
              </a:spcBef>
              <a:spcAft>
                <a:spcPts val="0"/>
              </a:spcAft>
              <a:buNone/>
            </a:pPr>
            <a:r>
              <a:t/>
            </a:r>
            <a:endParaRPr sz="1100">
              <a:solidFill>
                <a:srgbClr val="1A1A1A"/>
              </a:solidFill>
            </a:endParaRPr>
          </a:p>
        </p:txBody>
      </p:sp>
      <p:pic>
        <p:nvPicPr>
          <p:cNvPr id="545" name="Google Shape;545;p59" title="Screenshot from 2025-10-02 21-02-38.png"/>
          <p:cNvPicPr preferRelativeResize="0"/>
          <p:nvPr/>
        </p:nvPicPr>
        <p:blipFill>
          <a:blip r:embed="rId3">
            <a:alphaModFix/>
          </a:blip>
          <a:stretch>
            <a:fillRect/>
          </a:stretch>
        </p:blipFill>
        <p:spPr>
          <a:xfrm>
            <a:off x="6032160" y="2389822"/>
            <a:ext cx="2920306" cy="1977953"/>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9" name="Shape 549"/>
        <p:cNvGrpSpPr/>
        <p:nvPr/>
      </p:nvGrpSpPr>
      <p:grpSpPr>
        <a:xfrm>
          <a:off x="0" y="0"/>
          <a:ext cx="0" cy="0"/>
          <a:chOff x="0" y="0"/>
          <a:chExt cx="0" cy="0"/>
        </a:xfrm>
      </p:grpSpPr>
      <p:sp>
        <p:nvSpPr>
          <p:cNvPr id="550" name="Google Shape;550;p60"/>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Motor Unit &amp; EMG</a:t>
            </a:r>
            <a:endParaRPr>
              <a:solidFill>
                <a:schemeClr val="dk1"/>
              </a:solidFill>
            </a:endParaRPr>
          </a:p>
        </p:txBody>
      </p:sp>
      <p:sp>
        <p:nvSpPr>
          <p:cNvPr id="551" name="Google Shape;551;p60"/>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52" name="Google Shape;552;p60"/>
          <p:cNvSpPr txBox="1"/>
          <p:nvPr/>
        </p:nvSpPr>
        <p:spPr>
          <a:xfrm>
            <a:off x="311700" y="1192350"/>
            <a:ext cx="5395800" cy="4648500"/>
          </a:xfrm>
          <a:prstGeom prst="rect">
            <a:avLst/>
          </a:prstGeom>
          <a:noFill/>
          <a:ln>
            <a:noFill/>
          </a:ln>
        </p:spPr>
        <p:txBody>
          <a:bodyPr anchorCtr="0" anchor="t" bIns="91425" lIns="91425" spcFirstLastPara="1" rIns="91425" wrap="square" tIns="91425">
            <a:noAutofit/>
          </a:bodyPr>
          <a:lstStyle/>
          <a:p>
            <a:pPr indent="-298450" lvl="0" marL="457200" rtl="0" algn="l">
              <a:lnSpc>
                <a:spcPct val="130000"/>
              </a:lnSpc>
              <a:spcBef>
                <a:spcPts val="480"/>
              </a:spcBef>
              <a:spcAft>
                <a:spcPts val="0"/>
              </a:spcAft>
              <a:buClr>
                <a:schemeClr val="dk1"/>
              </a:buClr>
              <a:buSzPts val="1100"/>
              <a:buChar char="●"/>
            </a:pPr>
            <a:r>
              <a:rPr lang="it" sz="1100"/>
              <a:t>CNS  sends </a:t>
            </a:r>
            <a:r>
              <a:rPr b="1" lang="it" sz="1100"/>
              <a:t>common input to groups of MNs</a:t>
            </a:r>
            <a:r>
              <a:rPr lang="it" sz="1100"/>
              <a:t> (MN synergies)</a:t>
            </a:r>
            <a:endParaRPr sz="1100"/>
          </a:p>
          <a:p>
            <a:pPr indent="-298450" lvl="0" marL="457200" rtl="0" algn="l">
              <a:lnSpc>
                <a:spcPct val="130000"/>
              </a:lnSpc>
              <a:spcBef>
                <a:spcPts val="0"/>
              </a:spcBef>
              <a:spcAft>
                <a:spcPts val="0"/>
              </a:spcAft>
              <a:buClr>
                <a:schemeClr val="dk1"/>
              </a:buClr>
              <a:buSzPts val="1100"/>
              <a:buChar char="●"/>
            </a:pPr>
            <a:r>
              <a:rPr lang="it" sz="1100"/>
              <a:t>Each synergy = </a:t>
            </a:r>
            <a:r>
              <a:rPr b="1" lang="it" sz="1100"/>
              <a:t>switch activating specific MN pattern</a:t>
            </a:r>
            <a:endParaRPr b="1" sz="1100"/>
          </a:p>
          <a:p>
            <a:pPr indent="-298450" lvl="0" marL="457200" rtl="0" algn="l">
              <a:lnSpc>
                <a:spcPct val="130000"/>
              </a:lnSpc>
              <a:spcBef>
                <a:spcPts val="0"/>
              </a:spcBef>
              <a:spcAft>
                <a:spcPts val="0"/>
              </a:spcAft>
              <a:buClr>
                <a:schemeClr val="dk1"/>
              </a:buClr>
              <a:buSzPts val="1100"/>
              <a:buChar char="●"/>
            </a:pPr>
            <a:r>
              <a:rPr b="1" lang="it" sz="1100"/>
              <a:t>Activation primitive:</a:t>
            </a:r>
            <a:r>
              <a:rPr lang="it" sz="1100"/>
              <a:t> turns synergy on/off, modulates intensity</a:t>
            </a:r>
            <a:endParaRPr sz="1100"/>
          </a:p>
          <a:p>
            <a:pPr indent="-298450" lvl="0" marL="457200" rtl="0" algn="l">
              <a:lnSpc>
                <a:spcPct val="130000"/>
              </a:lnSpc>
              <a:spcBef>
                <a:spcPts val="0"/>
              </a:spcBef>
              <a:spcAft>
                <a:spcPts val="0"/>
              </a:spcAft>
              <a:buClr>
                <a:schemeClr val="dk1"/>
              </a:buClr>
              <a:buSzPts val="1100"/>
              <a:buChar char="●"/>
            </a:pPr>
            <a:r>
              <a:rPr b="1" lang="it" sz="1100"/>
              <a:t>Premotor interneurons</a:t>
            </a:r>
            <a:r>
              <a:rPr lang="it" sz="1100"/>
              <a:t> integrate and distribute this common input to the appropriate MN groups</a:t>
            </a:r>
            <a:r>
              <a:rPr lang="it" sz="1100"/>
              <a:t>.</a:t>
            </a:r>
            <a:endParaRPr sz="1100"/>
          </a:p>
          <a:p>
            <a:pPr indent="-298450" lvl="0" marL="457200" rtl="0" algn="l">
              <a:lnSpc>
                <a:spcPct val="130000"/>
              </a:lnSpc>
              <a:spcBef>
                <a:spcPts val="0"/>
              </a:spcBef>
              <a:spcAft>
                <a:spcPts val="0"/>
              </a:spcAft>
              <a:buClr>
                <a:schemeClr val="dk1"/>
              </a:buClr>
              <a:buSzPts val="1100"/>
              <a:buChar char="●"/>
            </a:pPr>
            <a:r>
              <a:rPr lang="it" sz="1100"/>
              <a:t>Each MU  generates a </a:t>
            </a:r>
            <a:r>
              <a:rPr b="1" lang="it" sz="1100"/>
              <a:t>motor unit action potential (MUAP)</a:t>
            </a:r>
            <a:r>
              <a:rPr lang="it" sz="1100"/>
              <a:t>, and the </a:t>
            </a:r>
            <a:r>
              <a:rPr b="1" lang="it" sz="1100"/>
              <a:t>superposition of all MUAPs</a:t>
            </a:r>
            <a:r>
              <a:rPr lang="it" sz="1100"/>
              <a:t> forms the </a:t>
            </a:r>
            <a:r>
              <a:rPr b="1" lang="it" sz="1100"/>
              <a:t>surface EMG signal</a:t>
            </a:r>
            <a:r>
              <a:rPr lang="it" sz="1100"/>
              <a:t>.</a:t>
            </a:r>
            <a:endParaRPr sz="1100"/>
          </a:p>
          <a:p>
            <a:pPr indent="-298450" lvl="0" marL="457200" rtl="0" algn="l">
              <a:lnSpc>
                <a:spcPct val="130000"/>
              </a:lnSpc>
              <a:spcBef>
                <a:spcPts val="0"/>
              </a:spcBef>
              <a:spcAft>
                <a:spcPts val="0"/>
              </a:spcAft>
              <a:buSzPts val="1100"/>
              <a:buChar char="●"/>
            </a:pPr>
            <a:r>
              <a:rPr b="1" lang="it" sz="1100"/>
              <a:t>Non-negative Matrix Factorization (NMF)</a:t>
            </a:r>
            <a:r>
              <a:rPr lang="it" sz="1100"/>
              <a:t>  extract </a:t>
            </a:r>
            <a:r>
              <a:rPr b="1" lang="it" sz="1100"/>
              <a:t>synergy weights</a:t>
            </a:r>
            <a:r>
              <a:rPr lang="it" sz="1100"/>
              <a:t> for each MU, identifying </a:t>
            </a:r>
            <a:r>
              <a:rPr b="1" lang="it" sz="1100"/>
              <a:t>common activation patterns</a:t>
            </a:r>
            <a:r>
              <a:rPr lang="it" sz="1100"/>
              <a:t>.</a:t>
            </a:r>
            <a:endParaRPr sz="1100"/>
          </a:p>
          <a:p>
            <a:pPr indent="-298450" lvl="0" marL="457200" rtl="0" algn="l">
              <a:lnSpc>
                <a:spcPct val="130000"/>
              </a:lnSpc>
              <a:spcBef>
                <a:spcPts val="0"/>
              </a:spcBef>
              <a:spcAft>
                <a:spcPts val="0"/>
              </a:spcAft>
              <a:buSzPts val="1100"/>
              <a:buChar char="●"/>
            </a:pPr>
            <a:r>
              <a:rPr lang="it" sz="1100"/>
              <a:t>MUs with a </a:t>
            </a:r>
            <a:r>
              <a:rPr b="1" lang="it" sz="1100"/>
              <a:t>high signal-to-noise ratio (SNR)</a:t>
            </a:r>
            <a:r>
              <a:rPr lang="it" sz="1100"/>
              <a:t> or </a:t>
            </a:r>
            <a:r>
              <a:rPr b="1" lang="it" sz="1100"/>
              <a:t>distinct firing patterns</a:t>
            </a:r>
            <a:r>
              <a:rPr lang="it" sz="1100"/>
              <a:t> can be </a:t>
            </a:r>
            <a:r>
              <a:rPr b="1" lang="it" sz="1100"/>
              <a:t>isolated</a:t>
            </a:r>
            <a:r>
              <a:rPr lang="it" sz="1100"/>
              <a:t> for more detailed analysis.</a:t>
            </a:r>
            <a:endParaRPr sz="1100"/>
          </a:p>
          <a:p>
            <a:pPr indent="0" lvl="0" marL="0" rtl="0" algn="l">
              <a:lnSpc>
                <a:spcPct val="130000"/>
              </a:lnSpc>
              <a:spcBef>
                <a:spcPts val="480"/>
              </a:spcBef>
              <a:spcAft>
                <a:spcPts val="0"/>
              </a:spcAft>
              <a:buNone/>
            </a:pPr>
            <a:r>
              <a:t/>
            </a:r>
            <a:endParaRPr sz="1100"/>
          </a:p>
          <a:p>
            <a:pPr indent="0" lvl="0" marL="457200" rtl="0" algn="l">
              <a:lnSpc>
                <a:spcPct val="130000"/>
              </a:lnSpc>
              <a:spcBef>
                <a:spcPts val="480"/>
              </a:spcBef>
              <a:spcAft>
                <a:spcPts val="0"/>
              </a:spcAft>
              <a:buNone/>
            </a:pPr>
            <a:r>
              <a:t/>
            </a:r>
            <a:endParaRPr sz="1100">
              <a:solidFill>
                <a:srgbClr val="1A1A1A"/>
              </a:solidFill>
            </a:endParaRPr>
          </a:p>
        </p:txBody>
      </p:sp>
      <p:pic>
        <p:nvPicPr>
          <p:cNvPr id="553" name="Google Shape;553;p60" title="Screenshot from 2025-10-02 21-02-38.png"/>
          <p:cNvPicPr preferRelativeResize="0"/>
          <p:nvPr/>
        </p:nvPicPr>
        <p:blipFill>
          <a:blip r:embed="rId3">
            <a:alphaModFix/>
          </a:blip>
          <a:stretch>
            <a:fillRect/>
          </a:stretch>
        </p:blipFill>
        <p:spPr>
          <a:xfrm>
            <a:off x="6032160" y="2389822"/>
            <a:ext cx="2920306" cy="197795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7" name="Shape 557"/>
        <p:cNvGrpSpPr/>
        <p:nvPr/>
      </p:nvGrpSpPr>
      <p:grpSpPr>
        <a:xfrm>
          <a:off x="0" y="0"/>
          <a:ext cx="0" cy="0"/>
          <a:chOff x="0" y="0"/>
          <a:chExt cx="0" cy="0"/>
        </a:xfrm>
      </p:grpSpPr>
      <p:sp>
        <p:nvSpPr>
          <p:cNvPr id="558" name="Google Shape;558;p61"/>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Non-Negative Matrix Factorization (NMF)</a:t>
            </a:r>
            <a:endParaRPr>
              <a:solidFill>
                <a:schemeClr val="dk1"/>
              </a:solidFill>
            </a:endParaRPr>
          </a:p>
        </p:txBody>
      </p:sp>
      <p:sp>
        <p:nvSpPr>
          <p:cNvPr id="559" name="Google Shape;559;p61"/>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60" name="Google Shape;560;p61"/>
          <p:cNvSpPr txBox="1"/>
          <p:nvPr/>
        </p:nvSpPr>
        <p:spPr>
          <a:xfrm>
            <a:off x="248075" y="1001525"/>
            <a:ext cx="8520600" cy="3133200"/>
          </a:xfrm>
          <a:prstGeom prst="rect">
            <a:avLst/>
          </a:prstGeom>
          <a:noFill/>
          <a:ln>
            <a:noFill/>
          </a:ln>
        </p:spPr>
        <p:txBody>
          <a:bodyPr anchorCtr="0" anchor="t" bIns="91425" lIns="91425" spcFirstLastPara="1" rIns="91425" wrap="square" tIns="91425">
            <a:noAutofit/>
          </a:bodyPr>
          <a:lstStyle/>
          <a:p>
            <a:pPr indent="0" lvl="0" marL="45720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rPr lang="it" sz="1100" u="sng">
                <a:solidFill>
                  <a:schemeClr val="dk1"/>
                </a:solidFill>
              </a:rPr>
              <a:t>Input Matrix (V)</a:t>
            </a:r>
            <a:r>
              <a:rPr lang="it" sz="1100"/>
              <a:t>: </a:t>
            </a:r>
            <a:r>
              <a:rPr lang="it" sz="1100"/>
              <a:t>The matrix containing the </a:t>
            </a:r>
            <a:r>
              <a:rPr b="1" lang="it" sz="1100"/>
              <a:t>neural drivers (MUSTs)</a:t>
            </a:r>
            <a:r>
              <a:rPr lang="it" sz="1100"/>
              <a:t> or muscular envelopes across all time points and all Motoneurons (or channels). </a:t>
            </a:r>
            <a:endParaRPr b="1" sz="1100"/>
          </a:p>
          <a:p>
            <a:pPr indent="0" lvl="0" marL="0" rtl="0" algn="l">
              <a:lnSpc>
                <a:spcPct val="130000"/>
              </a:lnSpc>
              <a:spcBef>
                <a:spcPts val="480"/>
              </a:spcBef>
              <a:spcAft>
                <a:spcPts val="0"/>
              </a:spcAft>
              <a:buNone/>
            </a:pPr>
            <a:r>
              <a:rPr lang="it" sz="1100" u="sng">
                <a:solidFill>
                  <a:schemeClr val="dk1"/>
                </a:solidFill>
              </a:rPr>
              <a:t>Factorization Goal</a:t>
            </a:r>
            <a:r>
              <a:rPr lang="it" sz="1100"/>
              <a:t>: NMF decomposes the input matrix (V) into two lower-rank matrices: </a:t>
            </a:r>
            <a:endParaRPr sz="1100"/>
          </a:p>
          <a:p>
            <a:pPr indent="0" lvl="0" marL="0" rtl="0" algn="l">
              <a:lnSpc>
                <a:spcPct val="130000"/>
              </a:lnSpc>
              <a:spcBef>
                <a:spcPts val="480"/>
              </a:spcBef>
              <a:spcAft>
                <a:spcPts val="0"/>
              </a:spcAft>
              <a:buNone/>
            </a:pPr>
            <a:r>
              <a:rPr lang="it" sz="1100" u="sng">
                <a:solidFill>
                  <a:schemeClr val="dk1"/>
                </a:solidFill>
              </a:rPr>
              <a:t>Minimization Target</a:t>
            </a:r>
            <a:r>
              <a:rPr lang="it" sz="1100"/>
              <a:t>:  </a:t>
            </a:r>
            <a:r>
              <a:rPr lang="it" sz="1100"/>
              <a:t>NMF is an </a:t>
            </a:r>
            <a:r>
              <a:rPr b="1" lang="it" sz="1100"/>
              <a:t>iterative process</a:t>
            </a:r>
            <a:r>
              <a:rPr lang="it" sz="1100"/>
              <a:t> that minimizes the </a:t>
            </a:r>
            <a:r>
              <a:rPr b="1" lang="it" sz="1100"/>
              <a:t>Euclidean distance</a:t>
            </a:r>
            <a:r>
              <a:rPr lang="it" sz="1100"/>
              <a:t> (or other metrics like Kullback-Leibler divergence) between the </a:t>
            </a:r>
            <a:r>
              <a:rPr b="1" lang="it" sz="1100"/>
              <a:t>Original Signal (V)</a:t>
            </a:r>
            <a:r>
              <a:rPr lang="it" sz="1100"/>
              <a:t> and the </a:t>
            </a:r>
            <a:r>
              <a:rPr b="1" lang="it" sz="1100"/>
              <a:t>Reconstruction. </a:t>
            </a:r>
            <a:endParaRPr b="1" sz="1100"/>
          </a:p>
          <a:p>
            <a:pPr indent="0" lvl="0" marL="0" rtl="0" algn="l">
              <a:lnSpc>
                <a:spcPct val="130000"/>
              </a:lnSpc>
              <a:spcBef>
                <a:spcPts val="480"/>
              </a:spcBef>
              <a:spcAft>
                <a:spcPts val="0"/>
              </a:spcAft>
              <a:buNone/>
            </a:pPr>
            <a:r>
              <a:t/>
            </a:r>
            <a:endParaRPr b="1" sz="1100"/>
          </a:p>
          <a:p>
            <a:pPr indent="0" lvl="0" marL="0" rtl="0" algn="l">
              <a:lnSpc>
                <a:spcPct val="130000"/>
              </a:lnSpc>
              <a:spcBef>
                <a:spcPts val="480"/>
              </a:spcBef>
              <a:spcAft>
                <a:spcPts val="0"/>
              </a:spcAft>
              <a:buNone/>
            </a:pPr>
            <a:r>
              <a:rPr b="1" lang="it" sz="1100"/>
              <a:t>The process is run for 100 iterations and repeated 10 times. The solution with the greatest Coefficient of Determination among 10 repetitions is retained for each number of synergies. </a:t>
            </a:r>
            <a:endParaRPr b="1" sz="1100"/>
          </a:p>
          <a:p>
            <a:pPr indent="0" lvl="0" marL="457200" rtl="0" algn="l">
              <a:lnSpc>
                <a:spcPct val="130000"/>
              </a:lnSpc>
              <a:spcBef>
                <a:spcPts val="480"/>
              </a:spcBef>
              <a:spcAft>
                <a:spcPts val="0"/>
              </a:spcAft>
              <a:buNone/>
            </a:pPr>
            <a:r>
              <a:t/>
            </a:r>
            <a:endParaRPr sz="1100">
              <a:solidFill>
                <a:srgbClr val="1A1A1A"/>
              </a:solidFill>
            </a:endParaRPr>
          </a:p>
        </p:txBody>
      </p:sp>
      <p:pic>
        <p:nvPicPr>
          <p:cNvPr id="561" name="Google Shape;561;p61" title="Screenshot from 2025-10-13 20-29-00.png"/>
          <p:cNvPicPr preferRelativeResize="0"/>
          <p:nvPr/>
        </p:nvPicPr>
        <p:blipFill>
          <a:blip r:embed="rId3">
            <a:alphaModFix/>
          </a:blip>
          <a:stretch>
            <a:fillRect/>
          </a:stretch>
        </p:blipFill>
        <p:spPr>
          <a:xfrm>
            <a:off x="6542925" y="1806325"/>
            <a:ext cx="1114425" cy="2857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5" name="Shape 565"/>
        <p:cNvGrpSpPr/>
        <p:nvPr/>
      </p:nvGrpSpPr>
      <p:grpSpPr>
        <a:xfrm>
          <a:off x="0" y="0"/>
          <a:ext cx="0" cy="0"/>
          <a:chOff x="0" y="0"/>
          <a:chExt cx="0" cy="0"/>
        </a:xfrm>
      </p:grpSpPr>
      <p:sp>
        <p:nvSpPr>
          <p:cNvPr id="566" name="Google Shape;566;p62"/>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Signal Processing</a:t>
            </a:r>
            <a:endParaRPr>
              <a:solidFill>
                <a:schemeClr val="dk1"/>
              </a:solidFill>
            </a:endParaRPr>
          </a:p>
        </p:txBody>
      </p:sp>
      <p:sp>
        <p:nvSpPr>
          <p:cNvPr id="567" name="Google Shape;567;p62"/>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68" name="Google Shape;568;p62"/>
          <p:cNvSpPr txBox="1"/>
          <p:nvPr/>
        </p:nvSpPr>
        <p:spPr>
          <a:xfrm>
            <a:off x="311700" y="955575"/>
            <a:ext cx="5395800" cy="3412200"/>
          </a:xfrm>
          <a:prstGeom prst="rect">
            <a:avLst/>
          </a:prstGeom>
          <a:noFill/>
          <a:ln>
            <a:noFill/>
          </a:ln>
        </p:spPr>
        <p:txBody>
          <a:bodyPr anchorCtr="0" anchor="t" bIns="91425" lIns="91425" spcFirstLastPara="1" rIns="91425" wrap="square" tIns="91425">
            <a:noAutofit/>
          </a:bodyPr>
          <a:lstStyle/>
          <a:p>
            <a:pPr indent="-298450" lvl="0" marL="457200" rtl="0" algn="l">
              <a:lnSpc>
                <a:spcPct val="130000"/>
              </a:lnSpc>
              <a:spcBef>
                <a:spcPts val="480"/>
              </a:spcBef>
              <a:spcAft>
                <a:spcPts val="0"/>
              </a:spcAft>
              <a:buClr>
                <a:schemeClr val="dk1"/>
              </a:buClr>
              <a:buSzPts val="1100"/>
              <a:buChar char="➔"/>
            </a:pPr>
            <a:r>
              <a:rPr b="1" lang="it" sz="1100">
                <a:solidFill>
                  <a:schemeClr val="dk1"/>
                </a:solidFill>
              </a:rPr>
              <a:t>Pre-Processing: Cleaning Raw Signal</a:t>
            </a:r>
            <a:endParaRPr sz="1100">
              <a:solidFill>
                <a:schemeClr val="dk1"/>
              </a:solidFill>
            </a:endParaRPr>
          </a:p>
          <a:p>
            <a:pPr indent="0" lvl="0" marL="457200" rtl="0" algn="l">
              <a:lnSpc>
                <a:spcPct val="130000"/>
              </a:lnSpc>
              <a:spcBef>
                <a:spcPts val="480"/>
              </a:spcBef>
              <a:spcAft>
                <a:spcPts val="0"/>
              </a:spcAft>
              <a:buNone/>
            </a:pPr>
            <a:r>
              <a:rPr lang="it" sz="1100" u="sng"/>
              <a:t>Band-Pass Filtering</a:t>
            </a:r>
            <a:r>
              <a:rPr lang="it" sz="1100"/>
              <a:t>: Removes low-frequency </a:t>
            </a:r>
            <a:r>
              <a:rPr b="1" lang="it" sz="1100"/>
              <a:t>motion artifacts</a:t>
            </a:r>
            <a:r>
              <a:rPr lang="it" sz="1100"/>
              <a:t> (electrode movement) and high-frequency </a:t>
            </a:r>
            <a:r>
              <a:rPr b="1" lang="it" sz="1100"/>
              <a:t>instrumentation noise</a:t>
            </a:r>
            <a:r>
              <a:rPr lang="it" sz="1100"/>
              <a:t>, isolating the main EMG power band</a:t>
            </a:r>
            <a:r>
              <a:rPr lang="it" sz="1100"/>
              <a:t>. e.g, 20 Hz - 500 Hz</a:t>
            </a:r>
            <a:endParaRPr b="1" sz="1100"/>
          </a:p>
          <a:p>
            <a:pPr indent="0" lvl="0" marL="457200" rtl="0" algn="l">
              <a:lnSpc>
                <a:spcPct val="130000"/>
              </a:lnSpc>
              <a:spcBef>
                <a:spcPts val="480"/>
              </a:spcBef>
              <a:spcAft>
                <a:spcPts val="0"/>
              </a:spcAft>
              <a:buNone/>
            </a:pPr>
            <a:r>
              <a:rPr lang="it" sz="1100" u="sng"/>
              <a:t>Notch Filtering</a:t>
            </a:r>
            <a:r>
              <a:rPr lang="it" sz="1100"/>
              <a:t>:50/60 Hz Removes AC power line interference (the standard frequency of electrical grids) without significantly distorting the EMG signal band.</a:t>
            </a:r>
            <a:endParaRPr sz="1100"/>
          </a:p>
          <a:p>
            <a:pPr indent="0" lvl="0" marL="457200" rtl="0" algn="l">
              <a:lnSpc>
                <a:spcPct val="130000"/>
              </a:lnSpc>
              <a:spcBef>
                <a:spcPts val="480"/>
              </a:spcBef>
              <a:spcAft>
                <a:spcPts val="0"/>
              </a:spcAft>
              <a:buNone/>
            </a:pPr>
            <a:r>
              <a:rPr lang="it" sz="1100" u="sng"/>
              <a:t>Rectification</a:t>
            </a:r>
            <a:r>
              <a:rPr lang="it" sz="1100"/>
              <a:t>: Converts the oscillating signal into a positive signal (full-wave or half-wave). </a:t>
            </a:r>
            <a:endParaRPr sz="1100"/>
          </a:p>
          <a:p>
            <a:pPr indent="0" lvl="0" marL="457200" rtl="0" algn="l">
              <a:lnSpc>
                <a:spcPct val="130000"/>
              </a:lnSpc>
              <a:spcBef>
                <a:spcPts val="480"/>
              </a:spcBef>
              <a:spcAft>
                <a:spcPts val="0"/>
              </a:spcAft>
              <a:buNone/>
            </a:pPr>
            <a:r>
              <a:rPr lang="it" sz="1100" u="sng"/>
              <a:t>Segmentation</a:t>
            </a:r>
            <a:r>
              <a:rPr lang="it" sz="1100"/>
              <a:t>: Divides the continuous signal into small, overlapping time windows (100 - 250 ms). The time difference between the start of two consecutive windows (e.g. 50 ms) is the system’s update rate. Creates the discrete data blocks necessary for extracting </a:t>
            </a:r>
            <a:r>
              <a:rPr i="1" lang="it" sz="1100"/>
              <a:t>features</a:t>
            </a:r>
            <a:r>
              <a:rPr lang="it" sz="1100"/>
              <a:t> or for time-series modeling. </a:t>
            </a:r>
            <a:endParaRPr sz="1100"/>
          </a:p>
          <a:p>
            <a:pPr indent="0" lvl="0" marL="45720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457200" rtl="0" algn="l">
              <a:lnSpc>
                <a:spcPct val="130000"/>
              </a:lnSpc>
              <a:spcBef>
                <a:spcPts val="480"/>
              </a:spcBef>
              <a:spcAft>
                <a:spcPts val="0"/>
              </a:spcAft>
              <a:buNone/>
            </a:pPr>
            <a:r>
              <a:t/>
            </a:r>
            <a:endParaRPr sz="1100">
              <a:solidFill>
                <a:srgbClr val="1A1A1A"/>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2" name="Shape 572"/>
        <p:cNvGrpSpPr/>
        <p:nvPr/>
      </p:nvGrpSpPr>
      <p:grpSpPr>
        <a:xfrm>
          <a:off x="0" y="0"/>
          <a:ext cx="0" cy="0"/>
          <a:chOff x="0" y="0"/>
          <a:chExt cx="0" cy="0"/>
        </a:xfrm>
      </p:grpSpPr>
      <p:sp>
        <p:nvSpPr>
          <p:cNvPr id="573" name="Google Shape;573;p63"/>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EMG signal evolution</a:t>
            </a:r>
            <a:endParaRPr>
              <a:solidFill>
                <a:schemeClr val="dk1"/>
              </a:solidFill>
            </a:endParaRPr>
          </a:p>
        </p:txBody>
      </p:sp>
      <p:sp>
        <p:nvSpPr>
          <p:cNvPr id="574" name="Google Shape;574;p63"/>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75" name="Google Shape;575;p63"/>
          <p:cNvSpPr txBox="1"/>
          <p:nvPr/>
        </p:nvSpPr>
        <p:spPr>
          <a:xfrm>
            <a:off x="311700" y="955575"/>
            <a:ext cx="5395800" cy="3412200"/>
          </a:xfrm>
          <a:prstGeom prst="rect">
            <a:avLst/>
          </a:prstGeom>
          <a:noFill/>
          <a:ln>
            <a:noFill/>
          </a:ln>
        </p:spPr>
        <p:txBody>
          <a:bodyPr anchorCtr="0" anchor="t" bIns="91425" lIns="91425" spcFirstLastPara="1" rIns="91425" wrap="square" tIns="91425">
            <a:noAutofit/>
          </a:bodyPr>
          <a:lstStyle/>
          <a:p>
            <a:pPr indent="-298450" lvl="0" marL="457200" rtl="0" algn="l">
              <a:lnSpc>
                <a:spcPct val="130000"/>
              </a:lnSpc>
              <a:spcBef>
                <a:spcPts val="480"/>
              </a:spcBef>
              <a:spcAft>
                <a:spcPts val="0"/>
              </a:spcAft>
              <a:buClr>
                <a:schemeClr val="dk1"/>
              </a:buClr>
              <a:buSzPts val="1100"/>
              <a:buChar char="●"/>
            </a:pPr>
            <a:r>
              <a:rPr b="1" lang="it" sz="1100"/>
              <a:t>Sparse EMG:</a:t>
            </a:r>
            <a:r>
              <a:rPr lang="it" sz="1100"/>
              <a:t> measures </a:t>
            </a:r>
            <a:r>
              <a:rPr b="1" lang="it" sz="1100"/>
              <a:t>muscle-level signals</a:t>
            </a:r>
            <a:r>
              <a:rPr lang="it" sz="1100"/>
              <a:t>, few channels, no MN resolution.</a:t>
            </a:r>
            <a:br>
              <a:rPr lang="it" sz="1100"/>
            </a:br>
            <a:r>
              <a:rPr lang="it" sz="1100"/>
              <a:t>Feature-Based Classification: Features are fed to </a:t>
            </a:r>
            <a:r>
              <a:rPr b="1" lang="it" sz="1100"/>
              <a:t>Simple Classifiers</a:t>
            </a:r>
            <a:r>
              <a:rPr lang="it" sz="1100"/>
              <a:t> like </a:t>
            </a:r>
            <a:r>
              <a:rPr b="1" lang="it" sz="1100"/>
              <a:t>LDA (Linear Discriminant Analysis)</a:t>
            </a:r>
            <a:r>
              <a:rPr lang="it" sz="1100"/>
              <a:t> and </a:t>
            </a:r>
            <a:r>
              <a:rPr b="1" lang="it" sz="1100"/>
              <a:t>QDA (Quadratic Discriminant Analysis)</a:t>
            </a:r>
            <a:r>
              <a:rPr lang="it" sz="1100"/>
              <a:t>.</a:t>
            </a:r>
            <a:endParaRPr sz="1100"/>
          </a:p>
          <a:p>
            <a:pPr indent="0" lvl="0" marL="457200" rtl="0" algn="l">
              <a:lnSpc>
                <a:spcPct val="130000"/>
              </a:lnSpc>
              <a:spcBef>
                <a:spcPts val="480"/>
              </a:spcBef>
              <a:spcAft>
                <a:spcPts val="0"/>
              </a:spcAft>
              <a:buNone/>
            </a:pPr>
            <a:r>
              <a:t/>
            </a:r>
            <a:endParaRPr sz="1100"/>
          </a:p>
          <a:p>
            <a:pPr indent="-298450" lvl="0" marL="457200" rtl="0" algn="l">
              <a:lnSpc>
                <a:spcPct val="130000"/>
              </a:lnSpc>
              <a:spcBef>
                <a:spcPts val="480"/>
              </a:spcBef>
              <a:spcAft>
                <a:spcPts val="0"/>
              </a:spcAft>
              <a:buClr>
                <a:schemeClr val="dk1"/>
              </a:buClr>
              <a:buSzPts val="1100"/>
              <a:buChar char="●"/>
            </a:pPr>
            <a:r>
              <a:rPr b="1" lang="it" sz="1100"/>
              <a:t>HD-EMG:</a:t>
            </a:r>
            <a:r>
              <a:rPr lang="it" sz="1100"/>
              <a:t> high spatial resolution, mostly independent signals. Transition to </a:t>
            </a:r>
            <a:r>
              <a:rPr b="1" lang="it" sz="1100"/>
              <a:t>Deep Learning (DL </a:t>
            </a:r>
            <a:r>
              <a:rPr lang="it" sz="1100"/>
              <a:t>to exploit the spatial patterns of the HD-EMG grid.</a:t>
            </a:r>
            <a:endParaRPr sz="1100"/>
          </a:p>
          <a:p>
            <a:pPr indent="0" lvl="0" marL="457200" rtl="0" algn="l">
              <a:lnSpc>
                <a:spcPct val="130000"/>
              </a:lnSpc>
              <a:spcBef>
                <a:spcPts val="480"/>
              </a:spcBef>
              <a:spcAft>
                <a:spcPts val="0"/>
              </a:spcAft>
              <a:buNone/>
            </a:pPr>
            <a:r>
              <a:t/>
            </a:r>
            <a:endParaRPr sz="1100"/>
          </a:p>
          <a:p>
            <a:pPr indent="-298450" lvl="0" marL="457200" rtl="0" algn="l">
              <a:lnSpc>
                <a:spcPct val="130000"/>
              </a:lnSpc>
              <a:spcBef>
                <a:spcPts val="480"/>
              </a:spcBef>
              <a:spcAft>
                <a:spcPts val="0"/>
              </a:spcAft>
              <a:buClr>
                <a:schemeClr val="dk1"/>
              </a:buClr>
              <a:buSzPts val="1100"/>
              <a:buChar char="●"/>
            </a:pPr>
            <a:r>
              <a:rPr b="1" lang="it" sz="1100"/>
              <a:t>HD- EMG + </a:t>
            </a:r>
            <a:r>
              <a:rPr b="1" lang="it" sz="1100"/>
              <a:t>Muscular</a:t>
            </a:r>
            <a:r>
              <a:rPr b="1" lang="it" sz="1100"/>
              <a:t> Synergies/MN synergies:</a:t>
            </a:r>
            <a:r>
              <a:rPr lang="it" sz="1100"/>
              <a:t> extract </a:t>
            </a:r>
            <a:r>
              <a:rPr lang="it" sz="1100"/>
              <a:t>Muscular</a:t>
            </a:r>
            <a:r>
              <a:rPr lang="it" sz="1100"/>
              <a:t> weights/ </a:t>
            </a:r>
            <a:r>
              <a:rPr b="1" lang="it" sz="1100"/>
              <a:t>structured patterns of MU activity</a:t>
            </a:r>
            <a:r>
              <a:rPr lang="it" sz="1100"/>
              <a:t> → improves regression &amp; prosthetic control.</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457200" rtl="0" algn="l">
              <a:lnSpc>
                <a:spcPct val="130000"/>
              </a:lnSpc>
              <a:spcBef>
                <a:spcPts val="480"/>
              </a:spcBef>
              <a:spcAft>
                <a:spcPts val="0"/>
              </a:spcAft>
              <a:buNone/>
            </a:pPr>
            <a:r>
              <a:t/>
            </a:r>
            <a:endParaRPr sz="1100">
              <a:solidFill>
                <a:srgbClr val="1A1A1A"/>
              </a:solidFill>
            </a:endParaRPr>
          </a:p>
        </p:txBody>
      </p:sp>
      <p:pic>
        <p:nvPicPr>
          <p:cNvPr id="576" name="Google Shape;576;p63" title="Screenshot from 2025-10-02 21-02-38.png"/>
          <p:cNvPicPr preferRelativeResize="0"/>
          <p:nvPr/>
        </p:nvPicPr>
        <p:blipFill>
          <a:blip r:embed="rId3">
            <a:alphaModFix/>
          </a:blip>
          <a:stretch>
            <a:fillRect/>
          </a:stretch>
        </p:blipFill>
        <p:spPr>
          <a:xfrm>
            <a:off x="6032160" y="2389822"/>
            <a:ext cx="2920306" cy="197795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0" name="Shape 580"/>
        <p:cNvGrpSpPr/>
        <p:nvPr/>
      </p:nvGrpSpPr>
      <p:grpSpPr>
        <a:xfrm>
          <a:off x="0" y="0"/>
          <a:ext cx="0" cy="0"/>
          <a:chOff x="0" y="0"/>
          <a:chExt cx="0" cy="0"/>
        </a:xfrm>
      </p:grpSpPr>
      <p:sp>
        <p:nvSpPr>
          <p:cNvPr id="581" name="Google Shape;581;p64"/>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Post Processing: Muscular Synergy Extraction</a:t>
            </a:r>
            <a:endParaRPr>
              <a:solidFill>
                <a:schemeClr val="dk1"/>
              </a:solidFill>
            </a:endParaRPr>
          </a:p>
        </p:txBody>
      </p:sp>
      <p:sp>
        <p:nvSpPr>
          <p:cNvPr id="582" name="Google Shape;582;p64"/>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83" name="Google Shape;583;p64"/>
          <p:cNvSpPr txBox="1"/>
          <p:nvPr/>
        </p:nvSpPr>
        <p:spPr>
          <a:xfrm>
            <a:off x="311700" y="1061425"/>
            <a:ext cx="7884000" cy="1908600"/>
          </a:xfrm>
          <a:prstGeom prst="rect">
            <a:avLst/>
          </a:prstGeom>
          <a:noFill/>
          <a:ln>
            <a:noFill/>
          </a:ln>
        </p:spPr>
        <p:txBody>
          <a:bodyPr anchorCtr="0" anchor="t" bIns="91425" lIns="91425" spcFirstLastPara="1" rIns="91425" wrap="square" tIns="91425">
            <a:noAutofit/>
          </a:bodyPr>
          <a:lstStyle/>
          <a:p>
            <a:pPr indent="0" lvl="0" marL="457200" rtl="0" algn="l">
              <a:lnSpc>
                <a:spcPct val="130000"/>
              </a:lnSpc>
              <a:spcBef>
                <a:spcPts val="480"/>
              </a:spcBef>
              <a:spcAft>
                <a:spcPts val="0"/>
              </a:spcAft>
              <a:buNone/>
            </a:pPr>
            <a:r>
              <a:rPr lang="it" sz="1100" u="sng"/>
              <a:t>Envelope Extraction</a:t>
            </a:r>
            <a:r>
              <a:rPr lang="it" sz="1100"/>
              <a:t>: </a:t>
            </a:r>
            <a:r>
              <a:rPr lang="it" sz="1100"/>
              <a:t>The </a:t>
            </a:r>
            <a:r>
              <a:rPr b="1" lang="it" sz="1100"/>
              <a:t>amplitude envelope</a:t>
            </a:r>
            <a:r>
              <a:rPr lang="it" sz="1100"/>
              <a:t> (e.g., RMS or MAV) is extracted from the raw EMG signal of each channel</a:t>
            </a:r>
            <a:r>
              <a:rPr lang="it" sz="1100"/>
              <a:t>. This process loses the temporal resolution of the individual Motoneuron activity.</a:t>
            </a:r>
            <a:endParaRPr sz="1100"/>
          </a:p>
          <a:p>
            <a:pPr indent="0" lvl="0" marL="457200" rtl="0" algn="l">
              <a:lnSpc>
                <a:spcPct val="130000"/>
              </a:lnSpc>
              <a:spcBef>
                <a:spcPts val="480"/>
              </a:spcBef>
              <a:spcAft>
                <a:spcPts val="0"/>
              </a:spcAft>
              <a:buNone/>
            </a:pPr>
            <a:r>
              <a:rPr lang="it" sz="1100" u="sng"/>
              <a:t>Synergy Extraction</a:t>
            </a:r>
            <a:r>
              <a:rPr lang="it" sz="1100"/>
              <a:t>: </a:t>
            </a:r>
            <a:r>
              <a:rPr b="1" lang="it" sz="1100"/>
              <a:t>NMF</a:t>
            </a:r>
            <a:r>
              <a:rPr lang="it" sz="1100"/>
              <a:t> is applied to the normalized amplitude envelopes.</a:t>
            </a:r>
            <a:r>
              <a:rPr lang="it" sz="1100"/>
              <a:t> </a:t>
            </a:r>
            <a:endParaRPr sz="1100"/>
          </a:p>
          <a:p>
            <a:pPr indent="0" lvl="0" marL="457200" rtl="0" algn="l">
              <a:lnSpc>
                <a:spcPct val="130000"/>
              </a:lnSpc>
              <a:spcBef>
                <a:spcPts val="480"/>
              </a:spcBef>
              <a:spcAft>
                <a:spcPts val="0"/>
              </a:spcAft>
              <a:buNone/>
            </a:pPr>
            <a:r>
              <a:rPr b="1" lang="it" sz="1100">
                <a:solidFill>
                  <a:schemeClr val="dk1"/>
                </a:solidFill>
              </a:rPr>
              <a:t>W</a:t>
            </a:r>
            <a:r>
              <a:rPr lang="it" sz="1100"/>
              <a:t>: The </a:t>
            </a:r>
            <a:r>
              <a:rPr b="1" lang="it" sz="1100">
                <a:solidFill>
                  <a:schemeClr val="dk2"/>
                </a:solidFill>
              </a:rPr>
              <a:t>Muscular </a:t>
            </a:r>
            <a:r>
              <a:rPr b="1" lang="it" sz="1100">
                <a:solidFill>
                  <a:schemeClr val="dk2"/>
                </a:solidFill>
              </a:rPr>
              <a:t> Weights</a:t>
            </a:r>
            <a:r>
              <a:rPr lang="it" sz="1100"/>
              <a:t> shows how much </a:t>
            </a:r>
            <a:r>
              <a:rPr i="1" lang="it" sz="1100"/>
              <a:t>each EMG channel</a:t>
            </a:r>
            <a:r>
              <a:rPr lang="it" sz="1100"/>
              <a:t> (i.e., surface area of the muscle) contributes to a synergy. </a:t>
            </a:r>
            <a:endParaRPr sz="1100"/>
          </a:p>
          <a:p>
            <a:pPr indent="0" lvl="0" marL="457200" rtl="0" algn="l">
              <a:lnSpc>
                <a:spcPct val="130000"/>
              </a:lnSpc>
              <a:spcBef>
                <a:spcPts val="480"/>
              </a:spcBef>
              <a:spcAft>
                <a:spcPts val="0"/>
              </a:spcAft>
              <a:buNone/>
            </a:pPr>
            <a:r>
              <a:rPr b="1" lang="it" sz="1100">
                <a:solidFill>
                  <a:schemeClr val="dk2"/>
                </a:solidFill>
              </a:rPr>
              <a:t>H</a:t>
            </a:r>
            <a:r>
              <a:rPr lang="it" sz="1100"/>
              <a:t>: The </a:t>
            </a:r>
            <a:r>
              <a:rPr b="1" lang="it" sz="1100">
                <a:solidFill>
                  <a:schemeClr val="dk1"/>
                </a:solidFill>
              </a:rPr>
              <a:t>Activation</a:t>
            </a:r>
            <a:r>
              <a:rPr lang="it" sz="1100"/>
              <a:t>, t</a:t>
            </a:r>
            <a:r>
              <a:rPr lang="it" sz="1100"/>
              <a:t>he temporal activation signal of the muscle synergy.</a:t>
            </a:r>
            <a:endParaRPr sz="1100"/>
          </a:p>
          <a:p>
            <a:pPr indent="0" lvl="0" marL="45720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457200" rtl="0" algn="l">
              <a:lnSpc>
                <a:spcPct val="130000"/>
              </a:lnSpc>
              <a:spcBef>
                <a:spcPts val="480"/>
              </a:spcBef>
              <a:spcAft>
                <a:spcPts val="0"/>
              </a:spcAft>
              <a:buNone/>
            </a:pPr>
            <a:r>
              <a:t/>
            </a:r>
            <a:endParaRPr sz="1100">
              <a:solidFill>
                <a:srgbClr val="1A1A1A"/>
              </a:solidFill>
            </a:endParaRPr>
          </a:p>
        </p:txBody>
      </p:sp>
      <p:sp>
        <p:nvSpPr>
          <p:cNvPr id="584" name="Google Shape;584;p64"/>
          <p:cNvSpPr txBox="1"/>
          <p:nvPr/>
        </p:nvSpPr>
        <p:spPr>
          <a:xfrm>
            <a:off x="857550" y="3467463"/>
            <a:ext cx="7428900" cy="8772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480"/>
              </a:spcBef>
              <a:spcAft>
                <a:spcPts val="0"/>
              </a:spcAft>
              <a:buNone/>
            </a:pPr>
            <a:r>
              <a:rPr lang="it" sz="1250">
                <a:solidFill>
                  <a:schemeClr val="dk1"/>
                </a:solidFill>
              </a:rPr>
              <a:t>T</a:t>
            </a:r>
            <a:r>
              <a:rPr lang="it" sz="1250">
                <a:solidFill>
                  <a:schemeClr val="dk2"/>
                </a:solidFill>
              </a:rPr>
              <a:t>he Muscular Synergy is a pattern of </a:t>
            </a:r>
            <a:r>
              <a:rPr b="1" lang="it" sz="1250">
                <a:solidFill>
                  <a:schemeClr val="dk2"/>
                </a:solidFill>
              </a:rPr>
              <a:t>muscle activation</a:t>
            </a:r>
            <a:r>
              <a:rPr lang="it" sz="1250">
                <a:solidFill>
                  <a:schemeClr val="dk2"/>
                </a:solidFill>
              </a:rPr>
              <a:t>, not neural command.</a:t>
            </a:r>
            <a:r>
              <a:rPr lang="it" sz="1250">
                <a:solidFill>
                  <a:schemeClr val="dk1"/>
                </a:solidFill>
              </a:rPr>
              <a:t> </a:t>
            </a:r>
            <a:r>
              <a:rPr b="1" lang="it" sz="1250">
                <a:solidFill>
                  <a:schemeClr val="dk2"/>
                </a:solidFill>
              </a:rPr>
              <a:t>Underperforms</a:t>
            </a:r>
            <a:r>
              <a:rPr lang="it" sz="1250">
                <a:solidFill>
                  <a:schemeClr val="dk2"/>
                </a:solidFill>
              </a:rPr>
              <a:t> relative to the MN synergy model because it includes biomechanical noise and is an indirect reflection of the CNS command.</a:t>
            </a:r>
            <a:endParaRPr sz="1250">
              <a:solidFill>
                <a:schemeClr val="dk2"/>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8" name="Shape 588"/>
        <p:cNvGrpSpPr/>
        <p:nvPr/>
      </p:nvGrpSpPr>
      <p:grpSpPr>
        <a:xfrm>
          <a:off x="0" y="0"/>
          <a:ext cx="0" cy="0"/>
          <a:chOff x="0" y="0"/>
          <a:chExt cx="0" cy="0"/>
        </a:xfrm>
      </p:grpSpPr>
      <p:sp>
        <p:nvSpPr>
          <p:cNvPr id="589" name="Google Shape;589;p65"/>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Post Processing: Neural Synergy Extraction</a:t>
            </a:r>
            <a:endParaRPr>
              <a:solidFill>
                <a:schemeClr val="dk1"/>
              </a:solidFill>
            </a:endParaRPr>
          </a:p>
        </p:txBody>
      </p:sp>
      <p:sp>
        <p:nvSpPr>
          <p:cNvPr id="590" name="Google Shape;590;p65"/>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591" name="Google Shape;591;p65"/>
          <p:cNvSpPr txBox="1"/>
          <p:nvPr/>
        </p:nvSpPr>
        <p:spPr>
          <a:xfrm>
            <a:off x="311700" y="787200"/>
            <a:ext cx="8324400" cy="34122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100">
              <a:solidFill>
                <a:schemeClr val="dk1"/>
              </a:solidFill>
            </a:endParaRPr>
          </a:p>
          <a:p>
            <a:pPr indent="0" lvl="0" marL="457200" rtl="0" algn="l">
              <a:lnSpc>
                <a:spcPct val="130000"/>
              </a:lnSpc>
              <a:spcBef>
                <a:spcPts val="480"/>
              </a:spcBef>
              <a:spcAft>
                <a:spcPts val="0"/>
              </a:spcAft>
              <a:buNone/>
            </a:pPr>
            <a:r>
              <a:rPr lang="it" sz="1100" u="sng"/>
              <a:t>EMG Decomposition</a:t>
            </a:r>
            <a:r>
              <a:rPr lang="it" sz="1100"/>
              <a:t>: Uses algorithms (e.g., </a:t>
            </a:r>
            <a:r>
              <a:rPr b="1" lang="it" sz="1100"/>
              <a:t>Convolution Kernel Compensation (CKC)</a:t>
            </a:r>
            <a:r>
              <a:rPr lang="it" sz="1100"/>
              <a:t> or </a:t>
            </a:r>
            <a:r>
              <a:rPr b="1" lang="it" sz="1100"/>
              <a:t>Blind Source Separation (BSS)</a:t>
            </a:r>
            <a:r>
              <a:rPr lang="it" sz="1100"/>
              <a:t>) (Decomposition Framework on Matlab) to transform the electrical signal into the </a:t>
            </a:r>
            <a:r>
              <a:rPr b="1" lang="it" sz="1100"/>
              <a:t>Motor Unit Spike Trains (MUSTs)</a:t>
            </a:r>
            <a:r>
              <a:rPr lang="it" sz="1100"/>
              <a:t>. </a:t>
            </a:r>
            <a:r>
              <a:rPr b="1" lang="it" sz="1100"/>
              <a:t>Separates the sum of MUAPs</a:t>
            </a:r>
            <a:r>
              <a:rPr lang="it" sz="1100"/>
              <a:t> into the temporal firing sequence of </a:t>
            </a:r>
            <a:r>
              <a:rPr i="1" lang="it" sz="1100"/>
              <a:t>each</a:t>
            </a:r>
            <a:r>
              <a:rPr lang="it" sz="1100"/>
              <a:t> individual motoneuron.</a:t>
            </a:r>
            <a:endParaRPr b="1" sz="1100"/>
          </a:p>
          <a:p>
            <a:pPr indent="0" lvl="0" marL="457200" rtl="0" algn="l">
              <a:lnSpc>
                <a:spcPct val="130000"/>
              </a:lnSpc>
              <a:spcBef>
                <a:spcPts val="480"/>
              </a:spcBef>
              <a:spcAft>
                <a:spcPts val="0"/>
              </a:spcAft>
              <a:buNone/>
            </a:pPr>
            <a:r>
              <a:rPr lang="it" sz="1100" u="sng"/>
              <a:t>Data Processing</a:t>
            </a:r>
            <a:r>
              <a:rPr lang="it" sz="1100"/>
              <a:t>: MUSTs are typically low-pass filtered and normalized. Prepares the neural firing rate for matrix factorization.</a:t>
            </a:r>
            <a:endParaRPr sz="1100"/>
          </a:p>
          <a:p>
            <a:pPr indent="0" lvl="0" marL="457200" rtl="0" algn="l">
              <a:lnSpc>
                <a:spcPct val="130000"/>
              </a:lnSpc>
              <a:spcBef>
                <a:spcPts val="480"/>
              </a:spcBef>
              <a:spcAft>
                <a:spcPts val="0"/>
              </a:spcAft>
              <a:buNone/>
            </a:pPr>
            <a:r>
              <a:rPr lang="it" sz="1100" u="sng"/>
              <a:t>Synergy Extraction</a:t>
            </a:r>
            <a:r>
              <a:rPr lang="it" sz="1100"/>
              <a:t>: Converts the oscillating signal into a positive signal (full-wave or half-wave). </a:t>
            </a:r>
            <a:r>
              <a:rPr b="1" lang="it" sz="1100"/>
              <a:t>NMF </a:t>
            </a:r>
            <a:r>
              <a:rPr lang="it" sz="1100"/>
              <a:t>is applied to the processed MUSTs .</a:t>
            </a:r>
            <a:endParaRPr sz="1100"/>
          </a:p>
          <a:p>
            <a:pPr indent="0" lvl="0" marL="457200" rtl="0" algn="l">
              <a:lnSpc>
                <a:spcPct val="130000"/>
              </a:lnSpc>
              <a:spcBef>
                <a:spcPts val="480"/>
              </a:spcBef>
              <a:spcAft>
                <a:spcPts val="0"/>
              </a:spcAft>
              <a:buNone/>
            </a:pPr>
            <a:r>
              <a:rPr b="1" lang="it" sz="1100">
                <a:solidFill>
                  <a:schemeClr val="dk1"/>
                </a:solidFill>
              </a:rPr>
              <a:t>W</a:t>
            </a:r>
            <a:r>
              <a:rPr lang="it" sz="1100"/>
              <a:t>: The </a:t>
            </a:r>
            <a:r>
              <a:rPr b="1" lang="it" sz="1100">
                <a:solidFill>
                  <a:schemeClr val="dk2"/>
                </a:solidFill>
              </a:rPr>
              <a:t>Synergy Weights</a:t>
            </a:r>
            <a:r>
              <a:rPr lang="it" sz="1100"/>
              <a:t>, a static pattern showing </a:t>
            </a:r>
            <a:r>
              <a:rPr i="1" lang="it" sz="1100"/>
              <a:t>which</a:t>
            </a:r>
            <a:r>
              <a:rPr lang="it" sz="1100"/>
              <a:t> MNs are involved in each synergy.</a:t>
            </a:r>
            <a:endParaRPr sz="1100"/>
          </a:p>
          <a:p>
            <a:pPr indent="0" lvl="0" marL="457200" rtl="0" algn="l">
              <a:lnSpc>
                <a:spcPct val="130000"/>
              </a:lnSpc>
              <a:spcBef>
                <a:spcPts val="480"/>
              </a:spcBef>
              <a:spcAft>
                <a:spcPts val="0"/>
              </a:spcAft>
              <a:buNone/>
            </a:pPr>
            <a:r>
              <a:rPr b="1" lang="it" sz="1100">
                <a:solidFill>
                  <a:schemeClr val="dk2"/>
                </a:solidFill>
              </a:rPr>
              <a:t>H</a:t>
            </a:r>
            <a:r>
              <a:rPr lang="it" sz="1100"/>
              <a:t>: The </a:t>
            </a:r>
            <a:r>
              <a:rPr b="1" lang="it" sz="1100">
                <a:solidFill>
                  <a:schemeClr val="dk1"/>
                </a:solidFill>
              </a:rPr>
              <a:t>Activation Primitive</a:t>
            </a:r>
            <a:r>
              <a:rPr lang="it" sz="1100"/>
              <a:t>, the temporal command (voluntary input) that modulates the intensity of that synergy.</a:t>
            </a:r>
            <a:endParaRPr sz="1100"/>
          </a:p>
          <a:p>
            <a:pPr indent="0" lvl="0" marL="45720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457200" rtl="0" algn="l">
              <a:lnSpc>
                <a:spcPct val="130000"/>
              </a:lnSpc>
              <a:spcBef>
                <a:spcPts val="480"/>
              </a:spcBef>
              <a:spcAft>
                <a:spcPts val="0"/>
              </a:spcAft>
              <a:buNone/>
            </a:pPr>
            <a:r>
              <a:t/>
            </a:r>
            <a:endParaRPr sz="1100">
              <a:solidFill>
                <a:srgbClr val="1A1A1A"/>
              </a:solidFill>
            </a:endParaRPr>
          </a:p>
        </p:txBody>
      </p:sp>
      <p:pic>
        <p:nvPicPr>
          <p:cNvPr descr="\mathbf{M = W \cdot H}&#10;%fbd0839f-fc27-47ee-8739-d7a980e2db56" id="592" name="Google Shape;592;p65"/>
          <p:cNvPicPr preferRelativeResize="0"/>
          <p:nvPr/>
        </p:nvPicPr>
        <p:blipFill>
          <a:blip r:embed="rId3">
            <a:alphaModFix/>
          </a:blip>
          <a:stretch>
            <a:fillRect/>
          </a:stretch>
        </p:blipFill>
        <p:spPr>
          <a:xfrm>
            <a:off x="2107100" y="2592075"/>
            <a:ext cx="1207325" cy="1599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6" name="Shape 596"/>
        <p:cNvGrpSpPr/>
        <p:nvPr/>
      </p:nvGrpSpPr>
      <p:grpSpPr>
        <a:xfrm>
          <a:off x="0" y="0"/>
          <a:ext cx="0" cy="0"/>
          <a:chOff x="0" y="0"/>
          <a:chExt cx="0" cy="0"/>
        </a:xfrm>
      </p:grpSpPr>
      <p:sp>
        <p:nvSpPr>
          <p:cNvPr id="597" name="Google Shape;597;p66"/>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pic>
        <p:nvPicPr>
          <p:cNvPr id="598" name="Google Shape;598;p66" title="Screenshot from 2025-10-05 12-37-38.png"/>
          <p:cNvPicPr preferRelativeResize="0"/>
          <p:nvPr/>
        </p:nvPicPr>
        <p:blipFill>
          <a:blip r:embed="rId3">
            <a:alphaModFix/>
          </a:blip>
          <a:stretch>
            <a:fillRect/>
          </a:stretch>
        </p:blipFill>
        <p:spPr>
          <a:xfrm>
            <a:off x="4735899" y="1330400"/>
            <a:ext cx="4306225" cy="2415300"/>
          </a:xfrm>
          <a:prstGeom prst="rect">
            <a:avLst/>
          </a:prstGeom>
          <a:noFill/>
          <a:ln>
            <a:noFill/>
          </a:ln>
        </p:spPr>
      </p:pic>
      <p:sp>
        <p:nvSpPr>
          <p:cNvPr id="599" name="Google Shape;599;p66"/>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Merging motoneuron and postural synergies in prosthetic hand design for natural bionic interfacing</a:t>
            </a:r>
            <a:endParaRPr/>
          </a:p>
        </p:txBody>
      </p:sp>
      <p:sp>
        <p:nvSpPr>
          <p:cNvPr id="600" name="Google Shape;600;p66"/>
          <p:cNvSpPr txBox="1"/>
          <p:nvPr/>
        </p:nvSpPr>
        <p:spPr>
          <a:xfrm>
            <a:off x="480300" y="1330400"/>
            <a:ext cx="4091700" cy="313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250"/>
              <a:t>Soft Robotic Hands</a:t>
            </a:r>
            <a:r>
              <a:rPr lang="it" sz="1250"/>
              <a:t> (like the </a:t>
            </a:r>
            <a:r>
              <a:rPr b="1" lang="it" sz="1250"/>
              <a:t>SoftHand Pro-2</a:t>
            </a:r>
            <a:r>
              <a:rPr lang="it" sz="1250"/>
              <a:t>) are intentionally designed with only a few motors to match the human </a:t>
            </a:r>
            <a:r>
              <a:rPr b="1" lang="it" sz="1250"/>
              <a:t>Postural Synergies</a:t>
            </a:r>
            <a:r>
              <a:rPr lang="it" sz="1250"/>
              <a:t>.</a:t>
            </a:r>
            <a:endParaRPr sz="1250"/>
          </a:p>
          <a:p>
            <a:pPr indent="0" lvl="0" marL="0" rtl="0" algn="l">
              <a:spcBef>
                <a:spcPts val="0"/>
              </a:spcBef>
              <a:spcAft>
                <a:spcPts val="0"/>
              </a:spcAft>
              <a:buNone/>
            </a:pPr>
            <a:r>
              <a:t/>
            </a:r>
            <a:endParaRPr sz="1250"/>
          </a:p>
          <a:p>
            <a:pPr indent="0" lvl="0" marL="0" rtl="0" algn="l">
              <a:spcBef>
                <a:spcPts val="0"/>
              </a:spcBef>
              <a:spcAft>
                <a:spcPts val="0"/>
              </a:spcAft>
              <a:buNone/>
            </a:pPr>
            <a:r>
              <a:rPr lang="it" sz="1250"/>
              <a:t>The work successfully </a:t>
            </a:r>
            <a:r>
              <a:rPr b="1" lang="it" sz="1250"/>
              <a:t>identified MN synergies</a:t>
            </a:r>
            <a:r>
              <a:rPr lang="it" sz="1250"/>
              <a:t> that robustly predict continuous grasping actions.</a:t>
            </a:r>
            <a:endParaRPr sz="1250"/>
          </a:p>
          <a:p>
            <a:pPr indent="0" lvl="0" marL="0" rtl="0" algn="l">
              <a:spcBef>
                <a:spcPts val="0"/>
              </a:spcBef>
              <a:spcAft>
                <a:spcPts val="0"/>
              </a:spcAft>
              <a:buNone/>
            </a:pPr>
            <a:r>
              <a:rPr lang="it" sz="1250"/>
              <a:t>63 decomposed MUs found. </a:t>
            </a:r>
            <a:endParaRPr sz="1250"/>
          </a:p>
          <a:p>
            <a:pPr indent="0" lvl="0" marL="0" rtl="0" algn="l">
              <a:spcBef>
                <a:spcPts val="0"/>
              </a:spcBef>
              <a:spcAft>
                <a:spcPts val="0"/>
              </a:spcAft>
              <a:buNone/>
            </a:pPr>
            <a:r>
              <a:t/>
            </a:r>
            <a:endParaRPr sz="1250"/>
          </a:p>
          <a:p>
            <a:pPr indent="0" lvl="0" marL="0" rtl="0" algn="l">
              <a:spcBef>
                <a:spcPts val="0"/>
              </a:spcBef>
              <a:spcAft>
                <a:spcPts val="0"/>
              </a:spcAft>
              <a:buNone/>
            </a:pPr>
            <a:r>
              <a:rPr lang="it" sz="1250"/>
              <a:t>They found MNs capture more synergies and computing the degree of orthogonality among pairs of synergies, the MN synergies have a higher degree of orthonormality than muscle synergies which means that the synergies they can control are very specific, this allows for particular movement. </a:t>
            </a:r>
            <a:endParaRPr sz="1250"/>
          </a:p>
          <a:p>
            <a:pPr indent="0" lvl="0" marL="0" rtl="0" algn="l">
              <a:lnSpc>
                <a:spcPct val="130000"/>
              </a:lnSpc>
              <a:spcBef>
                <a:spcPts val="480"/>
              </a:spcBef>
              <a:spcAft>
                <a:spcPts val="0"/>
              </a:spcAft>
              <a:buNone/>
            </a:pPr>
            <a:r>
              <a:t/>
            </a:r>
            <a:endParaRPr sz="125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4" name="Shape 604"/>
        <p:cNvGrpSpPr/>
        <p:nvPr/>
      </p:nvGrpSpPr>
      <p:grpSpPr>
        <a:xfrm>
          <a:off x="0" y="0"/>
          <a:ext cx="0" cy="0"/>
          <a:chOff x="0" y="0"/>
          <a:chExt cx="0" cy="0"/>
        </a:xfrm>
      </p:grpSpPr>
      <p:sp>
        <p:nvSpPr>
          <p:cNvPr id="605" name="Google Shape;605;p67"/>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pic>
        <p:nvPicPr>
          <p:cNvPr id="606" name="Google Shape;606;p67" title="Screenshot from 2025-10-05 18-12-09.png"/>
          <p:cNvPicPr preferRelativeResize="0"/>
          <p:nvPr/>
        </p:nvPicPr>
        <p:blipFill>
          <a:blip r:embed="rId3">
            <a:alphaModFix/>
          </a:blip>
          <a:stretch>
            <a:fillRect/>
          </a:stretch>
        </p:blipFill>
        <p:spPr>
          <a:xfrm>
            <a:off x="1465088" y="217825"/>
            <a:ext cx="6213826" cy="433905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0" name="Shape 610"/>
        <p:cNvGrpSpPr/>
        <p:nvPr/>
      </p:nvGrpSpPr>
      <p:grpSpPr>
        <a:xfrm>
          <a:off x="0" y="0"/>
          <a:ext cx="0" cy="0"/>
          <a:chOff x="0" y="0"/>
          <a:chExt cx="0" cy="0"/>
        </a:xfrm>
      </p:grpSpPr>
      <p:sp>
        <p:nvSpPr>
          <p:cNvPr id="611" name="Google Shape;611;p68"/>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Dataset</a:t>
            </a:r>
            <a:endParaRPr>
              <a:solidFill>
                <a:schemeClr val="dk1"/>
              </a:solidFill>
            </a:endParaRPr>
          </a:p>
        </p:txBody>
      </p:sp>
      <p:sp>
        <p:nvSpPr>
          <p:cNvPr id="612" name="Google Shape;612;p68"/>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613" name="Google Shape;613;p68"/>
          <p:cNvSpPr txBox="1"/>
          <p:nvPr/>
        </p:nvSpPr>
        <p:spPr>
          <a:xfrm>
            <a:off x="5166575" y="1181075"/>
            <a:ext cx="3572400" cy="3039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b="1" lang="it" sz="1260">
                <a:solidFill>
                  <a:schemeClr val="dk1"/>
                </a:solidFill>
              </a:rPr>
              <a:t>Online Operation: Real-Time Control</a:t>
            </a:r>
            <a:endParaRPr b="1" sz="1260">
              <a:solidFill>
                <a:schemeClr val="dk1"/>
              </a:solidFill>
            </a:endParaRPr>
          </a:p>
          <a:p>
            <a:pPr indent="0" lvl="0" marL="0" rtl="0" algn="l">
              <a:lnSpc>
                <a:spcPct val="130000"/>
              </a:lnSpc>
              <a:spcBef>
                <a:spcPts val="480"/>
              </a:spcBef>
              <a:spcAft>
                <a:spcPts val="0"/>
              </a:spcAft>
              <a:buNone/>
            </a:pPr>
            <a:r>
              <a:rPr lang="it" sz="1100" u="sng"/>
              <a:t>Feature Extraction</a:t>
            </a:r>
            <a:r>
              <a:rPr lang="it" sz="1100" u="sng"/>
              <a:t>): </a:t>
            </a:r>
            <a:r>
              <a:rPr lang="it" sz="1100"/>
              <a:t>EMG signal is acquired. Low latency is crucial (using an overlapping window increment of 50 ms).  </a:t>
            </a:r>
            <a:endParaRPr sz="1100"/>
          </a:p>
          <a:p>
            <a:pPr indent="0" lvl="0" marL="0" rtl="0" algn="l">
              <a:lnSpc>
                <a:spcPct val="130000"/>
              </a:lnSpc>
              <a:spcBef>
                <a:spcPts val="480"/>
              </a:spcBef>
              <a:spcAft>
                <a:spcPts val="0"/>
              </a:spcAft>
              <a:buNone/>
            </a:pPr>
            <a:r>
              <a:rPr lang="it" sz="1100" u="sng"/>
              <a:t>Model Execution: </a:t>
            </a:r>
            <a:r>
              <a:rPr lang="it" sz="1100"/>
              <a:t>provides the continuous, proportional prediction of the output variables. </a:t>
            </a:r>
            <a:endParaRPr sz="1100"/>
          </a:p>
          <a:p>
            <a:pPr indent="0" lvl="0" marL="0" rtl="0" algn="l">
              <a:lnSpc>
                <a:spcPct val="130000"/>
              </a:lnSpc>
              <a:spcBef>
                <a:spcPts val="480"/>
              </a:spcBef>
              <a:spcAft>
                <a:spcPts val="0"/>
              </a:spcAft>
              <a:buNone/>
            </a:pPr>
            <a:r>
              <a:rPr lang="it" sz="1100" u="sng"/>
              <a:t>Control Output: </a:t>
            </a:r>
            <a:r>
              <a:rPr lang="it" sz="1100"/>
              <a:t>The fine tuned model outputs three continuous, synchronized signals: </a:t>
            </a:r>
            <a:r>
              <a:rPr b="1" lang="it" sz="1100"/>
              <a:t>1. Kinematic Synergy Coefficients</a:t>
            </a:r>
            <a:r>
              <a:rPr lang="it" sz="1100"/>
              <a:t> (Hand Posture), </a:t>
            </a:r>
            <a:r>
              <a:rPr b="1" lang="it" sz="1100"/>
              <a:t>2. Wrist Angles</a:t>
            </a:r>
            <a:r>
              <a:rPr lang="it" sz="1100"/>
              <a:t>, and </a:t>
            </a:r>
            <a:r>
              <a:rPr b="1" lang="it" sz="1100"/>
              <a:t>3. Predicted Grip Force</a:t>
            </a:r>
            <a:r>
              <a:rPr lang="it" sz="1100"/>
              <a:t>. The outputs are reconstructed and directly injected into the </a:t>
            </a:r>
            <a:r>
              <a:rPr b="1" lang="it" sz="1100"/>
              <a:t>VR Environment</a:t>
            </a:r>
            <a:r>
              <a:rPr lang="it" sz="1100"/>
              <a:t> or the </a:t>
            </a:r>
            <a:r>
              <a:rPr b="1" lang="it" sz="1100"/>
              <a:t>Soft Robotic Exoskeleton/Prosthesis</a:t>
            </a:r>
            <a:r>
              <a:rPr lang="it" sz="1100"/>
              <a:t> to drive movement.</a:t>
            </a:r>
            <a:endParaRPr sz="1260"/>
          </a:p>
        </p:txBody>
      </p:sp>
      <p:sp>
        <p:nvSpPr>
          <p:cNvPr id="614" name="Google Shape;614;p68"/>
          <p:cNvSpPr txBox="1"/>
          <p:nvPr/>
        </p:nvSpPr>
        <p:spPr>
          <a:xfrm>
            <a:off x="405075" y="1181075"/>
            <a:ext cx="3572400" cy="3375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b="1" lang="it" sz="1260">
                <a:solidFill>
                  <a:schemeClr val="dk1"/>
                </a:solidFill>
              </a:rPr>
              <a:t>Offline Acquisition</a:t>
            </a:r>
            <a:endParaRPr b="1" sz="1260">
              <a:solidFill>
                <a:schemeClr val="dk1"/>
              </a:solidFill>
            </a:endParaRPr>
          </a:p>
          <a:p>
            <a:pPr indent="0" lvl="0" marL="0" rtl="0" algn="l">
              <a:lnSpc>
                <a:spcPct val="130000"/>
              </a:lnSpc>
              <a:spcBef>
                <a:spcPts val="480"/>
              </a:spcBef>
              <a:spcAft>
                <a:spcPts val="0"/>
              </a:spcAft>
              <a:buNone/>
            </a:pPr>
            <a:r>
              <a:rPr lang="it" sz="1100" u="sng"/>
              <a:t>Neural/Muscular Input (EMG)</a:t>
            </a:r>
            <a:endParaRPr sz="1100" u="sng"/>
          </a:p>
          <a:p>
            <a:pPr indent="0" lvl="0" marL="0" rtl="0" algn="l">
              <a:lnSpc>
                <a:spcPct val="130000"/>
              </a:lnSpc>
              <a:spcBef>
                <a:spcPts val="480"/>
              </a:spcBef>
              <a:spcAft>
                <a:spcPts val="0"/>
              </a:spcAft>
              <a:buNone/>
            </a:pPr>
            <a:r>
              <a:rPr lang="it" sz="1100" u="sng"/>
              <a:t>Kinematic Ground Truth: </a:t>
            </a:r>
            <a:r>
              <a:rPr lang="it" sz="1100"/>
              <a:t>High-Fidelity Motion Capture System (MANUS),  capturing the continuous movement of </a:t>
            </a:r>
            <a:r>
              <a:rPr b="1" lang="it" sz="1100"/>
              <a:t>all finger joints</a:t>
            </a:r>
            <a:r>
              <a:rPr lang="it" sz="1100"/>
              <a:t> (for Cinematic Synergies) and </a:t>
            </a:r>
            <a:r>
              <a:rPr b="1" lang="it" sz="1100"/>
              <a:t>wrist angles</a:t>
            </a:r>
            <a:r>
              <a:rPr lang="it" sz="1100"/>
              <a:t> (Flexion/Extension, Ulnar/Radial Deviation). Paper (Wearable…)</a:t>
            </a:r>
            <a:endParaRPr sz="1100"/>
          </a:p>
          <a:p>
            <a:pPr indent="0" lvl="0" marL="0" rtl="0" algn="l">
              <a:lnSpc>
                <a:spcPct val="130000"/>
              </a:lnSpc>
              <a:spcBef>
                <a:spcPts val="480"/>
              </a:spcBef>
              <a:spcAft>
                <a:spcPts val="0"/>
              </a:spcAft>
              <a:buNone/>
            </a:pPr>
            <a:r>
              <a:rPr lang="it" sz="1100" u="sng"/>
              <a:t>Dynamic Ground Truth (Force): </a:t>
            </a:r>
            <a:r>
              <a:rPr b="1" lang="it" sz="1100"/>
              <a:t>Integrated Force Sensors</a:t>
            </a:r>
            <a:r>
              <a:rPr lang="it" sz="1100"/>
              <a:t> (e.g., </a:t>
            </a:r>
            <a:r>
              <a:rPr b="1" lang="it" sz="1100"/>
              <a:t>FSRs</a:t>
            </a:r>
            <a:r>
              <a:rPr lang="it" sz="1100"/>
              <a:t> or </a:t>
            </a:r>
            <a:r>
              <a:rPr b="1" lang="it" sz="1100"/>
              <a:t>Load Cells</a:t>
            </a:r>
            <a:r>
              <a:rPr lang="it" sz="1100"/>
              <a:t>) placed directly </a:t>
            </a:r>
            <a:r>
              <a:rPr b="1" lang="it" sz="1100"/>
              <a:t>on or within the grasped object</a:t>
            </a:r>
            <a:r>
              <a:rPr lang="it" sz="1100"/>
              <a:t>.</a:t>
            </a:r>
            <a:endParaRPr sz="1100"/>
          </a:p>
          <a:p>
            <a:pPr indent="0" lvl="0" marL="0" rtl="0" algn="l">
              <a:lnSpc>
                <a:spcPct val="130000"/>
              </a:lnSpc>
              <a:spcBef>
                <a:spcPts val="480"/>
              </a:spcBef>
              <a:spcAft>
                <a:spcPts val="0"/>
              </a:spcAft>
              <a:buNone/>
            </a:pPr>
            <a:r>
              <a:rPr lang="it" sz="1100" u="sng"/>
              <a:t>Calibration Phase</a:t>
            </a:r>
            <a:r>
              <a:rPr lang="it" sz="1100"/>
              <a:t>: Collecting the 5-10 minutes of movements (e.g., standard grasps) from the </a:t>
            </a:r>
            <a:r>
              <a:rPr b="1" lang="it" sz="1100"/>
              <a:t>new user</a:t>
            </a:r>
            <a:r>
              <a:rPr lang="it" sz="1100"/>
              <a:t> (the Target Subject, like an amputee). Transfer Learning. </a:t>
            </a:r>
            <a:endParaRPr sz="1100"/>
          </a:p>
          <a:p>
            <a:pPr indent="0" lvl="0" marL="0" rtl="0" algn="ctr">
              <a:lnSpc>
                <a:spcPct val="130000"/>
              </a:lnSpc>
              <a:spcBef>
                <a:spcPts val="480"/>
              </a:spcBef>
              <a:spcAft>
                <a:spcPts val="0"/>
              </a:spcAft>
              <a:buNone/>
            </a:pPr>
            <a:r>
              <a:t/>
            </a:r>
            <a:endParaRPr sz="126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8" name="Shape 618"/>
        <p:cNvGrpSpPr/>
        <p:nvPr/>
      </p:nvGrpSpPr>
      <p:grpSpPr>
        <a:xfrm>
          <a:off x="0" y="0"/>
          <a:ext cx="0" cy="0"/>
          <a:chOff x="0" y="0"/>
          <a:chExt cx="0" cy="0"/>
        </a:xfrm>
      </p:grpSpPr>
      <p:sp>
        <p:nvSpPr>
          <p:cNvPr id="619" name="Google Shape;619;p69"/>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Dataset</a:t>
            </a:r>
            <a:endParaRPr>
              <a:solidFill>
                <a:schemeClr val="dk1"/>
              </a:solidFill>
            </a:endParaRPr>
          </a:p>
        </p:txBody>
      </p:sp>
      <p:sp>
        <p:nvSpPr>
          <p:cNvPr id="620" name="Google Shape;620;p69"/>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621" name="Google Shape;621;p69"/>
          <p:cNvSpPr txBox="1"/>
          <p:nvPr/>
        </p:nvSpPr>
        <p:spPr>
          <a:xfrm>
            <a:off x="492975" y="1181075"/>
            <a:ext cx="8246100" cy="3039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100" u="sng"/>
              <a:t>Subjects</a:t>
            </a:r>
            <a:r>
              <a:rPr lang="it" sz="1100" u="sng"/>
              <a:t>: </a:t>
            </a:r>
            <a:r>
              <a:rPr lang="it" sz="1100"/>
              <a:t> 9-15 participants. Healthy Subjects (for initial </a:t>
            </a:r>
            <a:r>
              <a:rPr i="1" lang="it" sz="1100"/>
              <a:t>ground truth</a:t>
            </a:r>
            <a:r>
              <a:rPr lang="it" sz="1100"/>
              <a:t> modeling) and, ideally, TMR  or long-term amputee patients.</a:t>
            </a:r>
            <a:endParaRPr sz="1100"/>
          </a:p>
          <a:p>
            <a:pPr indent="0" lvl="0" marL="0" rtl="0" algn="l">
              <a:lnSpc>
                <a:spcPct val="130000"/>
              </a:lnSpc>
              <a:spcBef>
                <a:spcPts val="480"/>
              </a:spcBef>
              <a:spcAft>
                <a:spcPts val="0"/>
              </a:spcAft>
              <a:buNone/>
            </a:pPr>
            <a:r>
              <a:rPr lang="it" sz="1100" u="sng"/>
              <a:t>Movement Category: </a:t>
            </a:r>
            <a:endParaRPr sz="1100" u="sng"/>
          </a:p>
          <a:p>
            <a:pPr indent="-298450" lvl="0" marL="457200" rtl="0" algn="l">
              <a:lnSpc>
                <a:spcPct val="130000"/>
              </a:lnSpc>
              <a:spcBef>
                <a:spcPts val="480"/>
              </a:spcBef>
              <a:spcAft>
                <a:spcPts val="0"/>
              </a:spcAft>
              <a:buSzPts val="1100"/>
              <a:buChar char="-"/>
            </a:pPr>
            <a:r>
              <a:rPr lang="it" sz="1100" u="sng"/>
              <a:t>Continuous Proportionality: </a:t>
            </a:r>
            <a:r>
              <a:rPr lang="it" sz="1100"/>
              <a:t>Slow, gradual opening/closing of the hand (0 to 100) and slow modulation of grip force.</a:t>
            </a:r>
            <a:endParaRPr sz="1100"/>
          </a:p>
          <a:p>
            <a:pPr indent="-298450" lvl="0" marL="457200" rtl="0" algn="l">
              <a:lnSpc>
                <a:spcPct val="130000"/>
              </a:lnSpc>
              <a:spcBef>
                <a:spcPts val="0"/>
              </a:spcBef>
              <a:spcAft>
                <a:spcPts val="0"/>
              </a:spcAft>
              <a:buSzPts val="1100"/>
              <a:buChar char="-"/>
            </a:pPr>
            <a:r>
              <a:rPr lang="it" sz="1100" u="sng"/>
              <a:t>Smooth Transitions: </a:t>
            </a:r>
            <a:r>
              <a:rPr lang="it" sz="1100"/>
              <a:t>Fluid, uninterrupted transitions between </a:t>
            </a:r>
            <a:r>
              <a:rPr b="1" lang="it" sz="1100"/>
              <a:t>different static grasps</a:t>
            </a:r>
            <a:r>
              <a:rPr lang="it" sz="1100"/>
              <a:t> (e.g., Cylindrical →Pinch →Sphere).</a:t>
            </a:r>
            <a:endParaRPr sz="1100" u="sng"/>
          </a:p>
          <a:p>
            <a:pPr indent="-298450" lvl="0" marL="457200" rtl="0" algn="l">
              <a:lnSpc>
                <a:spcPct val="130000"/>
              </a:lnSpc>
              <a:spcBef>
                <a:spcPts val="0"/>
              </a:spcBef>
              <a:spcAft>
                <a:spcPts val="0"/>
              </a:spcAft>
              <a:buSzPts val="1100"/>
              <a:buChar char="-"/>
            </a:pPr>
            <a:r>
              <a:rPr lang="it" sz="1100" u="sng"/>
              <a:t>Wrist Movements: </a:t>
            </a:r>
            <a:r>
              <a:rPr lang="it" sz="1100"/>
              <a:t>Continuous Flexion/Extension and Ulnar/Radial Deviation of the wrist. </a:t>
            </a:r>
            <a:r>
              <a:rPr lang="it" sz="1100"/>
              <a:t>Provides separate </a:t>
            </a:r>
            <a:r>
              <a:rPr i="1" lang="it" sz="1100"/>
              <a:t>ground truth</a:t>
            </a:r>
            <a:r>
              <a:rPr lang="it" sz="1100"/>
              <a:t> data for the wrist regression head, allowing for </a:t>
            </a:r>
            <a:r>
              <a:rPr b="1" lang="it" sz="1100"/>
              <a:t>simultaneous control</a:t>
            </a:r>
            <a:r>
              <a:rPr lang="it" sz="1100"/>
              <a:t> (Hand Posture + Wrist Angle).</a:t>
            </a:r>
            <a:endParaRPr sz="1100"/>
          </a:p>
          <a:p>
            <a:pPr indent="-298450" lvl="0" marL="457200" rtl="0" algn="l">
              <a:lnSpc>
                <a:spcPct val="130000"/>
              </a:lnSpc>
              <a:spcBef>
                <a:spcPts val="0"/>
              </a:spcBef>
              <a:spcAft>
                <a:spcPts val="0"/>
              </a:spcAft>
              <a:buSzPts val="1100"/>
              <a:buChar char="-"/>
            </a:pPr>
            <a:r>
              <a:rPr lang="it" sz="1100" u="sng"/>
              <a:t>Static Grasps:</a:t>
            </a:r>
            <a:r>
              <a:rPr lang="it" sz="1100"/>
              <a:t> </a:t>
            </a:r>
            <a:r>
              <a:rPr lang="it" sz="1100"/>
              <a:t>Holding 3-5 distinct object types with variable force levels.</a:t>
            </a:r>
            <a:endParaRPr sz="11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5" name="Shape 625"/>
        <p:cNvGrpSpPr/>
        <p:nvPr/>
      </p:nvGrpSpPr>
      <p:grpSpPr>
        <a:xfrm>
          <a:off x="0" y="0"/>
          <a:ext cx="0" cy="0"/>
          <a:chOff x="0" y="0"/>
          <a:chExt cx="0" cy="0"/>
        </a:xfrm>
      </p:grpSpPr>
      <p:sp>
        <p:nvSpPr>
          <p:cNvPr id="626" name="Google Shape;626;p70"/>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Inter- &amp; Intra-Variability</a:t>
            </a:r>
            <a:endParaRPr>
              <a:solidFill>
                <a:schemeClr val="dk1"/>
              </a:solidFill>
            </a:endParaRPr>
          </a:p>
        </p:txBody>
      </p:sp>
      <p:sp>
        <p:nvSpPr>
          <p:cNvPr id="627" name="Google Shape;627;p70"/>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628" name="Google Shape;628;p70"/>
          <p:cNvSpPr txBox="1"/>
          <p:nvPr/>
        </p:nvSpPr>
        <p:spPr>
          <a:xfrm>
            <a:off x="492975" y="1181075"/>
            <a:ext cx="8246100" cy="2115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100" u="sng"/>
              <a:t>Intra-Session</a:t>
            </a:r>
            <a:r>
              <a:rPr lang="it" sz="1100" u="sng"/>
              <a:t>: </a:t>
            </a:r>
            <a:r>
              <a:rPr lang="it" sz="1100"/>
              <a:t>Signal changes </a:t>
            </a:r>
            <a:r>
              <a:rPr b="1" lang="it" sz="1100"/>
              <a:t>within the same recording session</a:t>
            </a:r>
            <a:r>
              <a:rPr lang="it" sz="1100"/>
              <a:t> (e.g., muscle fatigue, sweat, electrode heating). Movements are recorded in </a:t>
            </a:r>
            <a:r>
              <a:rPr b="1" lang="it" sz="1100"/>
              <a:t>multiple repeated blocks</a:t>
            </a:r>
            <a:r>
              <a:rPr lang="it" sz="1100"/>
              <a:t> (e.g., 5 blocks per task). Robustness is assessed by training on early blocks and testing on the final, fatigued blocks.</a:t>
            </a:r>
            <a:endParaRPr sz="1100"/>
          </a:p>
          <a:p>
            <a:pPr indent="0" lvl="0" marL="0" rtl="0" algn="l">
              <a:lnSpc>
                <a:spcPct val="130000"/>
              </a:lnSpc>
              <a:spcBef>
                <a:spcPts val="480"/>
              </a:spcBef>
              <a:spcAft>
                <a:spcPts val="0"/>
              </a:spcAft>
              <a:buNone/>
            </a:pPr>
            <a:r>
              <a:rPr lang="it" sz="1100" u="sng"/>
              <a:t>Inter-Session</a:t>
            </a:r>
            <a:r>
              <a:rPr lang="it" sz="1100" u="sng"/>
              <a:t>: </a:t>
            </a:r>
            <a:r>
              <a:rPr lang="it" sz="1100"/>
              <a:t>Signal changes </a:t>
            </a:r>
            <a:r>
              <a:rPr b="1" lang="it" sz="1100"/>
              <a:t>between different days</a:t>
            </a:r>
            <a:r>
              <a:rPr lang="it" sz="1100"/>
              <a:t> (e.g., electrode repositioning, baseline shift, skin changes). The model is trained on data from </a:t>
            </a:r>
            <a:r>
              <a:rPr b="1" lang="it" sz="1100"/>
              <a:t>Session 1</a:t>
            </a:r>
            <a:r>
              <a:rPr lang="it" sz="1100"/>
              <a:t> and tested on data from </a:t>
            </a:r>
            <a:r>
              <a:rPr b="1" lang="it" sz="1100"/>
              <a:t>Session 2, 3, etc. </a:t>
            </a:r>
            <a:endParaRPr sz="1100"/>
          </a:p>
          <a:p>
            <a:pPr indent="0" lvl="0" marL="0" rtl="0" algn="l">
              <a:lnSpc>
                <a:spcPct val="130000"/>
              </a:lnSpc>
              <a:spcBef>
                <a:spcPts val="480"/>
              </a:spcBef>
              <a:spcAft>
                <a:spcPts val="0"/>
              </a:spcAft>
              <a:buNone/>
            </a:pPr>
            <a:r>
              <a:rPr lang="it" sz="1100" u="sng"/>
              <a:t>Inter-Subject</a:t>
            </a:r>
            <a:r>
              <a:rPr lang="it" sz="1100" u="sng"/>
              <a:t>: </a:t>
            </a:r>
            <a:r>
              <a:rPr lang="it" sz="1100"/>
              <a:t>Signal variations </a:t>
            </a:r>
            <a:r>
              <a:rPr b="1" lang="it" sz="1100"/>
              <a:t>between different individuals</a:t>
            </a:r>
            <a:r>
              <a:rPr lang="it" sz="1100"/>
              <a:t> (differences in anatomy, muscle mass, and </a:t>
            </a:r>
            <a:r>
              <a:rPr lang="it" sz="1100"/>
              <a:t>neural recruitment</a:t>
            </a:r>
            <a:r>
              <a:rPr lang="it" sz="1100"/>
              <a:t>).</a:t>
            </a:r>
            <a:endParaRPr sz="1100"/>
          </a:p>
          <a:p>
            <a:pPr indent="0" lvl="0" marL="0" rtl="0" algn="l">
              <a:lnSpc>
                <a:spcPct val="130000"/>
              </a:lnSpc>
              <a:spcBef>
                <a:spcPts val="480"/>
              </a:spcBef>
              <a:spcAft>
                <a:spcPts val="0"/>
              </a:spcAft>
              <a:buNone/>
            </a:pPr>
            <a:r>
              <a:rPr lang="it" sz="1100" u="sng"/>
              <a:t>Force Robustness</a:t>
            </a:r>
            <a:r>
              <a:rPr lang="it" sz="1100"/>
              <a:t>: The ability of the control signal to remain stable even when the muscle contraction level changes significantly. Tasks are performed at </a:t>
            </a:r>
            <a:r>
              <a:rPr b="1" lang="it" sz="1100"/>
              <a:t>varying MVC levels</a:t>
            </a:r>
            <a:r>
              <a:rPr lang="it" sz="1100"/>
              <a:t> (e.g., low, medium, high force). </a:t>
            </a:r>
            <a:endParaRPr sz="1100"/>
          </a:p>
        </p:txBody>
      </p:sp>
      <p:pic>
        <p:nvPicPr>
          <p:cNvPr id="629" name="Google Shape;629;p70" title="Screenshot from 2025-10-09 14-37-55.png"/>
          <p:cNvPicPr preferRelativeResize="0"/>
          <p:nvPr/>
        </p:nvPicPr>
        <p:blipFill>
          <a:blip r:embed="rId3">
            <a:alphaModFix/>
          </a:blip>
          <a:stretch>
            <a:fillRect/>
          </a:stretch>
        </p:blipFill>
        <p:spPr>
          <a:xfrm>
            <a:off x="6157150" y="3063376"/>
            <a:ext cx="2422828" cy="14935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3" name="Shape 633"/>
        <p:cNvGrpSpPr/>
        <p:nvPr/>
      </p:nvGrpSpPr>
      <p:grpSpPr>
        <a:xfrm>
          <a:off x="0" y="0"/>
          <a:ext cx="0" cy="0"/>
          <a:chOff x="0" y="0"/>
          <a:chExt cx="0" cy="0"/>
        </a:xfrm>
      </p:grpSpPr>
      <p:sp>
        <p:nvSpPr>
          <p:cNvPr id="634" name="Google Shape;634;p71"/>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OBJECTIVE</a:t>
            </a:r>
            <a:endParaRPr>
              <a:solidFill>
                <a:schemeClr val="dk1"/>
              </a:solidFill>
            </a:endParaRPr>
          </a:p>
        </p:txBody>
      </p:sp>
      <p:sp>
        <p:nvSpPr>
          <p:cNvPr id="635" name="Google Shape;635;p71"/>
          <p:cNvSpPr txBox="1"/>
          <p:nvPr/>
        </p:nvSpPr>
        <p:spPr>
          <a:xfrm>
            <a:off x="1257525" y="1853400"/>
            <a:ext cx="1369800" cy="762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Hand-Wrist Kinematic (MANUS Core)</a:t>
            </a:r>
            <a:endParaRPr sz="1250"/>
          </a:p>
        </p:txBody>
      </p:sp>
      <p:cxnSp>
        <p:nvCxnSpPr>
          <p:cNvPr id="636" name="Google Shape;636;p71"/>
          <p:cNvCxnSpPr>
            <a:stCxn id="637" idx="3"/>
            <a:endCxn id="638" idx="1"/>
          </p:cNvCxnSpPr>
          <p:nvPr/>
        </p:nvCxnSpPr>
        <p:spPr>
          <a:xfrm>
            <a:off x="5441325" y="1254150"/>
            <a:ext cx="627600" cy="0"/>
          </a:xfrm>
          <a:prstGeom prst="straightConnector1">
            <a:avLst/>
          </a:prstGeom>
          <a:noFill/>
          <a:ln cap="flat" cmpd="sng" w="9525">
            <a:solidFill>
              <a:schemeClr val="dk2"/>
            </a:solidFill>
            <a:prstDash val="solid"/>
            <a:round/>
            <a:headEnd len="med" w="med" type="none"/>
            <a:tailEnd len="med" w="med" type="triangle"/>
          </a:ln>
        </p:spPr>
      </p:cxnSp>
      <p:cxnSp>
        <p:nvCxnSpPr>
          <p:cNvPr id="639" name="Google Shape;639;p71"/>
          <p:cNvCxnSpPr>
            <a:stCxn id="635" idx="3"/>
            <a:endCxn id="640" idx="1"/>
          </p:cNvCxnSpPr>
          <p:nvPr/>
        </p:nvCxnSpPr>
        <p:spPr>
          <a:xfrm>
            <a:off x="2627325" y="2234400"/>
            <a:ext cx="1029300" cy="0"/>
          </a:xfrm>
          <a:prstGeom prst="straightConnector1">
            <a:avLst/>
          </a:prstGeom>
          <a:noFill/>
          <a:ln cap="flat" cmpd="sng" w="9525">
            <a:solidFill>
              <a:schemeClr val="dk2"/>
            </a:solidFill>
            <a:prstDash val="solid"/>
            <a:round/>
            <a:headEnd len="med" w="med" type="none"/>
            <a:tailEnd len="med" w="med" type="triangle"/>
          </a:ln>
        </p:spPr>
      </p:cxnSp>
      <p:sp>
        <p:nvSpPr>
          <p:cNvPr id="638" name="Google Shape;638;p71"/>
          <p:cNvSpPr txBox="1"/>
          <p:nvPr/>
        </p:nvSpPr>
        <p:spPr>
          <a:xfrm>
            <a:off x="6068775" y="873150"/>
            <a:ext cx="2002500" cy="762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Feature Extraction (RMS, M synergies, MN synergies)</a:t>
            </a:r>
            <a:endParaRPr sz="1250"/>
          </a:p>
        </p:txBody>
      </p:sp>
      <p:sp>
        <p:nvSpPr>
          <p:cNvPr id="637" name="Google Shape;637;p71"/>
          <p:cNvSpPr txBox="1"/>
          <p:nvPr/>
        </p:nvSpPr>
        <p:spPr>
          <a:xfrm>
            <a:off x="3151125" y="969450"/>
            <a:ext cx="2290200" cy="569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Pre-Processing (filtering, rectification, segmentation)</a:t>
            </a:r>
            <a:endParaRPr sz="1250"/>
          </a:p>
        </p:txBody>
      </p:sp>
      <p:sp>
        <p:nvSpPr>
          <p:cNvPr id="641" name="Google Shape;641;p71"/>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cxnSp>
        <p:nvCxnSpPr>
          <p:cNvPr id="642" name="Google Shape;642;p71"/>
          <p:cNvCxnSpPr>
            <a:stCxn id="643" idx="3"/>
            <a:endCxn id="637" idx="1"/>
          </p:cNvCxnSpPr>
          <p:nvPr/>
        </p:nvCxnSpPr>
        <p:spPr>
          <a:xfrm>
            <a:off x="2627325" y="1254150"/>
            <a:ext cx="523800" cy="0"/>
          </a:xfrm>
          <a:prstGeom prst="straightConnector1">
            <a:avLst/>
          </a:prstGeom>
          <a:noFill/>
          <a:ln cap="flat" cmpd="sng" w="9525">
            <a:solidFill>
              <a:schemeClr val="dk2"/>
            </a:solidFill>
            <a:prstDash val="solid"/>
            <a:round/>
            <a:headEnd len="med" w="med" type="none"/>
            <a:tailEnd len="med" w="med" type="triangle"/>
          </a:ln>
        </p:spPr>
      </p:cxnSp>
      <p:sp>
        <p:nvSpPr>
          <p:cNvPr id="643" name="Google Shape;643;p71"/>
          <p:cNvSpPr txBox="1"/>
          <p:nvPr/>
        </p:nvSpPr>
        <p:spPr>
          <a:xfrm>
            <a:off x="1257525" y="969450"/>
            <a:ext cx="1369800" cy="569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sEMG (BioGAP)</a:t>
            </a:r>
            <a:endParaRPr sz="1250"/>
          </a:p>
        </p:txBody>
      </p:sp>
      <p:cxnSp>
        <p:nvCxnSpPr>
          <p:cNvPr id="644" name="Google Shape;644;p71"/>
          <p:cNvCxnSpPr>
            <a:endCxn id="640" idx="0"/>
          </p:cNvCxnSpPr>
          <p:nvPr/>
        </p:nvCxnSpPr>
        <p:spPr>
          <a:xfrm flipH="1">
            <a:off x="4572450" y="1642350"/>
            <a:ext cx="1504500" cy="403500"/>
          </a:xfrm>
          <a:prstGeom prst="straightConnector1">
            <a:avLst/>
          </a:prstGeom>
          <a:noFill/>
          <a:ln cap="flat" cmpd="sng" w="9525">
            <a:solidFill>
              <a:schemeClr val="dk2"/>
            </a:solidFill>
            <a:prstDash val="solid"/>
            <a:round/>
            <a:headEnd len="med" w="med" type="none"/>
            <a:tailEnd len="med" w="med" type="triangle"/>
          </a:ln>
        </p:spPr>
      </p:cxnSp>
      <p:sp>
        <p:nvSpPr>
          <p:cNvPr id="645" name="Google Shape;645;p71"/>
          <p:cNvSpPr txBox="1"/>
          <p:nvPr/>
        </p:nvSpPr>
        <p:spPr>
          <a:xfrm>
            <a:off x="5869425" y="2045850"/>
            <a:ext cx="2401200" cy="377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Model (Transformer, LSTM)</a:t>
            </a:r>
            <a:endParaRPr sz="1250"/>
          </a:p>
        </p:txBody>
      </p:sp>
      <p:cxnSp>
        <p:nvCxnSpPr>
          <p:cNvPr id="646" name="Google Shape;646;p71"/>
          <p:cNvCxnSpPr>
            <a:endCxn id="647" idx="0"/>
          </p:cNvCxnSpPr>
          <p:nvPr/>
        </p:nvCxnSpPr>
        <p:spPr>
          <a:xfrm flipH="1">
            <a:off x="7111350" y="2431850"/>
            <a:ext cx="4200" cy="1099800"/>
          </a:xfrm>
          <a:prstGeom prst="straightConnector1">
            <a:avLst/>
          </a:prstGeom>
          <a:noFill/>
          <a:ln cap="flat" cmpd="sng" w="9525">
            <a:solidFill>
              <a:schemeClr val="dk2"/>
            </a:solidFill>
            <a:prstDash val="solid"/>
            <a:round/>
            <a:headEnd len="med" w="med" type="none"/>
            <a:tailEnd len="med" w="med" type="triangle"/>
          </a:ln>
        </p:spPr>
      </p:cxnSp>
      <p:sp>
        <p:nvSpPr>
          <p:cNvPr id="647" name="Google Shape;647;p71"/>
          <p:cNvSpPr txBox="1"/>
          <p:nvPr/>
        </p:nvSpPr>
        <p:spPr>
          <a:xfrm>
            <a:off x="6033450" y="3531650"/>
            <a:ext cx="2155800" cy="377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Virtual Hand</a:t>
            </a:r>
            <a:endParaRPr sz="1250"/>
          </a:p>
        </p:txBody>
      </p:sp>
      <p:cxnSp>
        <p:nvCxnSpPr>
          <p:cNvPr id="648" name="Google Shape;648;p71"/>
          <p:cNvCxnSpPr>
            <a:stCxn id="649" idx="3"/>
            <a:endCxn id="643" idx="1"/>
          </p:cNvCxnSpPr>
          <p:nvPr/>
        </p:nvCxnSpPr>
        <p:spPr>
          <a:xfrm flipH="1" rot="10800000">
            <a:off x="974975" y="1254288"/>
            <a:ext cx="282600" cy="473100"/>
          </a:xfrm>
          <a:prstGeom prst="straightConnector1">
            <a:avLst/>
          </a:prstGeom>
          <a:noFill/>
          <a:ln cap="flat" cmpd="sng" w="9525">
            <a:solidFill>
              <a:schemeClr val="dk2"/>
            </a:solidFill>
            <a:prstDash val="solid"/>
            <a:round/>
            <a:headEnd len="med" w="med" type="none"/>
            <a:tailEnd len="med" w="med" type="triangle"/>
          </a:ln>
        </p:spPr>
      </p:cxnSp>
      <p:sp>
        <p:nvSpPr>
          <p:cNvPr id="650" name="Google Shape;650;p71"/>
          <p:cNvSpPr txBox="1"/>
          <p:nvPr/>
        </p:nvSpPr>
        <p:spPr>
          <a:xfrm>
            <a:off x="4147625" y="3462350"/>
            <a:ext cx="2155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Haptic </a:t>
            </a:r>
            <a:r>
              <a:rPr lang="it" sz="1000">
                <a:solidFill>
                  <a:schemeClr val="dk1"/>
                </a:solidFill>
              </a:rPr>
              <a:t>Feedback </a:t>
            </a:r>
            <a:r>
              <a:rPr lang="it" sz="1200">
                <a:solidFill>
                  <a:schemeClr val="dk1"/>
                </a:solidFill>
                <a:highlight>
                  <a:srgbClr val="FFFFFF"/>
                </a:highlight>
              </a:rPr>
              <a:t>α</a:t>
            </a:r>
            <a:r>
              <a:rPr lang="it" sz="1000">
                <a:solidFill>
                  <a:schemeClr val="dk1"/>
                </a:solidFill>
              </a:rPr>
              <a:t> Force</a:t>
            </a:r>
            <a:endParaRPr sz="1000">
              <a:solidFill>
                <a:schemeClr val="dk1"/>
              </a:solidFill>
            </a:endParaRPr>
          </a:p>
        </p:txBody>
      </p:sp>
      <p:cxnSp>
        <p:nvCxnSpPr>
          <p:cNvPr id="651" name="Google Shape;651;p71"/>
          <p:cNvCxnSpPr>
            <a:endCxn id="647" idx="1"/>
          </p:cNvCxnSpPr>
          <p:nvPr/>
        </p:nvCxnSpPr>
        <p:spPr>
          <a:xfrm flipH="1" rot="10800000">
            <a:off x="551250" y="3720200"/>
            <a:ext cx="5482200" cy="16200"/>
          </a:xfrm>
          <a:prstGeom prst="straightConnector1">
            <a:avLst/>
          </a:prstGeom>
          <a:noFill/>
          <a:ln cap="flat" cmpd="sng" w="9525">
            <a:solidFill>
              <a:schemeClr val="dk2"/>
            </a:solidFill>
            <a:prstDash val="solid"/>
            <a:round/>
            <a:headEnd len="med" w="med" type="none"/>
            <a:tailEnd len="med" w="med" type="none"/>
          </a:ln>
        </p:spPr>
      </p:cxnSp>
      <p:sp>
        <p:nvSpPr>
          <p:cNvPr id="649" name="Google Shape;649;p71"/>
          <p:cNvSpPr txBox="1"/>
          <p:nvPr/>
        </p:nvSpPr>
        <p:spPr>
          <a:xfrm>
            <a:off x="115175" y="1538838"/>
            <a:ext cx="859800" cy="377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Patient</a:t>
            </a:r>
            <a:endParaRPr sz="1250"/>
          </a:p>
        </p:txBody>
      </p:sp>
      <p:cxnSp>
        <p:nvCxnSpPr>
          <p:cNvPr id="652" name="Google Shape;652;p71"/>
          <p:cNvCxnSpPr>
            <a:stCxn id="649" idx="3"/>
            <a:endCxn id="635" idx="1"/>
          </p:cNvCxnSpPr>
          <p:nvPr/>
        </p:nvCxnSpPr>
        <p:spPr>
          <a:xfrm>
            <a:off x="974975" y="1727388"/>
            <a:ext cx="282600" cy="507000"/>
          </a:xfrm>
          <a:prstGeom prst="straightConnector1">
            <a:avLst/>
          </a:prstGeom>
          <a:noFill/>
          <a:ln cap="flat" cmpd="sng" w="9525">
            <a:solidFill>
              <a:schemeClr val="dk2"/>
            </a:solidFill>
            <a:prstDash val="solid"/>
            <a:round/>
            <a:headEnd len="med" w="med" type="none"/>
            <a:tailEnd len="med" w="med" type="triangle"/>
          </a:ln>
        </p:spPr>
      </p:cxnSp>
      <p:cxnSp>
        <p:nvCxnSpPr>
          <p:cNvPr id="653" name="Google Shape;653;p71"/>
          <p:cNvCxnSpPr/>
          <p:nvPr/>
        </p:nvCxnSpPr>
        <p:spPr>
          <a:xfrm flipH="1" rot="10800000">
            <a:off x="551200" y="1916125"/>
            <a:ext cx="11400" cy="1812000"/>
          </a:xfrm>
          <a:prstGeom prst="straightConnector1">
            <a:avLst/>
          </a:prstGeom>
          <a:noFill/>
          <a:ln cap="flat" cmpd="sng" w="9525">
            <a:solidFill>
              <a:schemeClr val="dk2"/>
            </a:solidFill>
            <a:prstDash val="solid"/>
            <a:round/>
            <a:headEnd len="med" w="med" type="none"/>
            <a:tailEnd len="med" w="med" type="triangle"/>
          </a:ln>
        </p:spPr>
      </p:cxnSp>
      <p:cxnSp>
        <p:nvCxnSpPr>
          <p:cNvPr id="654" name="Google Shape;654;p71"/>
          <p:cNvCxnSpPr/>
          <p:nvPr/>
        </p:nvCxnSpPr>
        <p:spPr>
          <a:xfrm>
            <a:off x="6632450" y="2449350"/>
            <a:ext cx="9600" cy="1087800"/>
          </a:xfrm>
          <a:prstGeom prst="straightConnector1">
            <a:avLst/>
          </a:prstGeom>
          <a:noFill/>
          <a:ln cap="flat" cmpd="sng" w="9525">
            <a:solidFill>
              <a:schemeClr val="dk2"/>
            </a:solidFill>
            <a:prstDash val="solid"/>
            <a:round/>
            <a:headEnd len="med" w="med" type="none"/>
            <a:tailEnd len="med" w="med" type="triangle"/>
          </a:ln>
        </p:spPr>
      </p:cxnSp>
      <p:cxnSp>
        <p:nvCxnSpPr>
          <p:cNvPr id="655" name="Google Shape;655;p71"/>
          <p:cNvCxnSpPr/>
          <p:nvPr/>
        </p:nvCxnSpPr>
        <p:spPr>
          <a:xfrm>
            <a:off x="7584838" y="2449950"/>
            <a:ext cx="2700" cy="1086600"/>
          </a:xfrm>
          <a:prstGeom prst="straightConnector1">
            <a:avLst/>
          </a:prstGeom>
          <a:noFill/>
          <a:ln cap="flat" cmpd="sng" w="9525">
            <a:solidFill>
              <a:schemeClr val="dk2"/>
            </a:solidFill>
            <a:prstDash val="solid"/>
            <a:round/>
            <a:headEnd len="med" w="med" type="none"/>
            <a:tailEnd len="med" w="med" type="triangle"/>
          </a:ln>
        </p:spPr>
      </p:cxnSp>
      <p:sp>
        <p:nvSpPr>
          <p:cNvPr id="656" name="Google Shape;656;p71"/>
          <p:cNvSpPr txBox="1"/>
          <p:nvPr/>
        </p:nvSpPr>
        <p:spPr>
          <a:xfrm rot="5400000">
            <a:off x="7538400" y="2467800"/>
            <a:ext cx="523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Force</a:t>
            </a:r>
            <a:endParaRPr sz="1000">
              <a:solidFill>
                <a:schemeClr val="dk1"/>
              </a:solidFill>
            </a:endParaRPr>
          </a:p>
        </p:txBody>
      </p:sp>
      <p:sp>
        <p:nvSpPr>
          <p:cNvPr id="657" name="Google Shape;657;p71"/>
          <p:cNvSpPr txBox="1"/>
          <p:nvPr/>
        </p:nvSpPr>
        <p:spPr>
          <a:xfrm rot="5400000">
            <a:off x="7135250" y="2467800"/>
            <a:ext cx="474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Wrist</a:t>
            </a:r>
            <a:endParaRPr sz="1000">
              <a:solidFill>
                <a:schemeClr val="dk1"/>
              </a:solidFill>
            </a:endParaRPr>
          </a:p>
        </p:txBody>
      </p:sp>
      <p:sp>
        <p:nvSpPr>
          <p:cNvPr id="658" name="Google Shape;658;p71"/>
          <p:cNvSpPr txBox="1"/>
          <p:nvPr/>
        </p:nvSpPr>
        <p:spPr>
          <a:xfrm rot="5400000">
            <a:off x="6571475" y="2466975"/>
            <a:ext cx="560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Hand</a:t>
            </a:r>
            <a:endParaRPr sz="1000">
              <a:solidFill>
                <a:schemeClr val="dk1"/>
              </a:solidFill>
            </a:endParaRPr>
          </a:p>
        </p:txBody>
      </p:sp>
      <p:sp>
        <p:nvSpPr>
          <p:cNvPr id="659" name="Google Shape;659;p71"/>
          <p:cNvSpPr txBox="1"/>
          <p:nvPr/>
        </p:nvSpPr>
        <p:spPr>
          <a:xfrm>
            <a:off x="1257525" y="2859313"/>
            <a:ext cx="1369800" cy="569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Grasped Object  (Weart, tactors)</a:t>
            </a:r>
            <a:endParaRPr sz="1250"/>
          </a:p>
        </p:txBody>
      </p:sp>
      <p:cxnSp>
        <p:nvCxnSpPr>
          <p:cNvPr id="660" name="Google Shape;660;p71"/>
          <p:cNvCxnSpPr>
            <a:endCxn id="640" idx="2"/>
          </p:cNvCxnSpPr>
          <p:nvPr/>
        </p:nvCxnSpPr>
        <p:spPr>
          <a:xfrm rot="10800000">
            <a:off x="4572450" y="2422950"/>
            <a:ext cx="3000" cy="734100"/>
          </a:xfrm>
          <a:prstGeom prst="straightConnector1">
            <a:avLst/>
          </a:prstGeom>
          <a:noFill/>
          <a:ln cap="flat" cmpd="sng" w="9525">
            <a:solidFill>
              <a:schemeClr val="dk2"/>
            </a:solidFill>
            <a:prstDash val="solid"/>
            <a:round/>
            <a:headEnd len="med" w="med" type="none"/>
            <a:tailEnd len="med" w="med" type="triangle"/>
          </a:ln>
        </p:spPr>
      </p:cxnSp>
      <p:cxnSp>
        <p:nvCxnSpPr>
          <p:cNvPr id="661" name="Google Shape;661;p71"/>
          <p:cNvCxnSpPr>
            <a:stCxn id="659" idx="3"/>
          </p:cNvCxnSpPr>
          <p:nvPr/>
        </p:nvCxnSpPr>
        <p:spPr>
          <a:xfrm flipH="1" rot="10800000">
            <a:off x="2627325" y="3142813"/>
            <a:ext cx="1953900" cy="1200"/>
          </a:xfrm>
          <a:prstGeom prst="straightConnector1">
            <a:avLst/>
          </a:prstGeom>
          <a:noFill/>
          <a:ln cap="flat" cmpd="sng" w="9525">
            <a:solidFill>
              <a:schemeClr val="dk2"/>
            </a:solidFill>
            <a:prstDash val="solid"/>
            <a:round/>
            <a:headEnd len="med" w="med" type="none"/>
            <a:tailEnd len="med" w="med" type="none"/>
          </a:ln>
        </p:spPr>
      </p:cxnSp>
      <p:sp>
        <p:nvSpPr>
          <p:cNvPr id="662" name="Google Shape;662;p71"/>
          <p:cNvSpPr txBox="1"/>
          <p:nvPr/>
        </p:nvSpPr>
        <p:spPr>
          <a:xfrm>
            <a:off x="2675375" y="2807950"/>
            <a:ext cx="85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Force</a:t>
            </a:r>
            <a:endParaRPr sz="1000">
              <a:solidFill>
                <a:schemeClr val="dk1"/>
              </a:solidFill>
            </a:endParaRPr>
          </a:p>
        </p:txBody>
      </p:sp>
      <p:cxnSp>
        <p:nvCxnSpPr>
          <p:cNvPr id="663" name="Google Shape;663;p71"/>
          <p:cNvCxnSpPr>
            <a:stCxn id="649" idx="3"/>
            <a:endCxn id="659" idx="1"/>
          </p:cNvCxnSpPr>
          <p:nvPr/>
        </p:nvCxnSpPr>
        <p:spPr>
          <a:xfrm>
            <a:off x="974975" y="1727388"/>
            <a:ext cx="282600" cy="1416600"/>
          </a:xfrm>
          <a:prstGeom prst="straightConnector1">
            <a:avLst/>
          </a:prstGeom>
          <a:noFill/>
          <a:ln cap="flat" cmpd="sng" w="9525">
            <a:solidFill>
              <a:schemeClr val="dk2"/>
            </a:solidFill>
            <a:prstDash val="solid"/>
            <a:round/>
            <a:headEnd len="med" w="med" type="none"/>
            <a:tailEnd len="med" w="med" type="triangle"/>
          </a:ln>
        </p:spPr>
      </p:cxnSp>
      <p:sp>
        <p:nvSpPr>
          <p:cNvPr id="664" name="Google Shape;664;p71"/>
          <p:cNvSpPr txBox="1"/>
          <p:nvPr/>
        </p:nvSpPr>
        <p:spPr>
          <a:xfrm>
            <a:off x="7723500" y="2898900"/>
            <a:ext cx="1420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dk1"/>
                </a:solidFill>
              </a:rPr>
              <a:t>Synergy reconstruction?</a:t>
            </a:r>
            <a:endParaRPr sz="1000">
              <a:solidFill>
                <a:schemeClr val="dk1"/>
              </a:solidFill>
            </a:endParaRPr>
          </a:p>
        </p:txBody>
      </p:sp>
      <p:sp>
        <p:nvSpPr>
          <p:cNvPr id="640" name="Google Shape;640;p71"/>
          <p:cNvSpPr txBox="1"/>
          <p:nvPr/>
        </p:nvSpPr>
        <p:spPr>
          <a:xfrm>
            <a:off x="3656550" y="2045850"/>
            <a:ext cx="1831800" cy="377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it" sz="1250">
                <a:solidFill>
                  <a:schemeClr val="dk1"/>
                </a:solidFill>
              </a:rPr>
              <a:t>BioGUI synchro data</a:t>
            </a:r>
            <a:endParaRPr sz="1250"/>
          </a:p>
        </p:txBody>
      </p:sp>
      <p:cxnSp>
        <p:nvCxnSpPr>
          <p:cNvPr id="665" name="Google Shape;665;p71"/>
          <p:cNvCxnSpPr>
            <a:stCxn id="640" idx="3"/>
            <a:endCxn id="645" idx="1"/>
          </p:cNvCxnSpPr>
          <p:nvPr/>
        </p:nvCxnSpPr>
        <p:spPr>
          <a:xfrm>
            <a:off x="5488350" y="2234400"/>
            <a:ext cx="381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9" name="Shape 669"/>
        <p:cNvGrpSpPr/>
        <p:nvPr/>
      </p:nvGrpSpPr>
      <p:grpSpPr>
        <a:xfrm>
          <a:off x="0" y="0"/>
          <a:ext cx="0" cy="0"/>
          <a:chOff x="0" y="0"/>
          <a:chExt cx="0" cy="0"/>
        </a:xfrm>
      </p:grpSpPr>
      <p:sp>
        <p:nvSpPr>
          <p:cNvPr id="670" name="Google Shape;670;p72"/>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Adaptive Air Density Estimation                   </a:t>
            </a:r>
            <a:endParaRPr sz="1000">
              <a:solidFill>
                <a:schemeClr val="lt1"/>
              </a:solidFill>
            </a:endParaRPr>
          </a:p>
        </p:txBody>
      </p:sp>
      <p:pic>
        <p:nvPicPr>
          <p:cNvPr id="671" name="Google Shape;671;p72"/>
          <p:cNvPicPr preferRelativeResize="0"/>
          <p:nvPr/>
        </p:nvPicPr>
        <p:blipFill>
          <a:blip r:embed="rId3">
            <a:alphaModFix/>
          </a:blip>
          <a:stretch>
            <a:fillRect/>
          </a:stretch>
        </p:blipFill>
        <p:spPr>
          <a:xfrm>
            <a:off x="637388" y="939600"/>
            <a:ext cx="7869231" cy="3464875"/>
          </a:xfrm>
          <a:prstGeom prst="rect">
            <a:avLst/>
          </a:prstGeom>
          <a:noFill/>
          <a:ln>
            <a:noFill/>
          </a:ln>
        </p:spPr>
      </p:pic>
      <p:sp>
        <p:nvSpPr>
          <p:cNvPr id="672" name="Google Shape;672;p72"/>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Mirrored hand motion decoding: ALVI PIPELINE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6" name="Shape 676"/>
        <p:cNvGrpSpPr/>
        <p:nvPr/>
      </p:nvGrpSpPr>
      <p:grpSpPr>
        <a:xfrm>
          <a:off x="0" y="0"/>
          <a:ext cx="0" cy="0"/>
          <a:chOff x="0" y="0"/>
          <a:chExt cx="0" cy="0"/>
        </a:xfrm>
      </p:grpSpPr>
      <p:sp>
        <p:nvSpPr>
          <p:cNvPr id="677" name="Google Shape;677;p73"/>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Model: Input Independent</a:t>
            </a:r>
            <a:endParaRPr>
              <a:solidFill>
                <a:schemeClr val="dk1"/>
              </a:solidFill>
            </a:endParaRPr>
          </a:p>
        </p:txBody>
      </p:sp>
      <p:sp>
        <p:nvSpPr>
          <p:cNvPr id="678" name="Google Shape;678;p73"/>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679" name="Google Shape;679;p73"/>
          <p:cNvSpPr txBox="1"/>
          <p:nvPr/>
        </p:nvSpPr>
        <p:spPr>
          <a:xfrm>
            <a:off x="492975" y="1181075"/>
            <a:ext cx="8246100" cy="3255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100" u="sng"/>
              <a:t>Input Feature</a:t>
            </a:r>
            <a:r>
              <a:rPr lang="it" sz="1100"/>
              <a:t>: Sequential F vector (where F  is either MN Synergies {H), M Synergies, or RMS  Features). The model must accept a flexible sequential input of size [Time x Features]</a:t>
            </a:r>
            <a:endParaRPr sz="1100"/>
          </a:p>
          <a:p>
            <a:pPr indent="0" lvl="0" marL="0" rtl="0" algn="l">
              <a:lnSpc>
                <a:spcPct val="130000"/>
              </a:lnSpc>
              <a:spcBef>
                <a:spcPts val="480"/>
              </a:spcBef>
              <a:spcAft>
                <a:spcPts val="0"/>
              </a:spcAft>
              <a:buNone/>
            </a:pPr>
            <a:r>
              <a:rPr lang="it" sz="1100" u="sng"/>
              <a:t>Encoder Blocks</a:t>
            </a:r>
            <a:r>
              <a:rPr lang="it" sz="1100"/>
              <a:t>: </a:t>
            </a:r>
            <a:r>
              <a:rPr b="1" lang="it" sz="1100"/>
              <a:t>Transformer Encoder Blocks</a:t>
            </a:r>
            <a:r>
              <a:rPr lang="it" sz="1100"/>
              <a:t>, featuring </a:t>
            </a:r>
            <a:r>
              <a:rPr b="1" lang="it" sz="1100"/>
              <a:t>Multi-Head Self-Attention</a:t>
            </a:r>
            <a:r>
              <a:rPr lang="it" sz="1100"/>
              <a:t> and a </a:t>
            </a:r>
            <a:r>
              <a:rPr i="1" lang="it" sz="1100"/>
              <a:t>Feed-Forward Network</a:t>
            </a:r>
            <a:r>
              <a:rPr lang="it" sz="1100"/>
              <a:t> (FFN). Paper (ALVI…)</a:t>
            </a:r>
            <a:endParaRPr sz="1100"/>
          </a:p>
          <a:p>
            <a:pPr indent="0" lvl="0" marL="0" rtl="0" algn="l">
              <a:lnSpc>
                <a:spcPct val="130000"/>
              </a:lnSpc>
              <a:spcBef>
                <a:spcPts val="480"/>
              </a:spcBef>
              <a:spcAft>
                <a:spcPts val="0"/>
              </a:spcAft>
              <a:buNone/>
            </a:pPr>
            <a:r>
              <a:rPr lang="it" sz="1100" u="sng"/>
              <a:t>Residual Blocks</a:t>
            </a:r>
            <a:r>
              <a:rPr lang="it" sz="1100"/>
              <a:t>: Ensures that the compressed representation maintains its high information content, preventing information loss during downsampling. </a:t>
            </a:r>
            <a:r>
              <a:rPr b="1" lang="it" sz="1100"/>
              <a:t>Shared across all prediction tasks</a:t>
            </a:r>
            <a:endParaRPr sz="1100"/>
          </a:p>
          <a:p>
            <a:pPr indent="0" lvl="0" marL="0" rtl="0" algn="l">
              <a:lnSpc>
                <a:spcPct val="130000"/>
              </a:lnSpc>
              <a:spcBef>
                <a:spcPts val="480"/>
              </a:spcBef>
              <a:spcAft>
                <a:spcPts val="0"/>
              </a:spcAft>
              <a:buNone/>
            </a:pPr>
            <a:r>
              <a:rPr lang="it" sz="1100" u="sng"/>
              <a:t>Decoder Branches</a:t>
            </a:r>
            <a:r>
              <a:rPr lang="it" sz="1100"/>
              <a:t>: Two or Three separate Decoder Branches. </a:t>
            </a:r>
            <a:r>
              <a:rPr b="1" lang="it" sz="1100"/>
              <a:t>Multitask Learning.</a:t>
            </a:r>
            <a:r>
              <a:rPr lang="it" sz="1100"/>
              <a:t> Separates the output prediction into distinct, manageable tasks:</a:t>
            </a:r>
            <a:endParaRPr sz="1100"/>
          </a:p>
          <a:p>
            <a:pPr indent="-298450" lvl="0" marL="457200" rtl="0" algn="l">
              <a:lnSpc>
                <a:spcPct val="130000"/>
              </a:lnSpc>
              <a:spcBef>
                <a:spcPts val="480"/>
              </a:spcBef>
              <a:spcAft>
                <a:spcPts val="0"/>
              </a:spcAft>
              <a:buSzPts val="1100"/>
              <a:buChar char="-"/>
            </a:pPr>
            <a:r>
              <a:rPr lang="it" sz="1100"/>
              <a:t>Hand Posture: Predicts  kinematic Synergy Coefficients.</a:t>
            </a:r>
            <a:endParaRPr sz="1100"/>
          </a:p>
          <a:p>
            <a:pPr indent="-298450" lvl="0" marL="457200" rtl="0" algn="l">
              <a:lnSpc>
                <a:spcPct val="130000"/>
              </a:lnSpc>
              <a:spcBef>
                <a:spcPts val="0"/>
              </a:spcBef>
              <a:spcAft>
                <a:spcPts val="0"/>
              </a:spcAft>
              <a:buSzPts val="1100"/>
              <a:buChar char="-"/>
            </a:pPr>
            <a:r>
              <a:rPr lang="it" sz="1100"/>
              <a:t>Wrist Angles: Predicts direct angles (Flex/Ext, Ulnar/Radial Dev).</a:t>
            </a:r>
            <a:endParaRPr sz="1100"/>
          </a:p>
          <a:p>
            <a:pPr indent="-298450" lvl="0" marL="457200" rtl="0" algn="l">
              <a:lnSpc>
                <a:spcPct val="130000"/>
              </a:lnSpc>
              <a:spcBef>
                <a:spcPts val="0"/>
              </a:spcBef>
              <a:spcAft>
                <a:spcPts val="0"/>
              </a:spcAft>
              <a:buSzPts val="1100"/>
              <a:buChar char="-"/>
            </a:pPr>
            <a:r>
              <a:rPr lang="it" sz="1100"/>
              <a:t>Grip Force: Predicts 1 continuous force value.</a:t>
            </a:r>
            <a:endParaRPr sz="1100"/>
          </a:p>
          <a:p>
            <a:pPr indent="0" lvl="0" marL="0" rtl="0" algn="l">
              <a:lnSpc>
                <a:spcPct val="130000"/>
              </a:lnSpc>
              <a:spcBef>
                <a:spcPts val="480"/>
              </a:spcBef>
              <a:spcAft>
                <a:spcPts val="0"/>
              </a:spcAft>
              <a:buNone/>
            </a:pPr>
            <a:r>
              <a:rPr lang="it" sz="1100" u="sng"/>
              <a:t>Output Layer</a:t>
            </a:r>
            <a:r>
              <a:rPr lang="it" sz="1100"/>
              <a:t>: Continuous Prediction Layer</a:t>
            </a:r>
            <a:endParaRPr sz="11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3" name="Shape 683"/>
        <p:cNvGrpSpPr/>
        <p:nvPr/>
      </p:nvGrpSpPr>
      <p:grpSpPr>
        <a:xfrm>
          <a:off x="0" y="0"/>
          <a:ext cx="0" cy="0"/>
          <a:chOff x="0" y="0"/>
          <a:chExt cx="0" cy="0"/>
        </a:xfrm>
      </p:grpSpPr>
      <p:sp>
        <p:nvSpPr>
          <p:cNvPr id="684" name="Google Shape;684;p74"/>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Reference Models</a:t>
            </a:r>
            <a:endParaRPr>
              <a:solidFill>
                <a:schemeClr val="dk1"/>
              </a:solidFill>
            </a:endParaRPr>
          </a:p>
        </p:txBody>
      </p:sp>
      <p:sp>
        <p:nvSpPr>
          <p:cNvPr id="685" name="Google Shape;685;p74"/>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686" name="Google Shape;686;p74"/>
          <p:cNvSpPr txBox="1"/>
          <p:nvPr/>
        </p:nvSpPr>
        <p:spPr>
          <a:xfrm>
            <a:off x="492975" y="1181075"/>
            <a:ext cx="8246100" cy="3039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250"/>
              <a:t>Wrist + Hand Prediction </a:t>
            </a:r>
            <a:r>
              <a:rPr lang="it" sz="1100"/>
              <a:t>Deep end-to-end (raw sEMG):   </a:t>
            </a:r>
            <a:endParaRPr sz="1100"/>
          </a:p>
          <a:p>
            <a:pPr indent="-307975" lvl="0" marL="457200" rtl="0" algn="l">
              <a:lnSpc>
                <a:spcPct val="130000"/>
              </a:lnSpc>
              <a:spcBef>
                <a:spcPts val="480"/>
              </a:spcBef>
              <a:spcAft>
                <a:spcPts val="0"/>
              </a:spcAft>
              <a:buClr>
                <a:srgbClr val="212121"/>
              </a:buClr>
              <a:buSzPts val="1250"/>
              <a:buChar char="-"/>
            </a:pPr>
            <a:r>
              <a:rPr lang="it" sz="1250">
                <a:solidFill>
                  <a:srgbClr val="212121"/>
                </a:solidFill>
              </a:rPr>
              <a:t>Wearable and Ultra-Low-Power Fusion of EMG and A-Mode US for Hand-Wrist Kinematic Tracking</a:t>
            </a:r>
            <a:endParaRPr sz="1250">
              <a:solidFill>
                <a:srgbClr val="212121"/>
              </a:solidFill>
            </a:endParaRPr>
          </a:p>
          <a:p>
            <a:pPr indent="0" lvl="0" marL="0" rtl="0" algn="l">
              <a:lnSpc>
                <a:spcPct val="130000"/>
              </a:lnSpc>
              <a:spcBef>
                <a:spcPts val="480"/>
              </a:spcBef>
              <a:spcAft>
                <a:spcPts val="0"/>
              </a:spcAft>
              <a:buNone/>
            </a:pPr>
            <a:r>
              <a:rPr lang="it" sz="1250">
                <a:solidFill>
                  <a:srgbClr val="212121"/>
                </a:solidFill>
              </a:rPr>
              <a:t>Hand Prediction + force feedback:</a:t>
            </a:r>
            <a:endParaRPr sz="1250">
              <a:solidFill>
                <a:srgbClr val="212121"/>
              </a:solidFill>
            </a:endParaRPr>
          </a:p>
          <a:p>
            <a:pPr indent="-307975" lvl="0" marL="457200" rtl="0" algn="l">
              <a:lnSpc>
                <a:spcPct val="130000"/>
              </a:lnSpc>
              <a:spcBef>
                <a:spcPts val="480"/>
              </a:spcBef>
              <a:spcAft>
                <a:spcPts val="0"/>
              </a:spcAft>
              <a:buClr>
                <a:srgbClr val="212121"/>
              </a:buClr>
              <a:buSzPts val="1250"/>
              <a:buChar char="-"/>
            </a:pPr>
            <a:r>
              <a:rPr lang="it" sz="1250">
                <a:solidFill>
                  <a:srgbClr val="212121"/>
                </a:solidFill>
              </a:rPr>
              <a:t>ALVI</a:t>
            </a:r>
            <a:endParaRPr sz="1250">
              <a:solidFill>
                <a:srgbClr val="21212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0" name="Shape 690"/>
        <p:cNvGrpSpPr/>
        <p:nvPr/>
      </p:nvGrpSpPr>
      <p:grpSpPr>
        <a:xfrm>
          <a:off x="0" y="0"/>
          <a:ext cx="0" cy="0"/>
          <a:chOff x="0" y="0"/>
          <a:chExt cx="0" cy="0"/>
        </a:xfrm>
      </p:grpSpPr>
      <p:sp>
        <p:nvSpPr>
          <p:cNvPr id="691" name="Google Shape;691;p75"/>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Target Reaching Task</a:t>
            </a:r>
            <a:endParaRPr>
              <a:solidFill>
                <a:schemeClr val="dk1"/>
              </a:solidFill>
            </a:endParaRPr>
          </a:p>
        </p:txBody>
      </p:sp>
      <p:sp>
        <p:nvSpPr>
          <p:cNvPr id="692" name="Google Shape;692;p75"/>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693" name="Google Shape;693;p75"/>
          <p:cNvSpPr txBox="1"/>
          <p:nvPr/>
        </p:nvSpPr>
        <p:spPr>
          <a:xfrm>
            <a:off x="492975" y="1181075"/>
            <a:ext cx="8246100" cy="3039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250" u="sng"/>
              <a:t>Completion Rate</a:t>
            </a:r>
            <a:r>
              <a:rPr lang="it" sz="1250"/>
              <a:t> (CR): Percentage of </a:t>
            </a:r>
            <a:r>
              <a:rPr lang="it" sz="1250"/>
              <a:t>successfully</a:t>
            </a:r>
            <a:r>
              <a:rPr lang="it" sz="1250"/>
              <a:t> </a:t>
            </a:r>
            <a:r>
              <a:rPr lang="it" sz="1250"/>
              <a:t>reached</a:t>
            </a:r>
            <a:r>
              <a:rPr lang="it" sz="1250"/>
              <a:t> targets (within tolerance and time limit) out of total attempts.</a:t>
            </a:r>
            <a:endParaRPr sz="1250"/>
          </a:p>
          <a:p>
            <a:pPr indent="0" lvl="0" marL="0" rtl="0" algn="l">
              <a:lnSpc>
                <a:spcPct val="130000"/>
              </a:lnSpc>
              <a:spcBef>
                <a:spcPts val="480"/>
              </a:spcBef>
              <a:spcAft>
                <a:spcPts val="0"/>
              </a:spcAft>
              <a:buNone/>
            </a:pPr>
            <a:r>
              <a:rPr lang="it" sz="1250" u="sng"/>
              <a:t>Completion Time </a:t>
            </a:r>
            <a:r>
              <a:rPr lang="it" sz="1250"/>
              <a:t>(CT): Average time required to move the hand from the previous target's center to the center of the current target.</a:t>
            </a:r>
            <a:endParaRPr sz="1250"/>
          </a:p>
          <a:p>
            <a:pPr indent="0" lvl="0" marL="0" rtl="0" algn="l">
              <a:lnSpc>
                <a:spcPct val="130000"/>
              </a:lnSpc>
              <a:spcBef>
                <a:spcPts val="480"/>
              </a:spcBef>
              <a:spcAft>
                <a:spcPts val="0"/>
              </a:spcAft>
              <a:buNone/>
            </a:pPr>
            <a:r>
              <a:rPr lang="it" sz="1250" u="sng"/>
              <a:t>Index of Effectiveness</a:t>
            </a:r>
            <a:r>
              <a:rPr lang="it" sz="1250"/>
              <a:t> (IE): Composite metric combining speed and accuracy (often based on Fitts' Law).</a:t>
            </a:r>
            <a:endParaRPr sz="1250"/>
          </a:p>
          <a:p>
            <a:pPr indent="0" lvl="0" marL="0" rtl="0" algn="l">
              <a:lnSpc>
                <a:spcPct val="130000"/>
              </a:lnSpc>
              <a:spcBef>
                <a:spcPts val="480"/>
              </a:spcBef>
              <a:spcAft>
                <a:spcPts val="0"/>
              </a:spcAft>
              <a:buNone/>
            </a:pPr>
            <a:r>
              <a:t/>
            </a:r>
            <a:endParaRPr sz="1250"/>
          </a:p>
          <a:p>
            <a:pPr indent="0" lvl="0" marL="0" rtl="0" algn="l">
              <a:lnSpc>
                <a:spcPct val="130000"/>
              </a:lnSpc>
              <a:spcBef>
                <a:spcPts val="480"/>
              </a:spcBef>
              <a:spcAft>
                <a:spcPts val="0"/>
              </a:spcAft>
              <a:buNone/>
            </a:pPr>
            <a:r>
              <a:rPr lang="it" sz="1250"/>
              <a:t>An IE close to 1.0 indicates minimal delay introduced by the model.</a:t>
            </a:r>
            <a:endParaRPr sz="1250"/>
          </a:p>
          <a:p>
            <a:pPr indent="0" lvl="0" marL="0" rtl="0" algn="l">
              <a:lnSpc>
                <a:spcPct val="130000"/>
              </a:lnSpc>
              <a:spcBef>
                <a:spcPts val="480"/>
              </a:spcBef>
              <a:spcAft>
                <a:spcPts val="0"/>
              </a:spcAft>
              <a:buNone/>
            </a:pPr>
            <a:r>
              <a:rPr lang="it" sz="1250" u="sng"/>
              <a:t>Jerk </a:t>
            </a:r>
            <a:r>
              <a:rPr lang="it" sz="1250"/>
              <a:t>(J): Measures the rate of change of acceleration. </a:t>
            </a:r>
            <a:endParaRPr sz="1250"/>
          </a:p>
        </p:txBody>
      </p:sp>
      <p:pic>
        <p:nvPicPr>
          <p:cNvPr descr="\text{IE} = \frac{\text{Ideal Model Time}}{\text{Actual Completion Time}}&#10;%e59a5c2a-64d3-4f38-b25c-c57c53dd35c7" id="694" name="Google Shape;694;p75"/>
          <p:cNvPicPr preferRelativeResize="0"/>
          <p:nvPr/>
        </p:nvPicPr>
        <p:blipFill>
          <a:blip r:embed="rId3">
            <a:alphaModFix/>
          </a:blip>
          <a:stretch>
            <a:fillRect/>
          </a:stretch>
        </p:blipFill>
        <p:spPr>
          <a:xfrm>
            <a:off x="3857625" y="2669575"/>
            <a:ext cx="1428750" cy="1905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8" name="Shape 698"/>
        <p:cNvGrpSpPr/>
        <p:nvPr/>
      </p:nvGrpSpPr>
      <p:grpSpPr>
        <a:xfrm>
          <a:off x="0" y="0"/>
          <a:ext cx="0" cy="0"/>
          <a:chOff x="0" y="0"/>
          <a:chExt cx="0" cy="0"/>
        </a:xfrm>
      </p:grpSpPr>
      <p:sp>
        <p:nvSpPr>
          <p:cNvPr id="699" name="Google Shape;699;p76"/>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Imitation Learning Approach</a:t>
            </a:r>
            <a:endParaRPr>
              <a:solidFill>
                <a:schemeClr val="dk1"/>
              </a:solidFill>
            </a:endParaRPr>
          </a:p>
        </p:txBody>
      </p:sp>
      <p:sp>
        <p:nvSpPr>
          <p:cNvPr id="700" name="Google Shape;700;p76"/>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701" name="Google Shape;701;p76"/>
          <p:cNvSpPr txBox="1"/>
          <p:nvPr/>
        </p:nvSpPr>
        <p:spPr>
          <a:xfrm>
            <a:off x="492975" y="1181075"/>
            <a:ext cx="8246100" cy="3039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b="1" lang="it" sz="1250">
                <a:solidFill>
                  <a:schemeClr val="dk1"/>
                </a:solidFill>
              </a:rPr>
              <a:t>IL: </a:t>
            </a:r>
            <a:r>
              <a:rPr lang="it" sz="1250"/>
              <a:t> Different branches: Behavior Cloning, Hybrid Approaches (Combination of RL and IL) ad Inverse RL, hierarchical IL and adversarial imitation learning (GAIL), Continual Imitation Learning. . </a:t>
            </a:r>
            <a:endParaRPr b="1" sz="1250">
              <a:solidFill>
                <a:schemeClr val="dk1"/>
              </a:solidFill>
            </a:endParaRPr>
          </a:p>
          <a:p>
            <a:pPr indent="0" lvl="0" marL="0" rtl="0" algn="l">
              <a:lnSpc>
                <a:spcPct val="130000"/>
              </a:lnSpc>
              <a:spcBef>
                <a:spcPts val="480"/>
              </a:spcBef>
              <a:spcAft>
                <a:spcPts val="0"/>
              </a:spcAft>
              <a:buNone/>
            </a:pPr>
            <a:r>
              <a:rPr b="1" lang="it" sz="1250">
                <a:solidFill>
                  <a:schemeClr val="dk1"/>
                </a:solidFill>
              </a:rPr>
              <a:t>Why? </a:t>
            </a:r>
            <a:r>
              <a:rPr lang="it" sz="1250"/>
              <a:t>Traditional control methods, such as surface electromyography (</a:t>
            </a:r>
            <a:r>
              <a:rPr lang="it" sz="1250">
                <a:solidFill>
                  <a:schemeClr val="dk1"/>
                </a:solidFill>
              </a:rPr>
              <a:t>sEMG</a:t>
            </a:r>
            <a:r>
              <a:rPr lang="it" sz="1250"/>
              <a:t>) and vision-based semi-autonomous approaches, usually require users to repeatedly generate myoelectric signals for each operation, which could be physically and </a:t>
            </a:r>
            <a:r>
              <a:rPr lang="it" sz="1250">
                <a:solidFill>
                  <a:schemeClr val="dk1"/>
                </a:solidFill>
              </a:rPr>
              <a:t>mentally demanding</a:t>
            </a:r>
            <a:r>
              <a:rPr lang="it" sz="1250"/>
              <a:t>. But because the focus of the thesis is also Rehabilitation we do need a Semi-Autonomous system with the muscular user input, unlike fully autonomous IL approaches.  </a:t>
            </a:r>
            <a:endParaRPr sz="1250"/>
          </a:p>
          <a:p>
            <a:pPr indent="0" lvl="0" marL="0" rtl="0" algn="l">
              <a:lnSpc>
                <a:spcPct val="130000"/>
              </a:lnSpc>
              <a:spcBef>
                <a:spcPts val="480"/>
              </a:spcBef>
              <a:spcAft>
                <a:spcPts val="0"/>
              </a:spcAft>
              <a:buNone/>
            </a:pPr>
            <a:r>
              <a:rPr lang="it" sz="1250">
                <a:solidFill>
                  <a:schemeClr val="dk1"/>
                </a:solidFill>
              </a:rPr>
              <a:t>How to fuse IL with sEMG information to improve rehabilitation?  Fine tuning with IL? </a:t>
            </a:r>
            <a:endParaRPr sz="1250">
              <a:solidFill>
                <a:schemeClr val="dk1"/>
              </a:solidFill>
            </a:endParaRPr>
          </a:p>
          <a:p>
            <a:pPr indent="0" lvl="0" marL="0" rtl="0" algn="l">
              <a:lnSpc>
                <a:spcPct val="130000"/>
              </a:lnSpc>
              <a:spcBef>
                <a:spcPts val="480"/>
              </a:spcBef>
              <a:spcAft>
                <a:spcPts val="0"/>
              </a:spcAft>
              <a:buNone/>
            </a:pPr>
            <a:r>
              <a:t/>
            </a:r>
            <a:endParaRPr sz="125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5" name="Shape 705"/>
        <p:cNvGrpSpPr/>
        <p:nvPr/>
      </p:nvGrpSpPr>
      <p:grpSpPr>
        <a:xfrm>
          <a:off x="0" y="0"/>
          <a:ext cx="0" cy="0"/>
          <a:chOff x="0" y="0"/>
          <a:chExt cx="0" cy="0"/>
        </a:xfrm>
      </p:grpSpPr>
      <p:sp>
        <p:nvSpPr>
          <p:cNvPr id="706" name="Google Shape;706;p77"/>
          <p:cNvSpPr txBox="1"/>
          <p:nvPr>
            <p:ph idx="1" type="body"/>
          </p:nvPr>
        </p:nvSpPr>
        <p:spPr>
          <a:xfrm>
            <a:off x="311700" y="215150"/>
            <a:ext cx="8520600" cy="4302600"/>
          </a:xfrm>
          <a:prstGeom prst="rect">
            <a:avLst/>
          </a:prstGeom>
        </p:spPr>
        <p:txBody>
          <a:bodyPr anchorCtr="0" anchor="t" bIns="45700" lIns="91425" spcFirstLastPara="1" rIns="91425" wrap="square" tIns="45700">
            <a:noAutofit/>
          </a:bodyPr>
          <a:lstStyle/>
          <a:p>
            <a:pPr indent="0" lvl="0" marL="0" rtl="0" algn="ctr">
              <a:spcBef>
                <a:spcPts val="480"/>
              </a:spcBef>
              <a:spcAft>
                <a:spcPts val="0"/>
              </a:spcAft>
              <a:buNone/>
            </a:pPr>
            <a:r>
              <a:rPr lang="it" sz="1400">
                <a:solidFill>
                  <a:srgbClr val="1A1A1A"/>
                </a:solidFill>
              </a:rPr>
              <a:t>Bibliography</a:t>
            </a:r>
            <a:r>
              <a:rPr lang="it" sz="1400">
                <a:solidFill>
                  <a:srgbClr val="1A1A1A"/>
                </a:solidFill>
              </a:rPr>
              <a:t>: </a:t>
            </a:r>
            <a:endParaRPr sz="1400">
              <a:solidFill>
                <a:srgbClr val="1A1A1A"/>
              </a:solidFill>
            </a:endParaRPr>
          </a:p>
          <a:p>
            <a:pPr indent="0" lvl="0" marL="0" rtl="0" algn="ctr">
              <a:spcBef>
                <a:spcPts val="480"/>
              </a:spcBef>
              <a:spcAft>
                <a:spcPts val="0"/>
              </a:spcAft>
              <a:buNone/>
            </a:pPr>
            <a:r>
              <a:t/>
            </a:r>
            <a:endParaRPr sz="1400">
              <a:solidFill>
                <a:srgbClr val="1A1A1A"/>
              </a:solidFill>
            </a:endParaRPr>
          </a:p>
          <a:p>
            <a:pPr indent="0" lvl="0" marL="0" rtl="0" algn="ctr">
              <a:lnSpc>
                <a:spcPct val="100000"/>
              </a:lnSpc>
              <a:spcBef>
                <a:spcPts val="480"/>
              </a:spcBef>
              <a:spcAft>
                <a:spcPts val="0"/>
              </a:spcAft>
              <a:buNone/>
            </a:pPr>
            <a:r>
              <a:rPr lang="it" sz="1050">
                <a:solidFill>
                  <a:srgbClr val="1A1A1A"/>
                </a:solidFill>
              </a:rPr>
              <a:t>         </a:t>
            </a:r>
            <a:r>
              <a:rPr lang="it" sz="1050">
                <a:solidFill>
                  <a:srgbClr val="1A1A1A"/>
                </a:solidFill>
              </a:rPr>
              <a:t>“</a:t>
            </a:r>
            <a:r>
              <a:rPr lang="it" sz="1050">
                <a:solidFill>
                  <a:srgbClr val="1A1A1A"/>
                </a:solidFill>
              </a:rPr>
              <a:t>Neural bases of hand synergies” Marco Santello, Gabriel Baud-Bovy and Henrik Jörntell, Frontiers in Computational Neuroscience,  April</a:t>
            </a:r>
            <a:r>
              <a:rPr lang="it" sz="1050">
                <a:solidFill>
                  <a:srgbClr val="1A1A1A"/>
                </a:solidFill>
              </a:rPr>
              <a:t> 2013</a:t>
            </a:r>
            <a:endParaRPr sz="1050">
              <a:solidFill>
                <a:srgbClr val="1A1A1A"/>
              </a:solidFill>
            </a:endParaRPr>
          </a:p>
          <a:p>
            <a:pPr indent="0" lvl="0" marL="342900" rtl="0" algn="ctr">
              <a:lnSpc>
                <a:spcPct val="100000"/>
              </a:lnSpc>
              <a:spcBef>
                <a:spcPts val="480"/>
              </a:spcBef>
              <a:spcAft>
                <a:spcPts val="0"/>
              </a:spcAft>
              <a:buNone/>
            </a:pPr>
            <a:r>
              <a:rPr lang="it" sz="1050">
                <a:solidFill>
                  <a:srgbClr val="1A1A1A"/>
                </a:solidFill>
              </a:rPr>
              <a:t>“</a:t>
            </a:r>
            <a:r>
              <a:rPr lang="it" sz="1050">
                <a:solidFill>
                  <a:srgbClr val="1A1A1A"/>
                </a:solidFill>
              </a:rPr>
              <a:t>Gesture Recognition Using Surface Electromyography and Deep Learning for Prostheses Hand: State-of-the-Art, Challenges, and Future” Li</a:t>
            </a:r>
            <a:endParaRPr sz="1050">
              <a:solidFill>
                <a:srgbClr val="1A1A1A"/>
              </a:solidFill>
            </a:endParaRPr>
          </a:p>
          <a:p>
            <a:pPr indent="0" lvl="0" marL="342900" rtl="0" algn="ctr">
              <a:lnSpc>
                <a:spcPct val="100000"/>
              </a:lnSpc>
              <a:spcBef>
                <a:spcPts val="480"/>
              </a:spcBef>
              <a:spcAft>
                <a:spcPts val="0"/>
              </a:spcAft>
              <a:buNone/>
            </a:pPr>
            <a:r>
              <a:rPr lang="it" sz="1050">
                <a:solidFill>
                  <a:srgbClr val="1A1A1A"/>
                </a:solidFill>
              </a:rPr>
              <a:t>“NeuroPose: 3D Hand Pose Tracking using EMG Wearables” Yilin Liu, Shijia Zhang, Haipeng Zhou, Ruidong Zhang, Yuanchun Li, Yanzhe Liu, Chris Harrison, and Shwetak N. Patel. 2021. </a:t>
            </a:r>
            <a:endParaRPr sz="1050">
              <a:solidFill>
                <a:srgbClr val="1A1A1A"/>
              </a:solidFill>
            </a:endParaRPr>
          </a:p>
          <a:p>
            <a:pPr indent="0" lvl="0" marL="342900" rtl="0" algn="ctr">
              <a:lnSpc>
                <a:spcPct val="100000"/>
              </a:lnSpc>
              <a:spcBef>
                <a:spcPts val="480"/>
              </a:spcBef>
              <a:spcAft>
                <a:spcPts val="0"/>
              </a:spcAft>
              <a:buNone/>
            </a:pPr>
            <a:r>
              <a:rPr lang="it" sz="1050">
                <a:solidFill>
                  <a:srgbClr val="1A1A1A"/>
                </a:solidFill>
              </a:rPr>
              <a:t> “ALVI Interface: Towards Full Hand Motion Decoding for Amputees Using SEMG”Aleksandr Kovalev, Anna Makarova, Petr Chizhov, Matvey Antonov, Gleb Duplin, Vladislav Lomtev, Viacheslav Gostevskii, Vladimir Bessonov, Andrey Tsurkan, Mikhail Korobok, and Aleksejs Timčenko. 2025.</a:t>
            </a:r>
            <a:endParaRPr sz="1050">
              <a:solidFill>
                <a:srgbClr val="1A1A1A"/>
              </a:solidFill>
            </a:endParaRPr>
          </a:p>
          <a:p>
            <a:pPr indent="0" lvl="0" marL="342900" rtl="0" algn="ctr">
              <a:lnSpc>
                <a:spcPct val="100000"/>
              </a:lnSpc>
              <a:spcBef>
                <a:spcPts val="480"/>
              </a:spcBef>
              <a:spcAft>
                <a:spcPts val="0"/>
              </a:spcAft>
              <a:buNone/>
            </a:pPr>
            <a:r>
              <a:rPr lang="it" sz="1050">
                <a:solidFill>
                  <a:srgbClr val="1A1A1A"/>
                </a:solidFill>
              </a:rPr>
              <a:t>“emg2pose: A Large and Diverse Benchmark for Surface Electromyographic Hand Pose Estimation”, Salter, S., Warren, R., Schlager, C., Spurr, A., Han, S., Bhasin, R., Cai, Y., Walkington, P., Bolarinwa, A., Wang, R., Danielson, N., Merel, J., Pnevmatikakis, E., &amp; Marshall, J. (2024). </a:t>
            </a:r>
            <a:endParaRPr sz="1050">
              <a:solidFill>
                <a:srgbClr val="1A1A1A"/>
              </a:solidFill>
            </a:endParaRPr>
          </a:p>
          <a:p>
            <a:pPr indent="0" lvl="0" marL="0" rtl="0" algn="ctr">
              <a:lnSpc>
                <a:spcPct val="100000"/>
              </a:lnSpc>
              <a:spcBef>
                <a:spcPts val="480"/>
              </a:spcBef>
              <a:spcAft>
                <a:spcPts val="0"/>
              </a:spcAft>
              <a:buNone/>
            </a:pPr>
            <a:r>
              <a:rPr lang="it" sz="1050">
                <a:solidFill>
                  <a:srgbClr val="1A1A1A"/>
                </a:solidFill>
              </a:rPr>
              <a:t>"Online Classification of Transient EMG Patterns for the Control of the Wrist and Hand in a Transradial Prosthesis" D. D'Accolti et al., IEEE Trans. Neural Syst. Rehabil. Eng., vol. 31, pp. 642–651, 2023.</a:t>
            </a:r>
            <a:endParaRPr sz="1050">
              <a:solidFill>
                <a:srgbClr val="1A1A1A"/>
              </a:solidFill>
            </a:endParaRPr>
          </a:p>
          <a:p>
            <a:pPr indent="0" lvl="0" marL="0" rtl="0" algn="ctr">
              <a:lnSpc>
                <a:spcPct val="100000"/>
              </a:lnSpc>
              <a:spcBef>
                <a:spcPts val="480"/>
              </a:spcBef>
              <a:spcAft>
                <a:spcPts val="0"/>
              </a:spcAft>
              <a:buNone/>
            </a:pPr>
            <a:r>
              <a:rPr lang="it" sz="1050">
                <a:solidFill>
                  <a:srgbClr val="1A1A1A"/>
                </a:solidFill>
              </a:rPr>
              <a:t>“Wearable and Ultra-Low-Power Fusion of EMG and A-Mode US for Hand-Wrist Kinematic Tracking”. Spacone, G., Frey, S., Orlandi, M., Rapa, P. M., Kartsch, V., Benatti, S., Benini, L., &amp; Cossettini, A. (2025). IEEE Transactions on Biomedical Circuits and Systems.</a:t>
            </a:r>
            <a:endParaRPr b="1" sz="1050">
              <a:solidFill>
                <a:srgbClr val="1A1A1A"/>
              </a:solidFill>
            </a:endParaRPr>
          </a:p>
          <a:p>
            <a:pPr indent="0" lvl="0" marL="342900" rtl="0" algn="ctr">
              <a:lnSpc>
                <a:spcPct val="100000"/>
              </a:lnSpc>
              <a:spcBef>
                <a:spcPts val="480"/>
              </a:spcBef>
              <a:spcAft>
                <a:spcPts val="0"/>
              </a:spcAft>
              <a:buNone/>
            </a:pPr>
            <a:r>
              <a:rPr lang="it" sz="1050">
                <a:solidFill>
                  <a:srgbClr val="1A1A1A"/>
                </a:solidFill>
              </a:rPr>
              <a:t>“</a:t>
            </a:r>
            <a:r>
              <a:rPr lang="it" sz="1050">
                <a:solidFill>
                  <a:srgbClr val="1A1A1A"/>
                </a:solidFill>
                <a:highlight>
                  <a:srgbClr val="FFFFFF"/>
                </a:highlight>
              </a:rPr>
              <a:t>Merging motoneuron and postural synergies in prosthetic hand design for natural bionic interfacing” </a:t>
            </a:r>
            <a:r>
              <a:rPr lang="it" sz="1050">
                <a:solidFill>
                  <a:srgbClr val="1A1A1A"/>
                </a:solidFill>
                <a:highlight>
                  <a:srgbClr val="FFFFFF"/>
                </a:highlight>
                <a:uFill>
                  <a:noFill/>
                </a:uFill>
                <a:hlinkClick r:id="rId3">
                  <a:extLst>
                    <a:ext uri="{A12FA001-AC4F-418D-AE19-62706E023703}">
                      <ahyp:hlinkClr val="tx"/>
                    </a:ext>
                  </a:extLst>
                </a:hlinkClick>
              </a:rPr>
              <a:t>Patricia Capsi-Morales</a:t>
            </a:r>
            <a:r>
              <a:rPr lang="it" sz="1050">
                <a:solidFill>
                  <a:srgbClr val="1A1A1A"/>
                </a:solidFill>
                <a:highlight>
                  <a:srgbClr val="FFFFFF"/>
                </a:highlight>
              </a:rPr>
              <a:t>, </a:t>
            </a:r>
            <a:r>
              <a:rPr lang="it" sz="1050">
                <a:solidFill>
                  <a:srgbClr val="1A1A1A"/>
                </a:solidFill>
                <a:highlight>
                  <a:srgbClr val="FFFFFF"/>
                </a:highlight>
                <a:uFill>
                  <a:noFill/>
                </a:uFill>
                <a:hlinkClick r:id="rId4">
                  <a:extLst>
                    <a:ext uri="{A12FA001-AC4F-418D-AE19-62706E023703}">
                      <ahyp:hlinkClr val="tx"/>
                    </a:ext>
                  </a:extLst>
                </a:hlinkClick>
              </a:rPr>
              <a:t>Deren Y Barsakcioglu</a:t>
            </a:r>
            <a:r>
              <a:rPr lang="it" sz="1050">
                <a:solidFill>
                  <a:srgbClr val="1A1A1A"/>
                </a:solidFill>
                <a:highlight>
                  <a:srgbClr val="FFFFFF"/>
                </a:highlight>
              </a:rPr>
              <a:t>, </a:t>
            </a:r>
            <a:r>
              <a:rPr lang="it" sz="1050">
                <a:solidFill>
                  <a:srgbClr val="1A1A1A"/>
                </a:solidFill>
                <a:highlight>
                  <a:srgbClr val="FFFFFF"/>
                </a:highlight>
                <a:uFill>
                  <a:noFill/>
                </a:uFill>
                <a:hlinkClick r:id="rId5">
                  <a:extLst>
                    <a:ext uri="{A12FA001-AC4F-418D-AE19-62706E023703}">
                      <ahyp:hlinkClr val="tx"/>
                    </a:ext>
                  </a:extLst>
                </a:hlinkClick>
              </a:rPr>
              <a:t>Manuel G Catalano</a:t>
            </a:r>
            <a:r>
              <a:rPr lang="it" sz="1050">
                <a:solidFill>
                  <a:srgbClr val="1A1A1A"/>
                </a:solidFill>
                <a:highlight>
                  <a:srgbClr val="FFFFFF"/>
                </a:highlight>
              </a:rPr>
              <a:t>, </a:t>
            </a:r>
            <a:r>
              <a:rPr lang="it" sz="1050">
                <a:solidFill>
                  <a:srgbClr val="1A1A1A"/>
                </a:solidFill>
                <a:highlight>
                  <a:srgbClr val="FFFFFF"/>
                </a:highlight>
                <a:uFill>
                  <a:noFill/>
                </a:uFill>
                <a:hlinkClick r:id="rId6">
                  <a:extLst>
                    <a:ext uri="{A12FA001-AC4F-418D-AE19-62706E023703}">
                      <ahyp:hlinkClr val="tx"/>
                    </a:ext>
                  </a:extLst>
                </a:hlinkClick>
              </a:rPr>
              <a:t>Giorgio Grioli</a:t>
            </a:r>
            <a:r>
              <a:rPr lang="it" sz="1050">
                <a:solidFill>
                  <a:srgbClr val="1A1A1A"/>
                </a:solidFill>
                <a:highlight>
                  <a:srgbClr val="FFFFFF"/>
                </a:highlight>
              </a:rPr>
              <a:t>, </a:t>
            </a:r>
            <a:r>
              <a:rPr lang="it" sz="1050">
                <a:solidFill>
                  <a:srgbClr val="1A1A1A"/>
                </a:solidFill>
                <a:highlight>
                  <a:srgbClr val="FFFFFF"/>
                </a:highlight>
                <a:uFill>
                  <a:noFill/>
                </a:uFill>
                <a:hlinkClick r:id="rId7">
                  <a:extLst>
                    <a:ext uri="{A12FA001-AC4F-418D-AE19-62706E023703}">
                      <ahyp:hlinkClr val="tx"/>
                    </a:ext>
                  </a:extLst>
                </a:hlinkClick>
              </a:rPr>
              <a:t>Antonio Bicchi</a:t>
            </a:r>
            <a:r>
              <a:rPr lang="it" sz="1050">
                <a:solidFill>
                  <a:srgbClr val="1A1A1A"/>
                </a:solidFill>
                <a:highlight>
                  <a:srgbClr val="FFFFFF"/>
                </a:highlight>
              </a:rPr>
              <a:t>, </a:t>
            </a:r>
            <a:r>
              <a:rPr lang="it" sz="1050">
                <a:solidFill>
                  <a:srgbClr val="1A1A1A"/>
                </a:solidFill>
                <a:highlight>
                  <a:srgbClr val="FFFFFF"/>
                </a:highlight>
                <a:uFill>
                  <a:noFill/>
                </a:uFill>
                <a:hlinkClick r:id="rId8">
                  <a:extLst>
                    <a:ext uri="{A12FA001-AC4F-418D-AE19-62706E023703}">
                      <ahyp:hlinkClr val="tx"/>
                    </a:ext>
                  </a:extLst>
                </a:hlinkClick>
              </a:rPr>
              <a:t>Dario Farina</a:t>
            </a:r>
            <a:r>
              <a:rPr lang="it" sz="1050">
                <a:solidFill>
                  <a:srgbClr val="1A1A1A"/>
                </a:solidFill>
                <a:highlight>
                  <a:srgbClr val="FFFFFF"/>
                </a:highlight>
                <a:latin typeface="Roboto"/>
                <a:ea typeface="Roboto"/>
                <a:cs typeface="Roboto"/>
                <a:sym typeface="Roboto"/>
              </a:rPr>
              <a:t>. Sci Robot. 2025 Jan 15</a:t>
            </a:r>
            <a:endParaRPr sz="1050">
              <a:solidFill>
                <a:srgbClr val="1A1A1A"/>
              </a:solidFill>
              <a:highlight>
                <a:srgbClr val="F1F1F1"/>
              </a:highlight>
            </a:endParaRPr>
          </a:p>
          <a:p>
            <a:pPr indent="0" lvl="0" marL="0" rtl="0" algn="ctr">
              <a:lnSpc>
                <a:spcPct val="150000"/>
              </a:lnSpc>
              <a:spcBef>
                <a:spcPts val="0"/>
              </a:spcBef>
              <a:spcAft>
                <a:spcPts val="0"/>
              </a:spcAft>
              <a:buNone/>
            </a:pPr>
            <a:r>
              <a:t/>
            </a:r>
            <a:endParaRPr sz="1050">
              <a:solidFill>
                <a:srgbClr val="1A1A1A"/>
              </a:solidFill>
              <a:highlight>
                <a:srgbClr val="FFFFFF"/>
              </a:highlight>
              <a:latin typeface="Roboto"/>
              <a:ea typeface="Roboto"/>
              <a:cs typeface="Roboto"/>
              <a:sym typeface="Roboto"/>
            </a:endParaRPr>
          </a:p>
          <a:p>
            <a:pPr indent="0" lvl="0" marL="0" rtl="0" algn="l">
              <a:lnSpc>
                <a:spcPct val="150000"/>
              </a:lnSpc>
              <a:spcBef>
                <a:spcPts val="0"/>
              </a:spcBef>
              <a:spcAft>
                <a:spcPts val="0"/>
              </a:spcAft>
              <a:buNone/>
            </a:pPr>
            <a:r>
              <a:t/>
            </a:r>
            <a:endParaRPr sz="1200">
              <a:solidFill>
                <a:srgbClr val="5B616B"/>
              </a:solidFill>
              <a:highlight>
                <a:srgbClr val="FFFFFF"/>
              </a:highlight>
              <a:latin typeface="Roboto"/>
              <a:ea typeface="Roboto"/>
              <a:cs typeface="Roboto"/>
              <a:sym typeface="Roboto"/>
            </a:endParaRPr>
          </a:p>
          <a:p>
            <a:pPr indent="0" lvl="0" marL="342900" rtl="0" algn="ctr">
              <a:lnSpc>
                <a:spcPct val="130000"/>
              </a:lnSpc>
              <a:spcBef>
                <a:spcPts val="480"/>
              </a:spcBef>
              <a:spcAft>
                <a:spcPts val="0"/>
              </a:spcAft>
              <a:buNone/>
            </a:pPr>
            <a:r>
              <a:t/>
            </a:r>
            <a:endParaRPr sz="1050">
              <a:solidFill>
                <a:srgbClr val="1A1A1A"/>
              </a:solidFill>
              <a:highlight>
                <a:srgbClr val="FFFFFF"/>
              </a:highlight>
            </a:endParaRPr>
          </a:p>
          <a:p>
            <a:pPr indent="0" lvl="0" marL="342900" rtl="0" algn="ctr">
              <a:lnSpc>
                <a:spcPct val="130000"/>
              </a:lnSpc>
              <a:spcBef>
                <a:spcPts val="480"/>
              </a:spcBef>
              <a:spcAft>
                <a:spcPts val="0"/>
              </a:spcAft>
              <a:buNone/>
            </a:pPr>
            <a:r>
              <a:t/>
            </a:r>
            <a:endParaRPr sz="1100"/>
          </a:p>
          <a:p>
            <a:pPr indent="0" lvl="0" marL="0" rtl="0" algn="ctr">
              <a:spcBef>
                <a:spcPts val="480"/>
              </a:spcBef>
              <a:spcAft>
                <a:spcPts val="0"/>
              </a:spcAft>
              <a:buNone/>
            </a:pPr>
            <a:r>
              <a:t/>
            </a:r>
            <a:endParaRPr sz="1700"/>
          </a:p>
          <a:p>
            <a:pPr indent="0" lvl="0" marL="0" rtl="0" algn="l">
              <a:spcBef>
                <a:spcPts val="480"/>
              </a:spcBef>
              <a:spcAft>
                <a:spcPts val="0"/>
              </a:spcAft>
              <a:buNone/>
            </a:pPr>
            <a:r>
              <a:t/>
            </a:r>
            <a:endParaRPr sz="1700"/>
          </a:p>
          <a:p>
            <a:pPr indent="0" lvl="0" marL="0" rtl="0" algn="ctr">
              <a:spcBef>
                <a:spcPts val="480"/>
              </a:spcBef>
              <a:spcAft>
                <a:spcPts val="0"/>
              </a:spcAft>
              <a:buNone/>
            </a:pPr>
            <a:r>
              <a:t/>
            </a:r>
            <a:endParaRPr sz="1400"/>
          </a:p>
          <a:p>
            <a:pPr indent="0" lvl="0" marL="0" rtl="0" algn="ctr">
              <a:spcBef>
                <a:spcPts val="480"/>
              </a:spcBef>
              <a:spcAft>
                <a:spcPts val="0"/>
              </a:spcAft>
              <a:buNone/>
            </a:pPr>
            <a:r>
              <a:t/>
            </a:r>
            <a:endParaRPr sz="1400"/>
          </a:p>
          <a:p>
            <a:pPr indent="0" lvl="0" marL="0" rtl="0" algn="ctr">
              <a:spcBef>
                <a:spcPts val="480"/>
              </a:spcBef>
              <a:spcAft>
                <a:spcPts val="0"/>
              </a:spcAft>
              <a:buNone/>
            </a:pPr>
            <a:r>
              <a:t/>
            </a:r>
            <a:endParaRPr sz="1400"/>
          </a:p>
          <a:p>
            <a:pPr indent="0" lvl="0" marL="0" rtl="0" algn="l">
              <a:spcBef>
                <a:spcPts val="0"/>
              </a:spcBef>
              <a:spcAft>
                <a:spcPts val="0"/>
              </a:spcAft>
              <a:buNone/>
            </a:pPr>
            <a:r>
              <a:t/>
            </a:r>
            <a:endParaRPr sz="2200"/>
          </a:p>
          <a:p>
            <a:pPr indent="0" lvl="0" marL="0" rtl="0" algn="l">
              <a:spcBef>
                <a:spcPts val="480"/>
              </a:spcBef>
              <a:spcAft>
                <a:spcPts val="0"/>
              </a:spcAft>
              <a:buNone/>
            </a:pPr>
            <a:r>
              <a:t/>
            </a:r>
            <a:endParaRPr/>
          </a:p>
        </p:txBody>
      </p:sp>
      <p:sp>
        <p:nvSpPr>
          <p:cNvPr id="707" name="Google Shape;707;p77"/>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1" name="Shape 711"/>
        <p:cNvGrpSpPr/>
        <p:nvPr/>
      </p:nvGrpSpPr>
      <p:grpSpPr>
        <a:xfrm>
          <a:off x="0" y="0"/>
          <a:ext cx="0" cy="0"/>
          <a:chOff x="0" y="0"/>
          <a:chExt cx="0" cy="0"/>
        </a:xfrm>
      </p:grpSpPr>
      <p:sp>
        <p:nvSpPr>
          <p:cNvPr id="712" name="Google Shape;712;p78"/>
          <p:cNvSpPr txBox="1"/>
          <p:nvPr>
            <p:ph idx="1" type="body"/>
          </p:nvPr>
        </p:nvSpPr>
        <p:spPr>
          <a:xfrm>
            <a:off x="311700" y="0"/>
            <a:ext cx="8520600" cy="4557000"/>
          </a:xfrm>
          <a:prstGeom prst="rect">
            <a:avLst/>
          </a:prstGeom>
        </p:spPr>
        <p:txBody>
          <a:bodyPr anchorCtr="0" anchor="t" bIns="45700" lIns="91425" spcFirstLastPara="1" rIns="91425" wrap="square" tIns="45700">
            <a:noAutofit/>
          </a:bodyPr>
          <a:lstStyle/>
          <a:p>
            <a:pPr indent="0" lvl="0" marL="0" rtl="0" algn="ctr">
              <a:spcBef>
                <a:spcPts val="480"/>
              </a:spcBef>
              <a:spcAft>
                <a:spcPts val="0"/>
              </a:spcAft>
              <a:buNone/>
            </a:pPr>
            <a:r>
              <a:t/>
            </a:r>
            <a:endParaRPr sz="1400"/>
          </a:p>
          <a:p>
            <a:pPr indent="0" lvl="0" marL="0" rtl="0" algn="ctr">
              <a:lnSpc>
                <a:spcPct val="100000"/>
              </a:lnSpc>
              <a:spcBef>
                <a:spcPts val="480"/>
              </a:spcBef>
              <a:spcAft>
                <a:spcPts val="0"/>
              </a:spcAft>
              <a:buNone/>
            </a:pPr>
            <a:r>
              <a:rPr lang="it" sz="1400"/>
              <a:t>Bibliography: </a:t>
            </a:r>
            <a:endParaRPr sz="1400"/>
          </a:p>
          <a:p>
            <a:pPr indent="0" lvl="0" marL="0" rtl="0" algn="ctr">
              <a:lnSpc>
                <a:spcPct val="100000"/>
              </a:lnSpc>
              <a:spcBef>
                <a:spcPts val="480"/>
              </a:spcBef>
              <a:spcAft>
                <a:spcPts val="0"/>
              </a:spcAft>
              <a:buNone/>
            </a:pPr>
            <a:r>
              <a:t/>
            </a:r>
            <a:endParaRPr sz="1400"/>
          </a:p>
          <a:p>
            <a:pPr indent="0" lvl="0" marL="0" rtl="0" algn="ctr">
              <a:lnSpc>
                <a:spcPct val="100000"/>
              </a:lnSpc>
              <a:spcBef>
                <a:spcPts val="0"/>
              </a:spcBef>
              <a:spcAft>
                <a:spcPts val="0"/>
              </a:spcAft>
              <a:buNone/>
            </a:pPr>
            <a:r>
              <a:rPr lang="it" sz="1050">
                <a:solidFill>
                  <a:srgbClr val="1A1A1A"/>
                </a:solidFill>
                <a:highlight>
                  <a:schemeClr val="lt1"/>
                </a:highlight>
                <a:latin typeface="Roboto"/>
                <a:ea typeface="Roboto"/>
                <a:cs typeface="Roboto"/>
                <a:sym typeface="Roboto"/>
              </a:rPr>
              <a:t>“Decoding of Multiple Wrist and Hand Movements Using a Transient EMG Classifier”, Daniele D’Accolti , Member, IEEE, Katarina Dejanovic , Leonardo Cappello, Enzo Mastinu , Max Ortiz-Catalan and Christian Cipriani, 2023</a:t>
            </a:r>
            <a:endParaRPr sz="1050">
              <a:solidFill>
                <a:srgbClr val="1A1A1A"/>
              </a:solidFill>
              <a:highlight>
                <a:schemeClr val="lt1"/>
              </a:highlight>
              <a:latin typeface="Roboto"/>
              <a:ea typeface="Roboto"/>
              <a:cs typeface="Roboto"/>
              <a:sym typeface="Roboto"/>
            </a:endParaRPr>
          </a:p>
          <a:p>
            <a:pPr indent="0" lvl="0" marL="0" rtl="0" algn="ctr">
              <a:lnSpc>
                <a:spcPct val="100000"/>
              </a:lnSpc>
              <a:spcBef>
                <a:spcPts val="0"/>
              </a:spcBef>
              <a:spcAft>
                <a:spcPts val="0"/>
              </a:spcAft>
              <a:buNone/>
            </a:pPr>
            <a:r>
              <a:rPr lang="it" sz="1050">
                <a:solidFill>
                  <a:srgbClr val="1A1A1A"/>
                </a:solidFill>
                <a:highlight>
                  <a:schemeClr val="lt1"/>
                </a:highlight>
                <a:latin typeface="Roboto"/>
                <a:ea typeface="Roboto"/>
                <a:cs typeface="Roboto"/>
                <a:sym typeface="Roboto"/>
              </a:rPr>
              <a:t>“Recent trends and challenges of surface electromyography in prosthetic applications” Drishti Yadav, Karan Veer, Biomedical Engineering Letters, 22 April 2023</a:t>
            </a:r>
            <a:endParaRPr sz="1050">
              <a:solidFill>
                <a:srgbClr val="1A1A1A"/>
              </a:solidFill>
              <a:highlight>
                <a:schemeClr val="lt1"/>
              </a:highlight>
              <a:latin typeface="Roboto"/>
              <a:ea typeface="Roboto"/>
              <a:cs typeface="Roboto"/>
              <a:sym typeface="Roboto"/>
            </a:endParaRPr>
          </a:p>
          <a:p>
            <a:pPr indent="0" lvl="0" marL="0" rtl="0" algn="ctr">
              <a:lnSpc>
                <a:spcPct val="100000"/>
              </a:lnSpc>
              <a:spcBef>
                <a:spcPts val="0"/>
              </a:spcBef>
              <a:spcAft>
                <a:spcPts val="0"/>
              </a:spcAft>
              <a:buNone/>
            </a:pPr>
            <a:r>
              <a:rPr lang="it" sz="1050">
                <a:solidFill>
                  <a:srgbClr val="1A1A1A"/>
                </a:solidFill>
                <a:highlight>
                  <a:schemeClr val="lt1"/>
                </a:highlight>
                <a:latin typeface="Roboto"/>
                <a:ea typeface="Roboto"/>
                <a:cs typeface="Roboto"/>
                <a:sym typeface="Roboto"/>
              </a:rPr>
              <a:t>“Exploring the EMG transient: the muscular activation sequences used as novel time-domain features for hand gestures classification.” Mereu, F., Morosato, F., Cordella, F., Zollo, L., and Gruppioni, E. </a:t>
            </a:r>
            <a:r>
              <a:rPr lang="it" sz="1100">
                <a:solidFill>
                  <a:srgbClr val="1A1A1A"/>
                </a:solidFill>
              </a:rPr>
              <a:t>Frontiers in Neurorobotics (2023)</a:t>
            </a:r>
            <a:endParaRPr sz="1050">
              <a:solidFill>
                <a:srgbClr val="1A1A1A"/>
              </a:solidFill>
              <a:highlight>
                <a:schemeClr val="lt1"/>
              </a:highlight>
              <a:latin typeface="Roboto"/>
              <a:ea typeface="Roboto"/>
              <a:cs typeface="Roboto"/>
              <a:sym typeface="Roboto"/>
            </a:endParaRPr>
          </a:p>
          <a:p>
            <a:pPr indent="0" lvl="0" marL="0" rtl="0" algn="ctr">
              <a:lnSpc>
                <a:spcPct val="100000"/>
              </a:lnSpc>
              <a:spcBef>
                <a:spcPts val="480"/>
              </a:spcBef>
              <a:spcAft>
                <a:spcPts val="0"/>
              </a:spcAft>
              <a:buNone/>
            </a:pPr>
            <a:r>
              <a:rPr lang="it" sz="1050">
                <a:solidFill>
                  <a:srgbClr val="1A1A1A"/>
                </a:solidFill>
              </a:rPr>
              <a:t>“Recent trends and challenges of surface electromyography in prosthetic applications.” Yadav, D., &amp; Veer, K. , Biomedical Engineering Letters (2023)</a:t>
            </a:r>
            <a:endParaRPr sz="1050">
              <a:solidFill>
                <a:srgbClr val="1A1A1A"/>
              </a:solidFill>
            </a:endParaRPr>
          </a:p>
          <a:p>
            <a:pPr indent="0" lvl="0" marL="0" rtl="0" algn="ctr">
              <a:lnSpc>
                <a:spcPct val="100000"/>
              </a:lnSpc>
              <a:spcBef>
                <a:spcPts val="480"/>
              </a:spcBef>
              <a:spcAft>
                <a:spcPts val="0"/>
              </a:spcAft>
              <a:buNone/>
            </a:pPr>
            <a:r>
              <a:rPr lang="it" sz="1050">
                <a:solidFill>
                  <a:srgbClr val="1A1A1A"/>
                </a:solidFill>
              </a:rPr>
              <a:t>“</a:t>
            </a:r>
            <a:r>
              <a:rPr lang="it" sz="1100">
                <a:solidFill>
                  <a:srgbClr val="1A1A1A"/>
                </a:solidFill>
              </a:rPr>
              <a:t>Hand gesture recognition based on motor unit spike trains decoded from high-density electromyography:” Chen Chen, Yang Yu, Shihan Ma, Xinjun Sheng, Chuang Lin, Dario Farina, Xiangyang Zhu. Biomedical Signal Processing and Control (2020)</a:t>
            </a:r>
            <a:endParaRPr sz="1100">
              <a:solidFill>
                <a:srgbClr val="1A1A1A"/>
              </a:solidFill>
            </a:endParaRPr>
          </a:p>
          <a:p>
            <a:pPr indent="0" lvl="0" marL="0" rtl="0" algn="ctr">
              <a:lnSpc>
                <a:spcPct val="100000"/>
              </a:lnSpc>
              <a:spcBef>
                <a:spcPts val="480"/>
              </a:spcBef>
              <a:spcAft>
                <a:spcPts val="0"/>
              </a:spcAft>
              <a:buNone/>
            </a:pPr>
            <a:r>
              <a:rPr lang="it" sz="1100">
                <a:solidFill>
                  <a:srgbClr val="1A1A1A"/>
                </a:solidFill>
              </a:rPr>
              <a:t>“Real-Time EMG Based Pattern Recognition Control for Hand Prostheses: A Review on Existing Methods, Challenges and Future Implementation” Parajuli, N., Sreenivasan, N., Bifulco, P., Cesarelli, M., Savino, S., Niola, V., Esposito, D., Hamilton, T. J., Naik, G. R., Gunawardana, U., &amp; Gargiulo, G. D., Sensors (2019)</a:t>
            </a:r>
            <a:endParaRPr sz="1100">
              <a:solidFill>
                <a:srgbClr val="1A1A1A"/>
              </a:solidFill>
            </a:endParaRPr>
          </a:p>
          <a:p>
            <a:pPr indent="0" lvl="0" marL="0" rtl="0" algn="ctr">
              <a:lnSpc>
                <a:spcPct val="100000"/>
              </a:lnSpc>
              <a:spcBef>
                <a:spcPts val="480"/>
              </a:spcBef>
              <a:spcAft>
                <a:spcPts val="0"/>
              </a:spcAft>
              <a:buNone/>
            </a:pPr>
            <a:r>
              <a:rPr lang="it" sz="1100">
                <a:solidFill>
                  <a:srgbClr val="1A1A1A"/>
                </a:solidFill>
              </a:rPr>
              <a:t>“Multiday EMG-Based Classification of Hand Motions with Deep Learning Techniques” Zia ur Rehman, M., Waris, A., Gilani, S. O., Jochumsen, M., Niazi, I. K., Jamil, M., Farina, D., &amp; Kamavuako, E. N., Sensors (2018)</a:t>
            </a:r>
            <a:endParaRPr sz="1100">
              <a:solidFill>
                <a:srgbClr val="1A1A1A"/>
              </a:solidFill>
            </a:endParaRPr>
          </a:p>
          <a:p>
            <a:pPr indent="0" lvl="0" marL="0" rtl="0" algn="ctr">
              <a:lnSpc>
                <a:spcPct val="100000"/>
              </a:lnSpc>
              <a:spcBef>
                <a:spcPts val="480"/>
              </a:spcBef>
              <a:spcAft>
                <a:spcPts val="0"/>
              </a:spcAft>
              <a:buNone/>
            </a:pPr>
            <a:r>
              <a:rPr lang="it" sz="1100">
                <a:solidFill>
                  <a:srgbClr val="1A1A1A"/>
                </a:solidFill>
              </a:rPr>
              <a:t>“Distance and mutual information methods for EMG feature and channel subset selection for classiﬁcation of hand movements” Al-Angari, H. M., Kanitz, G., Tarantino, S., &amp; Cipriani, C., Biomedical Signal Processing and Control (2016)</a:t>
            </a:r>
            <a:endParaRPr sz="1100">
              <a:solidFill>
                <a:srgbClr val="1A1A1A"/>
              </a:solidFill>
            </a:endParaRPr>
          </a:p>
          <a:p>
            <a:pPr indent="0" lvl="0" marL="0" rtl="0" algn="ctr">
              <a:lnSpc>
                <a:spcPct val="100000"/>
              </a:lnSpc>
              <a:spcBef>
                <a:spcPts val="480"/>
              </a:spcBef>
              <a:spcAft>
                <a:spcPts val="0"/>
              </a:spcAft>
              <a:buNone/>
            </a:pPr>
            <a:r>
              <a:rPr lang="it" sz="1100">
                <a:solidFill>
                  <a:srgbClr val="1A1A1A"/>
                </a:solidFill>
              </a:rPr>
              <a:t>“Deep Learning with Convolutional Neural Networks Applied to Electromyography Data)”, Atzori, M., Cognolato, M., &amp; Müller, H., Frontiers in Neurorobotics (2016)</a:t>
            </a:r>
            <a:endParaRPr sz="1100">
              <a:solidFill>
                <a:srgbClr val="1A1A1A"/>
              </a:solidFill>
            </a:endParaRPr>
          </a:p>
          <a:p>
            <a:pPr indent="0" lvl="0" marL="0" rtl="0" algn="ctr">
              <a:spcBef>
                <a:spcPts val="480"/>
              </a:spcBef>
              <a:spcAft>
                <a:spcPts val="0"/>
              </a:spcAft>
              <a:buNone/>
            </a:pPr>
            <a:r>
              <a:t/>
            </a:r>
            <a:endParaRPr sz="1100"/>
          </a:p>
          <a:p>
            <a:pPr indent="0" lvl="0" marL="0" rtl="0" algn="l">
              <a:spcBef>
                <a:spcPts val="48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rtl="0" algn="l">
              <a:spcBef>
                <a:spcPts val="480"/>
              </a:spcBef>
              <a:spcAft>
                <a:spcPts val="0"/>
              </a:spcAft>
              <a:buNone/>
            </a:pPr>
            <a:r>
              <a:t/>
            </a:r>
            <a:endParaRPr sz="1050"/>
          </a:p>
          <a:p>
            <a:pPr indent="0" lvl="0" marL="0" rtl="0" algn="l">
              <a:spcBef>
                <a:spcPts val="480"/>
              </a:spcBef>
              <a:spcAft>
                <a:spcPts val="0"/>
              </a:spcAft>
              <a:buNone/>
            </a:pPr>
            <a:r>
              <a:t/>
            </a:r>
            <a:endParaRPr sz="1700"/>
          </a:p>
          <a:p>
            <a:pPr indent="0" lvl="0" marL="0" rtl="0" algn="ctr">
              <a:spcBef>
                <a:spcPts val="480"/>
              </a:spcBef>
              <a:spcAft>
                <a:spcPts val="0"/>
              </a:spcAft>
              <a:buNone/>
            </a:pPr>
            <a:r>
              <a:t/>
            </a:r>
            <a:endParaRPr sz="1400"/>
          </a:p>
          <a:p>
            <a:pPr indent="0" lvl="0" marL="0" rtl="0" algn="ctr">
              <a:spcBef>
                <a:spcPts val="480"/>
              </a:spcBef>
              <a:spcAft>
                <a:spcPts val="0"/>
              </a:spcAft>
              <a:buNone/>
            </a:pPr>
            <a:r>
              <a:t/>
            </a:r>
            <a:endParaRPr sz="1400"/>
          </a:p>
          <a:p>
            <a:pPr indent="0" lvl="0" marL="0" rtl="0" algn="ctr">
              <a:spcBef>
                <a:spcPts val="480"/>
              </a:spcBef>
              <a:spcAft>
                <a:spcPts val="0"/>
              </a:spcAft>
              <a:buNone/>
            </a:pPr>
            <a:r>
              <a:t/>
            </a:r>
            <a:endParaRPr sz="1400"/>
          </a:p>
          <a:p>
            <a:pPr indent="0" lvl="0" marL="0" rtl="0" algn="l">
              <a:spcBef>
                <a:spcPts val="0"/>
              </a:spcBef>
              <a:spcAft>
                <a:spcPts val="0"/>
              </a:spcAft>
              <a:buNone/>
            </a:pPr>
            <a:r>
              <a:t/>
            </a:r>
            <a:endParaRPr sz="2200"/>
          </a:p>
          <a:p>
            <a:pPr indent="0" lvl="0" marL="0" rtl="0" algn="l">
              <a:spcBef>
                <a:spcPts val="480"/>
              </a:spcBef>
              <a:spcAft>
                <a:spcPts val="0"/>
              </a:spcAft>
              <a:buNone/>
            </a:pPr>
            <a:r>
              <a:t/>
            </a:r>
            <a:endParaRPr/>
          </a:p>
        </p:txBody>
      </p:sp>
      <p:sp>
        <p:nvSpPr>
          <p:cNvPr id="713" name="Google Shape;713;p78"/>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7" name="Shape 717"/>
        <p:cNvGrpSpPr/>
        <p:nvPr/>
      </p:nvGrpSpPr>
      <p:grpSpPr>
        <a:xfrm>
          <a:off x="0" y="0"/>
          <a:ext cx="0" cy="0"/>
          <a:chOff x="0" y="0"/>
          <a:chExt cx="0" cy="0"/>
        </a:xfrm>
      </p:grpSpPr>
      <p:sp>
        <p:nvSpPr>
          <p:cNvPr id="718" name="Google Shape;718;p79"/>
          <p:cNvSpPr txBox="1"/>
          <p:nvPr>
            <p:ph idx="1" type="body"/>
          </p:nvPr>
        </p:nvSpPr>
        <p:spPr>
          <a:xfrm>
            <a:off x="311700" y="0"/>
            <a:ext cx="8520600" cy="3631800"/>
          </a:xfrm>
          <a:prstGeom prst="rect">
            <a:avLst/>
          </a:prstGeom>
        </p:spPr>
        <p:txBody>
          <a:bodyPr anchorCtr="0" anchor="t" bIns="45700" lIns="91425" spcFirstLastPara="1" rIns="91425" wrap="square" tIns="45700">
            <a:noAutofit/>
          </a:bodyPr>
          <a:lstStyle/>
          <a:p>
            <a:pPr indent="0" lvl="0" marL="0" rtl="0" algn="ctr">
              <a:spcBef>
                <a:spcPts val="480"/>
              </a:spcBef>
              <a:spcAft>
                <a:spcPts val="0"/>
              </a:spcAft>
              <a:buNone/>
            </a:pPr>
            <a:r>
              <a:t/>
            </a:r>
            <a:endParaRPr sz="1400"/>
          </a:p>
          <a:p>
            <a:pPr indent="0" lvl="0" marL="0" rtl="0" algn="ctr">
              <a:spcBef>
                <a:spcPts val="480"/>
              </a:spcBef>
              <a:spcAft>
                <a:spcPts val="0"/>
              </a:spcAft>
              <a:buNone/>
            </a:pPr>
            <a:r>
              <a:rPr lang="it" sz="1400"/>
              <a:t>Bibliography: </a:t>
            </a:r>
            <a:endParaRPr sz="1400"/>
          </a:p>
          <a:p>
            <a:pPr indent="0" lvl="0" marL="0" rtl="0" algn="ctr">
              <a:spcBef>
                <a:spcPts val="480"/>
              </a:spcBef>
              <a:spcAft>
                <a:spcPts val="0"/>
              </a:spcAft>
              <a:buNone/>
            </a:pPr>
            <a:r>
              <a:t/>
            </a:r>
            <a:endParaRPr sz="1400"/>
          </a:p>
          <a:p>
            <a:pPr indent="0" lvl="0" marL="0" rtl="0" algn="ctr">
              <a:lnSpc>
                <a:spcPct val="150000"/>
              </a:lnSpc>
              <a:spcBef>
                <a:spcPts val="0"/>
              </a:spcBef>
              <a:spcAft>
                <a:spcPts val="0"/>
              </a:spcAft>
              <a:buNone/>
            </a:pPr>
            <a:r>
              <a:rPr lang="it" sz="1050">
                <a:solidFill>
                  <a:srgbClr val="1A1A1A"/>
                </a:solidFill>
                <a:highlight>
                  <a:schemeClr val="lt1"/>
                </a:highlight>
                <a:latin typeface="Roboto"/>
                <a:ea typeface="Roboto"/>
                <a:cs typeface="Roboto"/>
                <a:sym typeface="Roboto"/>
              </a:rPr>
              <a:t>“Kinematic and Dynamic Synergies of Human Precision-Grip Movements”  Grinyagin, I. V., Biryukova, E. V., &amp; Maier, M. A., Journal of Neurophysiology (2005)</a:t>
            </a:r>
            <a:endParaRPr sz="1050">
              <a:solidFill>
                <a:srgbClr val="1A1A1A"/>
              </a:solidFill>
              <a:highlight>
                <a:schemeClr val="lt1"/>
              </a:highlight>
              <a:latin typeface="Roboto"/>
              <a:ea typeface="Roboto"/>
              <a:cs typeface="Roboto"/>
              <a:sym typeface="Roboto"/>
            </a:endParaRPr>
          </a:p>
          <a:p>
            <a:pPr indent="0" lvl="0" marL="0" rtl="0" algn="ctr">
              <a:lnSpc>
                <a:spcPct val="150000"/>
              </a:lnSpc>
              <a:spcBef>
                <a:spcPts val="0"/>
              </a:spcBef>
              <a:spcAft>
                <a:spcPts val="0"/>
              </a:spcAft>
              <a:buNone/>
            </a:pPr>
            <a:r>
              <a:rPr lang="it" sz="1050">
                <a:solidFill>
                  <a:srgbClr val="1A1A1A"/>
                </a:solidFill>
                <a:highlight>
                  <a:schemeClr val="lt1"/>
                </a:highlight>
                <a:latin typeface="Roboto"/>
                <a:ea typeface="Roboto"/>
                <a:cs typeface="Roboto"/>
                <a:sym typeface="Roboto"/>
              </a:rPr>
              <a:t>“A synergy-based hand control is encoded in human motor cortical areas”  Leo, A., Handjaras, G., Bianchi, M., Marino, H., Gabiccini, M., Guidi, A., Scilingo, E. P., Pietrini, P., Bicchi, A., Santello, M., &amp; Ricciardi, E.,  eLife (2016)</a:t>
            </a:r>
            <a:endParaRPr sz="1050">
              <a:solidFill>
                <a:srgbClr val="1A1A1A"/>
              </a:solidFill>
              <a:highlight>
                <a:schemeClr val="lt1"/>
              </a:highlight>
              <a:latin typeface="Roboto"/>
              <a:ea typeface="Roboto"/>
              <a:cs typeface="Roboto"/>
              <a:sym typeface="Roboto"/>
            </a:endParaRPr>
          </a:p>
          <a:p>
            <a:pPr indent="0" lvl="0" marL="0" rtl="0" algn="ctr">
              <a:lnSpc>
                <a:spcPct val="150000"/>
              </a:lnSpc>
              <a:spcBef>
                <a:spcPts val="0"/>
              </a:spcBef>
              <a:spcAft>
                <a:spcPts val="0"/>
              </a:spcAft>
              <a:buNone/>
            </a:pPr>
            <a:r>
              <a:rPr lang="it" sz="1050">
                <a:solidFill>
                  <a:srgbClr val="1A1A1A"/>
                </a:solidFill>
                <a:highlight>
                  <a:schemeClr val="lt1"/>
                </a:highlight>
                <a:latin typeface="Roboto"/>
                <a:ea typeface="Roboto"/>
                <a:cs typeface="Roboto"/>
                <a:sym typeface="Roboto"/>
              </a:rPr>
              <a:t>“Regression of Hand Movements from sEMG Data with Recurrent Neural Networks” , Philipp Koch, Mark Dreier, Anna Larsen, Tim J. Parbs, Marco Maass, Huy Phan, and Alfred Mertins (2025)</a:t>
            </a:r>
            <a:endParaRPr sz="1050">
              <a:solidFill>
                <a:srgbClr val="1A1A1A"/>
              </a:solidFill>
              <a:highlight>
                <a:schemeClr val="lt1"/>
              </a:highlight>
              <a:latin typeface="Roboto"/>
              <a:ea typeface="Roboto"/>
              <a:cs typeface="Roboto"/>
              <a:sym typeface="Roboto"/>
            </a:endParaRPr>
          </a:p>
          <a:p>
            <a:pPr indent="0" lvl="0" marL="0" rtl="0" algn="ctr">
              <a:lnSpc>
                <a:spcPct val="150000"/>
              </a:lnSpc>
              <a:spcBef>
                <a:spcPts val="0"/>
              </a:spcBef>
              <a:spcAft>
                <a:spcPts val="0"/>
              </a:spcAft>
              <a:buNone/>
            </a:pPr>
            <a:r>
              <a:rPr lang="it" sz="1050">
                <a:solidFill>
                  <a:srgbClr val="1A1A1A"/>
                </a:solidFill>
                <a:highlight>
                  <a:schemeClr val="lt1"/>
                </a:highlight>
                <a:latin typeface="Roboto"/>
                <a:ea typeface="Roboto"/>
                <a:cs typeface="Roboto"/>
                <a:sym typeface="Roboto"/>
              </a:rPr>
              <a:t>“Toward Biosignals-Free Autonomous Prosthetic Hand Control via Imitation Learning” Kaijie Shi , Wanglong Lu , Hanli Zhao , Vinicius Prado da Fonseca , Member, IEEE, Ting Zou , Senior Member, IEEE, and Xianta Jiang , Senior Member, IEEE TRANSACTIONS ON NEURAL SYSTEMS AND REHABILITATION ENGINEERING (2025)</a:t>
            </a:r>
            <a:endParaRPr sz="1050">
              <a:solidFill>
                <a:srgbClr val="1A1A1A"/>
              </a:solidFill>
              <a:highlight>
                <a:schemeClr val="lt1"/>
              </a:highlight>
              <a:latin typeface="Roboto"/>
              <a:ea typeface="Roboto"/>
              <a:cs typeface="Roboto"/>
              <a:sym typeface="Roboto"/>
            </a:endParaRPr>
          </a:p>
          <a:p>
            <a:pPr indent="0" lvl="0" marL="0" rtl="0" algn="ctr">
              <a:lnSpc>
                <a:spcPct val="150000"/>
              </a:lnSpc>
              <a:spcBef>
                <a:spcPts val="0"/>
              </a:spcBef>
              <a:spcAft>
                <a:spcPts val="0"/>
              </a:spcAft>
              <a:buNone/>
            </a:pPr>
            <a:r>
              <a:rPr lang="it" sz="1050">
                <a:solidFill>
                  <a:srgbClr val="1A1A1A"/>
                </a:solidFill>
                <a:highlight>
                  <a:schemeClr val="lt1"/>
                </a:highlight>
                <a:latin typeface="Roboto"/>
                <a:ea typeface="Roboto"/>
                <a:cs typeface="Roboto"/>
                <a:sym typeface="Roboto"/>
              </a:rPr>
              <a:t>“Dexterous Manipulation through Imitation Learning: A Survey“ Shan An, Senior Member, IEEE, Ziyu Meng, Chao Tang, Yuning Zhou, Tengyu Liu, Fangqiang Ding, Shufang Zhang, Yao Mu, Ran Song, Senior Member, IEEE, Wei Zhang, Senior Member, IEEE,</a:t>
            </a:r>
            <a:endParaRPr sz="1050">
              <a:solidFill>
                <a:srgbClr val="1A1A1A"/>
              </a:solidFill>
              <a:highlight>
                <a:schemeClr val="lt1"/>
              </a:highlight>
              <a:latin typeface="Roboto"/>
              <a:ea typeface="Roboto"/>
              <a:cs typeface="Roboto"/>
              <a:sym typeface="Roboto"/>
            </a:endParaRPr>
          </a:p>
          <a:p>
            <a:pPr indent="0" lvl="0" marL="0" rtl="0" algn="ctr">
              <a:lnSpc>
                <a:spcPct val="150000"/>
              </a:lnSpc>
              <a:spcBef>
                <a:spcPts val="0"/>
              </a:spcBef>
              <a:spcAft>
                <a:spcPts val="0"/>
              </a:spcAft>
              <a:buNone/>
            </a:pPr>
            <a:r>
              <a:rPr lang="it" sz="1050">
                <a:solidFill>
                  <a:srgbClr val="1A1A1A"/>
                </a:solidFill>
                <a:highlight>
                  <a:schemeClr val="lt1"/>
                </a:highlight>
                <a:latin typeface="Roboto"/>
                <a:ea typeface="Roboto"/>
                <a:cs typeface="Roboto"/>
                <a:sym typeface="Roboto"/>
              </a:rPr>
              <a:t>Zeng-Guang Hou, Fellow, IEEE, and Hong Zhang</a:t>
            </a:r>
            <a:endParaRPr sz="1050">
              <a:solidFill>
                <a:srgbClr val="1A1A1A"/>
              </a:solidFill>
              <a:highlight>
                <a:schemeClr val="lt1"/>
              </a:highlight>
              <a:latin typeface="Roboto"/>
              <a:ea typeface="Roboto"/>
              <a:cs typeface="Roboto"/>
              <a:sym typeface="Roboto"/>
            </a:endParaRPr>
          </a:p>
          <a:p>
            <a:pPr indent="0" lvl="0" marL="0" rtl="0" algn="ctr">
              <a:lnSpc>
                <a:spcPct val="150000"/>
              </a:lnSpc>
              <a:spcBef>
                <a:spcPts val="0"/>
              </a:spcBef>
              <a:spcAft>
                <a:spcPts val="0"/>
              </a:spcAft>
              <a:buNone/>
            </a:pPr>
            <a:r>
              <a:rPr lang="it" sz="1050">
                <a:solidFill>
                  <a:srgbClr val="1A1A1A"/>
                </a:solidFill>
                <a:highlight>
                  <a:schemeClr val="lt1"/>
                </a:highlight>
                <a:latin typeface="Roboto"/>
                <a:ea typeface="Roboto"/>
                <a:cs typeface="Roboto"/>
                <a:sym typeface="Roboto"/>
              </a:rPr>
              <a:t> </a:t>
            </a:r>
            <a:endParaRPr sz="1050">
              <a:solidFill>
                <a:srgbClr val="1A1A1A"/>
              </a:solidFill>
              <a:highlight>
                <a:schemeClr val="lt1"/>
              </a:highlight>
              <a:latin typeface="Roboto"/>
              <a:ea typeface="Roboto"/>
              <a:cs typeface="Roboto"/>
              <a:sym typeface="Roboto"/>
            </a:endParaRPr>
          </a:p>
          <a:p>
            <a:pPr indent="0" lvl="0" marL="0" rtl="0" algn="ctr">
              <a:lnSpc>
                <a:spcPct val="150000"/>
              </a:lnSpc>
              <a:spcBef>
                <a:spcPts val="0"/>
              </a:spcBef>
              <a:spcAft>
                <a:spcPts val="0"/>
              </a:spcAft>
              <a:buNone/>
            </a:pPr>
            <a:r>
              <a:t/>
            </a:r>
            <a:endParaRPr sz="1050">
              <a:solidFill>
                <a:srgbClr val="1A1A1A"/>
              </a:solidFill>
              <a:highlight>
                <a:schemeClr val="lt1"/>
              </a:highlight>
              <a:latin typeface="Roboto"/>
              <a:ea typeface="Roboto"/>
              <a:cs typeface="Roboto"/>
              <a:sym typeface="Roboto"/>
            </a:endParaRPr>
          </a:p>
          <a:p>
            <a:pPr indent="0" lvl="0" marL="0" rtl="0" algn="ctr">
              <a:lnSpc>
                <a:spcPct val="150000"/>
              </a:lnSpc>
              <a:spcBef>
                <a:spcPts val="0"/>
              </a:spcBef>
              <a:spcAft>
                <a:spcPts val="0"/>
              </a:spcAft>
              <a:buNone/>
            </a:pPr>
            <a:r>
              <a:t/>
            </a:r>
            <a:endParaRPr sz="1050">
              <a:solidFill>
                <a:srgbClr val="1A1A1A"/>
              </a:solidFill>
              <a:highlight>
                <a:schemeClr val="lt1"/>
              </a:highlight>
              <a:latin typeface="Roboto"/>
              <a:ea typeface="Roboto"/>
              <a:cs typeface="Roboto"/>
              <a:sym typeface="Roboto"/>
            </a:endParaRPr>
          </a:p>
          <a:p>
            <a:pPr indent="0" lvl="0" marL="0" rtl="0" algn="ctr">
              <a:lnSpc>
                <a:spcPct val="150000"/>
              </a:lnSpc>
              <a:spcBef>
                <a:spcPts val="0"/>
              </a:spcBef>
              <a:spcAft>
                <a:spcPts val="0"/>
              </a:spcAft>
              <a:buNone/>
            </a:pPr>
            <a:r>
              <a:t/>
            </a:r>
            <a:endParaRPr sz="1050">
              <a:solidFill>
                <a:srgbClr val="1A1A1A"/>
              </a:solidFill>
              <a:highlight>
                <a:schemeClr val="lt1"/>
              </a:highlight>
              <a:latin typeface="Roboto"/>
              <a:ea typeface="Roboto"/>
              <a:cs typeface="Roboto"/>
              <a:sym typeface="Roboto"/>
            </a:endParaRPr>
          </a:p>
          <a:p>
            <a:pPr indent="0" lvl="0" marL="0" rtl="0" algn="l">
              <a:lnSpc>
                <a:spcPct val="115000"/>
              </a:lnSpc>
              <a:spcBef>
                <a:spcPts val="0"/>
              </a:spcBef>
              <a:spcAft>
                <a:spcPts val="0"/>
              </a:spcAft>
              <a:buNone/>
            </a:pPr>
            <a:r>
              <a:t/>
            </a:r>
            <a:endParaRPr sz="1100"/>
          </a:p>
          <a:p>
            <a:pPr indent="0" lvl="0" marL="0" rtl="0" algn="l">
              <a:spcBef>
                <a:spcPts val="480"/>
              </a:spcBef>
              <a:spcAft>
                <a:spcPts val="0"/>
              </a:spcAft>
              <a:buNone/>
            </a:pPr>
            <a:r>
              <a:t/>
            </a:r>
            <a:endParaRPr sz="1050"/>
          </a:p>
          <a:p>
            <a:pPr indent="0" lvl="0" marL="0" rtl="0" algn="l">
              <a:spcBef>
                <a:spcPts val="480"/>
              </a:spcBef>
              <a:spcAft>
                <a:spcPts val="0"/>
              </a:spcAft>
              <a:buNone/>
            </a:pPr>
            <a:r>
              <a:t/>
            </a:r>
            <a:endParaRPr sz="1700"/>
          </a:p>
          <a:p>
            <a:pPr indent="0" lvl="0" marL="0" rtl="0" algn="ctr">
              <a:spcBef>
                <a:spcPts val="480"/>
              </a:spcBef>
              <a:spcAft>
                <a:spcPts val="0"/>
              </a:spcAft>
              <a:buNone/>
            </a:pPr>
            <a:r>
              <a:t/>
            </a:r>
            <a:endParaRPr sz="1400"/>
          </a:p>
          <a:p>
            <a:pPr indent="0" lvl="0" marL="0" rtl="0" algn="ctr">
              <a:spcBef>
                <a:spcPts val="480"/>
              </a:spcBef>
              <a:spcAft>
                <a:spcPts val="0"/>
              </a:spcAft>
              <a:buNone/>
            </a:pPr>
            <a:r>
              <a:t/>
            </a:r>
            <a:endParaRPr sz="1400"/>
          </a:p>
          <a:p>
            <a:pPr indent="0" lvl="0" marL="0" rtl="0" algn="ctr">
              <a:spcBef>
                <a:spcPts val="480"/>
              </a:spcBef>
              <a:spcAft>
                <a:spcPts val="0"/>
              </a:spcAft>
              <a:buNone/>
            </a:pPr>
            <a:r>
              <a:t/>
            </a:r>
            <a:endParaRPr sz="1400"/>
          </a:p>
          <a:p>
            <a:pPr indent="0" lvl="0" marL="0" rtl="0" algn="l">
              <a:spcBef>
                <a:spcPts val="0"/>
              </a:spcBef>
              <a:spcAft>
                <a:spcPts val="0"/>
              </a:spcAft>
              <a:buNone/>
            </a:pPr>
            <a:r>
              <a:t/>
            </a:r>
            <a:endParaRPr sz="2200"/>
          </a:p>
          <a:p>
            <a:pPr indent="0" lvl="0" marL="0" rtl="0" algn="l">
              <a:spcBef>
                <a:spcPts val="480"/>
              </a:spcBef>
              <a:spcAft>
                <a:spcPts val="0"/>
              </a:spcAft>
              <a:buNone/>
            </a:pPr>
            <a:r>
              <a:t/>
            </a:r>
            <a:endParaRPr/>
          </a:p>
        </p:txBody>
      </p:sp>
      <p:sp>
        <p:nvSpPr>
          <p:cNvPr id="719" name="Google Shape;719;p79"/>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3" name="Shape 723"/>
        <p:cNvGrpSpPr/>
        <p:nvPr/>
      </p:nvGrpSpPr>
      <p:grpSpPr>
        <a:xfrm>
          <a:off x="0" y="0"/>
          <a:ext cx="0" cy="0"/>
          <a:chOff x="0" y="0"/>
          <a:chExt cx="0" cy="0"/>
        </a:xfrm>
      </p:grpSpPr>
      <p:sp>
        <p:nvSpPr>
          <p:cNvPr id="724" name="Google Shape;724;p80"/>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Hand </a:t>
            </a:r>
            <a:endParaRPr>
              <a:solidFill>
                <a:schemeClr val="dk1"/>
              </a:solidFill>
            </a:endParaRPr>
          </a:p>
        </p:txBody>
      </p:sp>
      <p:pic>
        <p:nvPicPr>
          <p:cNvPr id="725" name="Google Shape;725;p80" title="Screenshot from 2025-10-02 21-02-38.png"/>
          <p:cNvPicPr preferRelativeResize="0"/>
          <p:nvPr/>
        </p:nvPicPr>
        <p:blipFill>
          <a:blip r:embed="rId3">
            <a:alphaModFix/>
          </a:blip>
          <a:stretch>
            <a:fillRect/>
          </a:stretch>
        </p:blipFill>
        <p:spPr>
          <a:xfrm>
            <a:off x="1023010" y="2623947"/>
            <a:ext cx="2920306" cy="1977953"/>
          </a:xfrm>
          <a:prstGeom prst="rect">
            <a:avLst/>
          </a:prstGeom>
          <a:noFill/>
          <a:ln>
            <a:noFill/>
          </a:ln>
        </p:spPr>
      </p:pic>
      <p:pic>
        <p:nvPicPr>
          <p:cNvPr id="726" name="Google Shape;726;p80" title="Screenshot from 2025-10-02 21-01-37.png"/>
          <p:cNvPicPr preferRelativeResize="0"/>
          <p:nvPr/>
        </p:nvPicPr>
        <p:blipFill>
          <a:blip r:embed="rId4">
            <a:alphaModFix/>
          </a:blip>
          <a:stretch>
            <a:fillRect/>
          </a:stretch>
        </p:blipFill>
        <p:spPr>
          <a:xfrm>
            <a:off x="957750" y="726525"/>
            <a:ext cx="2985567" cy="1897432"/>
          </a:xfrm>
          <a:prstGeom prst="rect">
            <a:avLst/>
          </a:prstGeom>
          <a:noFill/>
          <a:ln>
            <a:noFill/>
          </a:ln>
        </p:spPr>
      </p:pic>
      <p:sp>
        <p:nvSpPr>
          <p:cNvPr id="727" name="Google Shape;727;p80"/>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pic>
        <p:nvPicPr>
          <p:cNvPr id="728" name="Google Shape;728;p80" title="Screenshot from 2025-10-02 21-15-24.png"/>
          <p:cNvPicPr preferRelativeResize="0"/>
          <p:nvPr/>
        </p:nvPicPr>
        <p:blipFill>
          <a:blip r:embed="rId5">
            <a:alphaModFix/>
          </a:blip>
          <a:stretch>
            <a:fillRect/>
          </a:stretch>
        </p:blipFill>
        <p:spPr>
          <a:xfrm>
            <a:off x="5309125" y="821425"/>
            <a:ext cx="3269919" cy="366880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2" name="Shape 732"/>
        <p:cNvGrpSpPr/>
        <p:nvPr/>
      </p:nvGrpSpPr>
      <p:grpSpPr>
        <a:xfrm>
          <a:off x="0" y="0"/>
          <a:ext cx="0" cy="0"/>
          <a:chOff x="0" y="0"/>
          <a:chExt cx="0" cy="0"/>
        </a:xfrm>
      </p:grpSpPr>
      <p:sp>
        <p:nvSpPr>
          <p:cNvPr id="733" name="Google Shape;733;p81"/>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Hand </a:t>
            </a:r>
            <a:endParaRPr>
              <a:solidFill>
                <a:schemeClr val="dk1"/>
              </a:solidFill>
            </a:endParaRPr>
          </a:p>
        </p:txBody>
      </p:sp>
      <p:pic>
        <p:nvPicPr>
          <p:cNvPr id="734" name="Google Shape;734;p81" title="Screenshot from 2025-10-02 20-52-28.png"/>
          <p:cNvPicPr preferRelativeResize="0"/>
          <p:nvPr/>
        </p:nvPicPr>
        <p:blipFill>
          <a:blip r:embed="rId3">
            <a:alphaModFix/>
          </a:blip>
          <a:stretch>
            <a:fillRect/>
          </a:stretch>
        </p:blipFill>
        <p:spPr>
          <a:xfrm>
            <a:off x="1817663" y="1172676"/>
            <a:ext cx="5508675" cy="2798150"/>
          </a:xfrm>
          <a:prstGeom prst="rect">
            <a:avLst/>
          </a:prstGeom>
          <a:noFill/>
          <a:ln>
            <a:noFill/>
          </a:ln>
        </p:spPr>
      </p:pic>
      <p:sp>
        <p:nvSpPr>
          <p:cNvPr id="735" name="Google Shape;735;p81"/>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9" name="Shape 739"/>
        <p:cNvGrpSpPr/>
        <p:nvPr/>
      </p:nvGrpSpPr>
      <p:grpSpPr>
        <a:xfrm>
          <a:off x="0" y="0"/>
          <a:ext cx="0" cy="0"/>
          <a:chOff x="0" y="0"/>
          <a:chExt cx="0" cy="0"/>
        </a:xfrm>
      </p:grpSpPr>
      <p:sp>
        <p:nvSpPr>
          <p:cNvPr id="740" name="Google Shape;740;p82"/>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741" name="Google Shape;741;p82"/>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NN: NeuroPose3D </a:t>
            </a:r>
            <a:endParaRPr/>
          </a:p>
        </p:txBody>
      </p:sp>
      <p:sp>
        <p:nvSpPr>
          <p:cNvPr id="742" name="Google Shape;742;p82"/>
          <p:cNvSpPr txBox="1"/>
          <p:nvPr/>
        </p:nvSpPr>
        <p:spPr>
          <a:xfrm>
            <a:off x="311700" y="305200"/>
            <a:ext cx="4575900" cy="3932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260"/>
              <a:t>Input: 8 channel EMG armband (Myoband);</a:t>
            </a:r>
            <a:endParaRPr sz="1260"/>
          </a:p>
          <a:p>
            <a:pPr indent="-308610" lvl="0" marL="457200" rtl="0" algn="l">
              <a:lnSpc>
                <a:spcPct val="130000"/>
              </a:lnSpc>
              <a:spcBef>
                <a:spcPts val="480"/>
              </a:spcBef>
              <a:spcAft>
                <a:spcPts val="0"/>
              </a:spcAft>
              <a:buClr>
                <a:schemeClr val="dk1"/>
              </a:buClr>
              <a:buSzPts val="1260"/>
              <a:buChar char="➔"/>
            </a:pPr>
            <a:r>
              <a:rPr lang="it" sz="1260"/>
              <a:t>Output: 21 finger joint angles (4 DOF for finger);</a:t>
            </a:r>
            <a:endParaRPr sz="1260"/>
          </a:p>
          <a:p>
            <a:pPr indent="-308610" lvl="0" marL="457200" rtl="0" algn="l">
              <a:lnSpc>
                <a:spcPct val="130000"/>
              </a:lnSpc>
              <a:spcBef>
                <a:spcPts val="480"/>
              </a:spcBef>
              <a:spcAft>
                <a:spcPts val="0"/>
              </a:spcAft>
              <a:buClr>
                <a:schemeClr val="dk1"/>
              </a:buClr>
              <a:buSzPts val="1260"/>
              <a:buChar char="➔"/>
            </a:pPr>
            <a:r>
              <a:rPr lang="it" sz="1260"/>
              <a:t>Median accuracy of 6.24°;</a:t>
            </a:r>
            <a:endParaRPr sz="1260"/>
          </a:p>
          <a:p>
            <a:pPr indent="-308610" lvl="0" marL="457200" rtl="0" algn="l">
              <a:lnSpc>
                <a:spcPct val="130000"/>
              </a:lnSpc>
              <a:spcBef>
                <a:spcPts val="480"/>
              </a:spcBef>
              <a:spcAft>
                <a:spcPts val="0"/>
              </a:spcAft>
              <a:buClr>
                <a:schemeClr val="dk1"/>
              </a:buClr>
              <a:buSzPts val="1260"/>
              <a:buChar char="➔"/>
            </a:pPr>
            <a:r>
              <a:rPr lang="it" sz="1260"/>
              <a:t>Transfer Learning (</a:t>
            </a:r>
            <a:r>
              <a:rPr lang="it" sz="1100"/>
              <a:t>this framework </a:t>
            </a:r>
            <a:r>
              <a:rPr b="1" lang="it" sz="1100"/>
              <a:t>adapts</a:t>
            </a:r>
            <a:r>
              <a:rPr lang="it" sz="1100"/>
              <a:t> the existing pretrained model. It fine-tunes the model to understand the specific nuances of the new user, making the tracking more accurate for them) </a:t>
            </a:r>
            <a:r>
              <a:rPr lang="it" sz="1260"/>
              <a:t>based on Adaptive batch normalization;</a:t>
            </a:r>
            <a:endParaRPr sz="1260"/>
          </a:p>
          <a:p>
            <a:pPr indent="-270510" lvl="0" marL="342900" rtl="0" algn="l">
              <a:lnSpc>
                <a:spcPct val="130000"/>
              </a:lnSpc>
              <a:spcBef>
                <a:spcPts val="480"/>
              </a:spcBef>
              <a:spcAft>
                <a:spcPts val="0"/>
              </a:spcAft>
              <a:buClr>
                <a:schemeClr val="dk1"/>
              </a:buClr>
              <a:buSzPts val="1260"/>
              <a:buChar char="➔"/>
            </a:pPr>
            <a:r>
              <a:rPr lang="it" sz="1260"/>
              <a:t>NeuroPose only needs 90s of training samples from a new user to customize a pretrained model to the user.</a:t>
            </a:r>
            <a:endParaRPr sz="1260"/>
          </a:p>
          <a:p>
            <a:pPr indent="-270510" lvl="0" marL="342900" rtl="0" algn="l">
              <a:lnSpc>
                <a:spcPct val="130000"/>
              </a:lnSpc>
              <a:spcBef>
                <a:spcPts val="480"/>
              </a:spcBef>
              <a:spcAft>
                <a:spcPts val="0"/>
              </a:spcAft>
              <a:buClr>
                <a:schemeClr val="dk1"/>
              </a:buClr>
              <a:buSzPts val="1260"/>
              <a:buChar char="➔"/>
            </a:pPr>
            <a:r>
              <a:rPr lang="it" sz="1260"/>
              <a:t>ED NN: The network accepts 5s of sensor data and outputs the corresponding 3D hand pose sequence.</a:t>
            </a:r>
            <a:endParaRPr sz="1260"/>
          </a:p>
        </p:txBody>
      </p:sp>
      <p:sp>
        <p:nvSpPr>
          <p:cNvPr id="743" name="Google Shape;743;p82"/>
          <p:cNvSpPr txBox="1"/>
          <p:nvPr/>
        </p:nvSpPr>
        <p:spPr>
          <a:xfrm>
            <a:off x="4572000" y="305200"/>
            <a:ext cx="4687200" cy="44898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260"/>
              <a:t>The output of network is 16 instead of 21 finger joints, because 5 of them can be computed with equations;</a:t>
            </a:r>
            <a:endParaRPr sz="1260"/>
          </a:p>
          <a:p>
            <a:pPr indent="-308610" lvl="0" marL="457200" rtl="0" algn="l">
              <a:lnSpc>
                <a:spcPct val="130000"/>
              </a:lnSpc>
              <a:spcBef>
                <a:spcPts val="480"/>
              </a:spcBef>
              <a:spcAft>
                <a:spcPts val="0"/>
              </a:spcAft>
              <a:buClr>
                <a:schemeClr val="dk1"/>
              </a:buClr>
              <a:buSzPts val="1260"/>
              <a:buChar char="➔"/>
            </a:pPr>
            <a:r>
              <a:rPr lang="it" sz="1260"/>
              <a:t>Input: 1000 x 8, 200 Hz so a total of 5 s; </a:t>
            </a:r>
            <a:endParaRPr sz="1260"/>
          </a:p>
          <a:p>
            <a:pPr indent="-308610" lvl="0" marL="457200" rtl="0" algn="l">
              <a:lnSpc>
                <a:spcPct val="130000"/>
              </a:lnSpc>
              <a:spcBef>
                <a:spcPts val="480"/>
              </a:spcBef>
              <a:spcAft>
                <a:spcPts val="0"/>
              </a:spcAft>
              <a:buClr>
                <a:schemeClr val="dk1"/>
              </a:buClr>
              <a:buSzPts val="1260"/>
              <a:buChar char="➔"/>
            </a:pPr>
            <a:r>
              <a:rPr lang="it" sz="1260"/>
              <a:t>Encoder: ResNet between layers;</a:t>
            </a:r>
            <a:endParaRPr sz="1260"/>
          </a:p>
          <a:p>
            <a:pPr indent="-308610" lvl="0" marL="457200" rtl="0" algn="l">
              <a:lnSpc>
                <a:spcPct val="130000"/>
              </a:lnSpc>
              <a:spcBef>
                <a:spcPts val="480"/>
              </a:spcBef>
              <a:spcAft>
                <a:spcPts val="0"/>
              </a:spcAft>
              <a:buClr>
                <a:schemeClr val="dk1"/>
              </a:buClr>
              <a:buSzPts val="1260"/>
              <a:buChar char="➔"/>
            </a:pPr>
            <a:r>
              <a:rPr lang="it" sz="1260"/>
              <a:t>Ground truth of joint position from a depth camera. Syncronization with </a:t>
            </a:r>
            <a:r>
              <a:rPr b="1" lang="it" sz="1260"/>
              <a:t>Coordinated Universal Time (UTC) timestamps.</a:t>
            </a:r>
            <a:r>
              <a:rPr lang="it" sz="1260"/>
              <a:t>;</a:t>
            </a:r>
            <a:endParaRPr sz="1260"/>
          </a:p>
          <a:p>
            <a:pPr indent="-308610" lvl="0" marL="457200" rtl="0" algn="l">
              <a:lnSpc>
                <a:spcPct val="130000"/>
              </a:lnSpc>
              <a:spcBef>
                <a:spcPts val="480"/>
              </a:spcBef>
              <a:spcAft>
                <a:spcPts val="0"/>
              </a:spcAft>
              <a:buClr>
                <a:schemeClr val="dk1"/>
              </a:buClr>
              <a:buSzPts val="1260"/>
              <a:buChar char="➔"/>
            </a:pPr>
            <a:r>
              <a:rPr lang="it" sz="1260"/>
              <a:t>Loss: sum of loss of mcp,f/e + loss of mcp,aa+losspip+lossthumb+loss smoothness. loss smoothness to enforce constant velocity smoothness, we use the derivative of the vector of all joint angles across all fingers at time step t. </a:t>
            </a:r>
            <a:endParaRPr sz="1260"/>
          </a:p>
          <a:p>
            <a:pPr indent="-270510" lvl="0" marL="342900" rtl="0" algn="l">
              <a:lnSpc>
                <a:spcPct val="130000"/>
              </a:lnSpc>
              <a:spcBef>
                <a:spcPts val="480"/>
              </a:spcBef>
              <a:spcAft>
                <a:spcPts val="0"/>
              </a:spcAft>
              <a:buClr>
                <a:schemeClr val="dk1"/>
              </a:buClr>
              <a:buSzPts val="1260"/>
              <a:buChar char="➔"/>
            </a:pPr>
            <a:r>
              <a:rPr lang="it" sz="1260"/>
              <a:t>12 users (8 males, 4 females)between  20-30, and weigh between 47-96kgs.</a:t>
            </a:r>
            <a:endParaRPr sz="1260"/>
          </a:p>
          <a:p>
            <a:pPr indent="-308610" lvl="0" marL="457200" rtl="0" algn="l">
              <a:lnSpc>
                <a:spcPct val="130000"/>
              </a:lnSpc>
              <a:spcBef>
                <a:spcPts val="480"/>
              </a:spcBef>
              <a:spcAft>
                <a:spcPts val="0"/>
              </a:spcAft>
              <a:buClr>
                <a:schemeClr val="dk1"/>
              </a:buClr>
              <a:buSzPts val="1260"/>
              <a:buChar char="➔"/>
            </a:pPr>
            <a:r>
              <a:t/>
            </a:r>
            <a:endParaRPr sz="126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7" name="Shape 747"/>
        <p:cNvGrpSpPr/>
        <p:nvPr/>
      </p:nvGrpSpPr>
      <p:grpSpPr>
        <a:xfrm>
          <a:off x="0" y="0"/>
          <a:ext cx="0" cy="0"/>
          <a:chOff x="0" y="0"/>
          <a:chExt cx="0" cy="0"/>
        </a:xfrm>
      </p:grpSpPr>
      <p:sp>
        <p:nvSpPr>
          <p:cNvPr id="748" name="Google Shape;748;p83"/>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749" name="Google Shape;749;p83"/>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NN: NeuroPose3D </a:t>
            </a:r>
            <a:endParaRPr/>
          </a:p>
        </p:txBody>
      </p:sp>
      <p:sp>
        <p:nvSpPr>
          <p:cNvPr id="750" name="Google Shape;750;p83"/>
          <p:cNvSpPr txBox="1"/>
          <p:nvPr/>
        </p:nvSpPr>
        <p:spPr>
          <a:xfrm>
            <a:off x="311700" y="1073588"/>
            <a:ext cx="4575900" cy="3567900"/>
          </a:xfrm>
          <a:prstGeom prst="rect">
            <a:avLst/>
          </a:prstGeom>
          <a:noFill/>
          <a:ln>
            <a:noFill/>
          </a:ln>
        </p:spPr>
        <p:txBody>
          <a:bodyPr anchorCtr="0" anchor="t" bIns="91425" lIns="91425" spcFirstLastPara="1" rIns="91425" wrap="square" tIns="91425">
            <a:noAutofit/>
          </a:bodyPr>
          <a:lstStyle/>
          <a:p>
            <a:pPr indent="-307975" lvl="0" marL="457200" rtl="0" algn="l">
              <a:lnSpc>
                <a:spcPct val="130000"/>
              </a:lnSpc>
              <a:spcBef>
                <a:spcPts val="480"/>
              </a:spcBef>
              <a:spcAft>
                <a:spcPts val="0"/>
              </a:spcAft>
              <a:buClr>
                <a:schemeClr val="dk1"/>
              </a:buClr>
              <a:buSzPts val="1250"/>
              <a:buChar char="➔"/>
            </a:pPr>
            <a:r>
              <a:rPr lang="it" sz="1250"/>
              <a:t>Normalization for joint limits and bRELU;</a:t>
            </a:r>
            <a:endParaRPr sz="1250"/>
          </a:p>
          <a:p>
            <a:pPr indent="-307975" lvl="0" marL="457200" rtl="0" algn="l">
              <a:lnSpc>
                <a:spcPct val="130000"/>
              </a:lnSpc>
              <a:spcBef>
                <a:spcPts val="480"/>
              </a:spcBef>
              <a:spcAft>
                <a:spcPts val="0"/>
              </a:spcAft>
              <a:buClr>
                <a:schemeClr val="dk1"/>
              </a:buClr>
              <a:buSzPts val="1250"/>
              <a:buChar char="➔"/>
            </a:pPr>
            <a:r>
              <a:rPr lang="it" sz="1250"/>
              <a:t>Finetuning the BN layers help with domain adaptation because of their ability to contain wide oscillations in the distributions of input fed from one layer to the next.</a:t>
            </a:r>
            <a:endParaRPr sz="1250"/>
          </a:p>
          <a:p>
            <a:pPr indent="-307975" lvl="0" marL="457200" rtl="0" algn="l">
              <a:lnSpc>
                <a:spcPct val="130000"/>
              </a:lnSpc>
              <a:spcBef>
                <a:spcPts val="480"/>
              </a:spcBef>
              <a:spcAft>
                <a:spcPts val="0"/>
              </a:spcAft>
              <a:buClr>
                <a:schemeClr val="dk1"/>
              </a:buClr>
              <a:buSzPts val="1250"/>
              <a:buChar char="➔"/>
            </a:pPr>
            <a:r>
              <a:rPr lang="it" sz="1250"/>
              <a:t>User just performs random finger motions ad we did.</a:t>
            </a:r>
            <a:endParaRPr sz="1250"/>
          </a:p>
          <a:p>
            <a:pPr indent="-307975" lvl="0" marL="457200" rtl="0" algn="l">
              <a:lnSpc>
                <a:spcPct val="130000"/>
              </a:lnSpc>
              <a:spcBef>
                <a:spcPts val="480"/>
              </a:spcBef>
              <a:spcAft>
                <a:spcPts val="0"/>
              </a:spcAft>
              <a:buClr>
                <a:schemeClr val="dk1"/>
              </a:buClr>
              <a:buSzPts val="1250"/>
              <a:buChar char="➔"/>
            </a:pPr>
            <a:r>
              <a:rPr lang="it" sz="1250"/>
              <a:t>Each user participates in 12 separate sessions with each session lasting for 3 minutes with sufficient rest between sessions. For the first 5 sessions, both the sensor position and the wrist position are not changed. For the each of the last 6 sessions, we remove and remount the sensor. Users perform up, down, bend, down, up for sessions 11 respectively. For the last session, the users perform the mobile configuration.</a:t>
            </a:r>
            <a:endParaRPr sz="1250"/>
          </a:p>
          <a:p>
            <a:pPr indent="0" lvl="0" marL="342900" rtl="0" algn="l">
              <a:lnSpc>
                <a:spcPct val="130000"/>
              </a:lnSpc>
              <a:spcBef>
                <a:spcPts val="480"/>
              </a:spcBef>
              <a:spcAft>
                <a:spcPts val="0"/>
              </a:spcAft>
              <a:buNone/>
            </a:pPr>
            <a:r>
              <a:t/>
            </a:r>
            <a:endParaRPr sz="1250"/>
          </a:p>
        </p:txBody>
      </p:sp>
      <p:sp>
        <p:nvSpPr>
          <p:cNvPr id="751" name="Google Shape;751;p83"/>
          <p:cNvSpPr txBox="1"/>
          <p:nvPr/>
        </p:nvSpPr>
        <p:spPr>
          <a:xfrm>
            <a:off x="4683400" y="694700"/>
            <a:ext cx="4575900" cy="3809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260"/>
          </a:p>
          <a:p>
            <a:pPr indent="-308610" lvl="0" marL="457200" rtl="0" algn="l">
              <a:lnSpc>
                <a:spcPct val="130000"/>
              </a:lnSpc>
              <a:spcBef>
                <a:spcPts val="480"/>
              </a:spcBef>
              <a:spcAft>
                <a:spcPts val="0"/>
              </a:spcAft>
              <a:buClr>
                <a:schemeClr val="dk1"/>
              </a:buClr>
              <a:buSzPts val="1260"/>
              <a:buChar char="➔"/>
            </a:pPr>
            <a:r>
              <a:rPr lang="it" sz="1260"/>
              <a:t>LSTM variant of RNN: The generated EMG sensor data is not only dependent on muscle contractions to maintain the current finger pose but also dependent on the force exerted in the muscles to move the fingers to a new position.</a:t>
            </a:r>
            <a:endParaRPr sz="1260"/>
          </a:p>
          <a:p>
            <a:pPr indent="-308610" lvl="0" marL="457200" rtl="0" algn="l">
              <a:lnSpc>
                <a:spcPct val="130000"/>
              </a:lnSpc>
              <a:spcBef>
                <a:spcPts val="480"/>
              </a:spcBef>
              <a:spcAft>
                <a:spcPts val="0"/>
              </a:spcAft>
              <a:buClr>
                <a:schemeClr val="dk1"/>
              </a:buClr>
              <a:buSzPts val="1260"/>
              <a:buChar char="➔"/>
            </a:pPr>
            <a:r>
              <a:rPr lang="it" sz="1260"/>
              <a:t>RNN: the transformer need 5 second of data input because of its attention layer, instead the RNN relies on its hidden state in which it moemorize the past states, and now it has only to process the current frame. </a:t>
            </a:r>
            <a:endParaRPr sz="1260"/>
          </a:p>
          <a:p>
            <a:pPr indent="-308610" lvl="0" marL="457200" rtl="0" algn="l">
              <a:lnSpc>
                <a:spcPct val="130000"/>
              </a:lnSpc>
              <a:spcBef>
                <a:spcPts val="480"/>
              </a:spcBef>
              <a:spcAft>
                <a:spcPts val="0"/>
              </a:spcAft>
              <a:buClr>
                <a:schemeClr val="dk1"/>
              </a:buClr>
              <a:buSzPts val="1260"/>
              <a:buChar char="➔"/>
            </a:pPr>
            <a:r>
              <a:rPr lang="it" sz="1260"/>
              <a:t>Backpropagation Through Time (BPTT) to solve the problem of explosion of gradients because of long dataset so long training. </a:t>
            </a:r>
            <a:endParaRPr sz="1260"/>
          </a:p>
          <a:p>
            <a:pPr indent="0" lvl="0" marL="0" rtl="0" algn="l">
              <a:lnSpc>
                <a:spcPct val="130000"/>
              </a:lnSpc>
              <a:spcBef>
                <a:spcPts val="480"/>
              </a:spcBef>
              <a:spcAft>
                <a:spcPts val="0"/>
              </a:spcAft>
              <a:buNone/>
            </a:pPr>
            <a:r>
              <a:t/>
            </a:r>
            <a:endParaRPr sz="126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84"/>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757" name="Google Shape;757;p84"/>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NN: NeuroPose3D </a:t>
            </a:r>
            <a:endParaRPr/>
          </a:p>
        </p:txBody>
      </p:sp>
      <p:sp>
        <p:nvSpPr>
          <p:cNvPr id="758" name="Google Shape;758;p84"/>
          <p:cNvSpPr txBox="1"/>
          <p:nvPr/>
        </p:nvSpPr>
        <p:spPr>
          <a:xfrm>
            <a:off x="311700" y="988975"/>
            <a:ext cx="8520600" cy="3567900"/>
          </a:xfrm>
          <a:prstGeom prst="rect">
            <a:avLst/>
          </a:prstGeom>
          <a:noFill/>
          <a:ln>
            <a:noFill/>
          </a:ln>
        </p:spPr>
        <p:txBody>
          <a:bodyPr anchorCtr="0" anchor="t" bIns="91425" lIns="91425" spcFirstLastPara="1" rIns="91425" wrap="square" tIns="91425">
            <a:noAutofit/>
          </a:bodyPr>
          <a:lstStyle/>
          <a:p>
            <a:pPr indent="-307975" lvl="0" marL="457200" rtl="0" algn="l">
              <a:lnSpc>
                <a:spcPct val="130000"/>
              </a:lnSpc>
              <a:spcBef>
                <a:spcPts val="480"/>
              </a:spcBef>
              <a:spcAft>
                <a:spcPts val="0"/>
              </a:spcAft>
              <a:buClr>
                <a:schemeClr val="dk1"/>
              </a:buClr>
              <a:buSzPts val="1250"/>
              <a:buChar char="➔"/>
            </a:pPr>
            <a:r>
              <a:rPr lang="it" sz="1250"/>
              <a:t>Test: over test cases that include the last 6 sessions where (i) The sensor has been removed and remounted on the user’s arm (ii) The wrist position is completely different from the one used to train the models.</a:t>
            </a:r>
            <a:endParaRPr sz="1250"/>
          </a:p>
          <a:p>
            <a:pPr indent="-307975" lvl="0" marL="457200" rtl="0" algn="l">
              <a:lnSpc>
                <a:spcPct val="130000"/>
              </a:lnSpc>
              <a:spcBef>
                <a:spcPts val="480"/>
              </a:spcBef>
              <a:spcAft>
                <a:spcPts val="0"/>
              </a:spcAft>
              <a:buClr>
                <a:schemeClr val="dk1"/>
              </a:buClr>
              <a:buSzPts val="1250"/>
              <a:buChar char="➔"/>
            </a:pPr>
            <a:r>
              <a:rPr lang="it" sz="1250"/>
              <a:t>In the end the </a:t>
            </a:r>
            <a:r>
              <a:rPr lang="it" sz="1250"/>
              <a:t>consumption</a:t>
            </a:r>
            <a:r>
              <a:rPr lang="it" sz="1250"/>
              <a:t> and the higher accuracy of the encoder decoder rnn based </a:t>
            </a:r>
            <a:r>
              <a:rPr lang="it" sz="1250"/>
              <a:t>network</a:t>
            </a:r>
            <a:r>
              <a:rPr lang="it" sz="1250"/>
              <a:t> trade off is preferred to the LSTM. </a:t>
            </a:r>
            <a:endParaRPr sz="1250"/>
          </a:p>
          <a:p>
            <a:pPr indent="-307975" lvl="0" marL="457200" rtl="0" algn="l">
              <a:lnSpc>
                <a:spcPct val="130000"/>
              </a:lnSpc>
              <a:spcBef>
                <a:spcPts val="480"/>
              </a:spcBef>
              <a:spcAft>
                <a:spcPts val="0"/>
              </a:spcAft>
              <a:buClr>
                <a:schemeClr val="dk1"/>
              </a:buClr>
              <a:buSzPts val="1250"/>
              <a:buChar char="➔"/>
            </a:pPr>
            <a:r>
              <a:rPr lang="it" sz="1250"/>
              <a:t>Future Works: Unsupervised Domain Adaptation.</a:t>
            </a:r>
            <a:r>
              <a:rPr b="1" lang="it" sz="1100"/>
              <a:t> Also </a:t>
            </a:r>
            <a:r>
              <a:rPr lang="it" sz="1100"/>
              <a:t>When a user is holding an object, the muscles responsible for </a:t>
            </a:r>
            <a:r>
              <a:rPr b="1" lang="it" sz="1100"/>
              <a:t>grip strength</a:t>
            </a:r>
            <a:r>
              <a:rPr lang="it" sz="1100"/>
              <a:t> interfere with the signals from the muscles controlling </a:t>
            </a:r>
            <a:r>
              <a:rPr b="1" lang="it" sz="1100"/>
              <a:t>fine finger motion</a:t>
            </a:r>
            <a:r>
              <a:rPr lang="it" sz="1100"/>
              <a:t>. This interference corrupts the Electromyography (EMG) data, potentially reducing the accuracy of hand pose decoding.</a:t>
            </a:r>
            <a:r>
              <a:rPr b="1" lang="it" sz="1100"/>
              <a:t> </a:t>
            </a:r>
            <a:r>
              <a:rPr lang="it" sz="1100"/>
              <a:t>To refine the NeuroPose algorithms to </a:t>
            </a:r>
            <a:r>
              <a:rPr b="1" lang="it" sz="1100"/>
              <a:t>minimize this interference</a:t>
            </a:r>
            <a:r>
              <a:rPr lang="it" sz="1100"/>
              <a:t> caused by the additional muscle signals activated by force, thereby ensuring that </a:t>
            </a:r>
            <a:r>
              <a:rPr b="1" lang="it" sz="1100"/>
              <a:t>pose tracking accuracy is maintained</a:t>
            </a:r>
            <a:r>
              <a:rPr lang="it" sz="1100"/>
              <a:t> even when the user is physically interacting with an object.</a:t>
            </a:r>
            <a:endParaRPr sz="1100"/>
          </a:p>
          <a:p>
            <a:pPr indent="0" lvl="0" marL="342900" rtl="0" algn="l">
              <a:lnSpc>
                <a:spcPct val="130000"/>
              </a:lnSpc>
              <a:spcBef>
                <a:spcPts val="480"/>
              </a:spcBef>
              <a:spcAft>
                <a:spcPts val="0"/>
              </a:spcAft>
              <a:buNone/>
            </a:pPr>
            <a:r>
              <a:t/>
            </a:r>
            <a:endParaRPr sz="125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2" name="Shape 762"/>
        <p:cNvGrpSpPr/>
        <p:nvPr/>
      </p:nvGrpSpPr>
      <p:grpSpPr>
        <a:xfrm>
          <a:off x="0" y="0"/>
          <a:ext cx="0" cy="0"/>
          <a:chOff x="0" y="0"/>
          <a:chExt cx="0" cy="0"/>
        </a:xfrm>
      </p:grpSpPr>
      <p:sp>
        <p:nvSpPr>
          <p:cNvPr id="763" name="Google Shape;763;p85"/>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764" name="Google Shape;764;p85"/>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Mirrored hand motion decoding </a:t>
            </a:r>
            <a:endParaRPr/>
          </a:p>
        </p:txBody>
      </p:sp>
      <p:pic>
        <p:nvPicPr>
          <p:cNvPr descr="Our cutting-edge technology is redefining control of the prosthesis, offering freedom of movement for those with hand differences. Experience control like never before - all with the power of AI.&#10;&#10;🔗 Learn More: https://alvilabs.com/&#10;📩 Contact Us: info@alvilabs.com &#10;&#10;🌟 FEATURE HIGHLIGHTS:&#10;&#10;- Intuitive Control: Move naturally with an interface that understands you.&#10;- Seamless Interaction: Engage with the digital and physical (in future) world effortlessly.&#10;- Join the Waitlist: Be among the first to access the future of prosthetics.&#10;&#10;🤝 PARTNER WITH US:&#10;We're on the lookout for partners and investors who share our vision. Together, we can transform lives. Interested? &#10;Let's talk: kovalev@alvilabs.com, &#10;Aleksandr Kovalev, CEO of ALVI Labs&#10;&#10;💌 FOR AMPUTEES AND THOSE WITH LIMB DIFFERENCES:&#10;Your journey to enhanced mobility starts here. Join our waitlist and be part of our community: https://tally.so/r/wo26A1&#10;&#10;⭐ CHAPTERS:&#10;00:00 Introduce ALVI Interface&#10;00:25 Control your wrist&#10;00:45 Control your fingers&#10;01:16 Interact with objects&#10;01:48 Join us to create the future&#10;02:11 Extra&#10;&#10;📣 STAY CONNECTED:&#10;Don't miss out on any updates from ALVI Labs. Follow us on our social media:&#10;&#10;- LinkedIn: https://www.linkedin.com/company/alvilabs/&#10;- Twitter: https://twitter.com/alvilabs&#10;- Instagram: https://www.instagram.com/alvilabs/&#10;&#10;💡 ABOUT ALVI Labs:&#10;At ALVI Labs, we're not just engineers; we're innovators committed to changing the world. Our mission is to unlock freedom of movement for everyone, and we're just getting started.&#10;&#10;#Prosthetics #Innovation #Technology #FreedomOfMovement #ALVILabs #thefutureisnow&#10;#prosthesis #controlsystem" id="765" name="Google Shape;765;p85" title="Introducing ALVI Interface for People with Hand Differences">
            <a:hlinkClick r:id="rId3"/>
          </p:cNvPr>
          <p:cNvPicPr preferRelativeResize="0"/>
          <p:nvPr/>
        </p:nvPicPr>
        <p:blipFill>
          <a:blip r:embed="rId4">
            <a:alphaModFix/>
          </a:blip>
          <a:stretch>
            <a:fillRect/>
          </a:stretch>
        </p:blipFill>
        <p:spPr>
          <a:xfrm>
            <a:off x="5309125" y="1098200"/>
            <a:ext cx="3626625" cy="2039975"/>
          </a:xfrm>
          <a:prstGeom prst="rect">
            <a:avLst/>
          </a:prstGeom>
          <a:noFill/>
          <a:ln>
            <a:noFill/>
          </a:ln>
        </p:spPr>
      </p:pic>
      <p:sp>
        <p:nvSpPr>
          <p:cNvPr id="766" name="Google Shape;766;p85"/>
          <p:cNvSpPr txBox="1"/>
          <p:nvPr/>
        </p:nvSpPr>
        <p:spPr>
          <a:xfrm>
            <a:off x="311700" y="500002"/>
            <a:ext cx="4847700" cy="38238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260"/>
              <a:t>25 Hz Reconstruction of 20 DOF Hand Pose for upper limb </a:t>
            </a:r>
            <a:r>
              <a:rPr lang="it" sz="1260"/>
              <a:t>amputees</a:t>
            </a:r>
            <a:r>
              <a:rPr lang="it" sz="1260"/>
              <a:t>;</a:t>
            </a:r>
            <a:endParaRPr sz="1260"/>
          </a:p>
          <a:p>
            <a:pPr indent="-308610" lvl="0" marL="457200" rtl="0" algn="l">
              <a:lnSpc>
                <a:spcPct val="130000"/>
              </a:lnSpc>
              <a:spcBef>
                <a:spcPts val="480"/>
              </a:spcBef>
              <a:spcAft>
                <a:spcPts val="0"/>
              </a:spcAft>
              <a:buClr>
                <a:schemeClr val="dk1"/>
              </a:buClr>
              <a:buSzPts val="1260"/>
              <a:buChar char="➔"/>
            </a:pPr>
            <a:r>
              <a:rPr lang="it" sz="1260"/>
              <a:t>0.8 correlation between prediction and ground truth;</a:t>
            </a:r>
            <a:endParaRPr sz="1260"/>
          </a:p>
          <a:p>
            <a:pPr indent="-308610" lvl="0" marL="457200" rtl="0" algn="l">
              <a:lnSpc>
                <a:spcPct val="130000"/>
              </a:lnSpc>
              <a:spcBef>
                <a:spcPts val="480"/>
              </a:spcBef>
              <a:spcAft>
                <a:spcPts val="0"/>
              </a:spcAft>
              <a:buClr>
                <a:schemeClr val="dk1"/>
              </a:buClr>
              <a:buSzPts val="1260"/>
              <a:buChar char="➔"/>
            </a:pPr>
            <a:r>
              <a:rPr lang="it" sz="1260"/>
              <a:t>Transformer-based method (HANDFORMER)</a:t>
            </a:r>
            <a:endParaRPr sz="1260"/>
          </a:p>
          <a:p>
            <a:pPr indent="-308610" lvl="0" marL="457200" rtl="0" algn="l">
              <a:lnSpc>
                <a:spcPct val="130000"/>
              </a:lnSpc>
              <a:spcBef>
                <a:spcPts val="480"/>
              </a:spcBef>
              <a:spcAft>
                <a:spcPts val="0"/>
              </a:spcAft>
              <a:buClr>
                <a:schemeClr val="dk1"/>
              </a:buClr>
              <a:buSzPts val="1260"/>
              <a:buChar char="➔"/>
            </a:pPr>
            <a:r>
              <a:rPr lang="it" sz="1260"/>
              <a:t>Limits: electrode placement, muscle fatigue, day-to-day </a:t>
            </a:r>
            <a:r>
              <a:rPr lang="it" sz="1260"/>
              <a:t>fluctuations → regular calibration. Also it needs more amputees for the dataset. </a:t>
            </a:r>
            <a:endParaRPr sz="1260"/>
          </a:p>
          <a:p>
            <a:pPr indent="-308610" lvl="0" marL="457200" rtl="0" algn="l">
              <a:lnSpc>
                <a:spcPct val="130000"/>
              </a:lnSpc>
              <a:spcBef>
                <a:spcPts val="480"/>
              </a:spcBef>
              <a:spcAft>
                <a:spcPts val="0"/>
              </a:spcAft>
              <a:buClr>
                <a:schemeClr val="dk1"/>
              </a:buClr>
              <a:buSzPts val="1260"/>
              <a:buChar char="➔"/>
            </a:pPr>
            <a:r>
              <a:rPr lang="it" sz="1260"/>
              <a:t>Final achievements: participants reported growing sense of intuitive control. </a:t>
            </a:r>
            <a:endParaRPr sz="1260"/>
          </a:p>
          <a:p>
            <a:pPr indent="-308610" lvl="0" marL="457200" rtl="0" algn="l">
              <a:lnSpc>
                <a:spcPct val="130000"/>
              </a:lnSpc>
              <a:spcBef>
                <a:spcPts val="480"/>
              </a:spcBef>
              <a:spcAft>
                <a:spcPts val="0"/>
              </a:spcAft>
              <a:buClr>
                <a:schemeClr val="dk1"/>
              </a:buClr>
              <a:buSzPts val="1260"/>
              <a:buChar char="➔"/>
            </a:pPr>
            <a:r>
              <a:rPr lang="it" sz="1260"/>
              <a:t>Future Works: position-invariant sEMG decoding: long term stability of the interface; reduce calibration frequency (now 10 minutes). Apply to Physical prostheses.</a:t>
            </a:r>
            <a:endParaRPr sz="1260"/>
          </a:p>
        </p:txBody>
      </p:sp>
      <p:pic>
        <p:nvPicPr>
          <p:cNvPr id="767" name="Google Shape;767;p85"/>
          <p:cNvPicPr preferRelativeResize="0"/>
          <p:nvPr/>
        </p:nvPicPr>
        <p:blipFill>
          <a:blip r:embed="rId5">
            <a:alphaModFix/>
          </a:blip>
          <a:stretch>
            <a:fillRect/>
          </a:stretch>
        </p:blipFill>
        <p:spPr>
          <a:xfrm>
            <a:off x="5126938" y="3371275"/>
            <a:ext cx="3990975" cy="952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gtEl>
                                        <p:attrNameLst>
                                          <p:attrName>style.visibility</p:attrName>
                                        </p:attrNameLst>
                                      </p:cBhvr>
                                      <p:to>
                                        <p:strVal val="visible"/>
                                      </p:to>
                                    </p:set>
                                    <p:animEffect filter="fade" transition="in">
                                      <p:cBhvr>
                                        <p:cTn dur="1000"/>
                                        <p:tgtEl>
                                          <p:spTgt spid="7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1" name="Shape 771"/>
        <p:cNvGrpSpPr/>
        <p:nvPr/>
      </p:nvGrpSpPr>
      <p:grpSpPr>
        <a:xfrm>
          <a:off x="0" y="0"/>
          <a:ext cx="0" cy="0"/>
          <a:chOff x="0" y="0"/>
          <a:chExt cx="0" cy="0"/>
        </a:xfrm>
      </p:grpSpPr>
      <p:sp>
        <p:nvSpPr>
          <p:cNvPr id="772" name="Google Shape;772;p86"/>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773" name="Google Shape;773;p86"/>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Mirrored hand motion decoding: strumentation </a:t>
            </a:r>
            <a:endParaRPr/>
          </a:p>
        </p:txBody>
      </p:sp>
      <p:sp>
        <p:nvSpPr>
          <p:cNvPr id="774" name="Google Shape;774;p86"/>
          <p:cNvSpPr txBox="1"/>
          <p:nvPr/>
        </p:nvSpPr>
        <p:spPr>
          <a:xfrm>
            <a:off x="311700" y="874225"/>
            <a:ext cx="3865500" cy="1797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260"/>
              <a:t>Oculus Quest to track the intact hand;</a:t>
            </a:r>
            <a:endParaRPr sz="1260"/>
          </a:p>
          <a:p>
            <a:pPr indent="-308610" lvl="0" marL="457200" rtl="0" algn="l">
              <a:lnSpc>
                <a:spcPct val="130000"/>
              </a:lnSpc>
              <a:spcBef>
                <a:spcPts val="480"/>
              </a:spcBef>
              <a:spcAft>
                <a:spcPts val="0"/>
              </a:spcAft>
              <a:buClr>
                <a:schemeClr val="dk1"/>
              </a:buClr>
              <a:buSzPts val="1260"/>
              <a:buChar char="➔"/>
            </a:pPr>
            <a:r>
              <a:rPr lang="it" sz="1260"/>
              <a:t>Wireless Myo Armband by Thalmic Labs;</a:t>
            </a:r>
            <a:endParaRPr sz="1260"/>
          </a:p>
          <a:p>
            <a:pPr indent="-308610" lvl="0" marL="457200" rtl="0" algn="l">
              <a:lnSpc>
                <a:spcPct val="130000"/>
              </a:lnSpc>
              <a:spcBef>
                <a:spcPts val="480"/>
              </a:spcBef>
              <a:spcAft>
                <a:spcPts val="0"/>
              </a:spcAft>
              <a:buClr>
                <a:schemeClr val="dk1"/>
              </a:buClr>
              <a:buSzPts val="1260"/>
              <a:buChar char="➔"/>
            </a:pPr>
            <a:r>
              <a:rPr lang="it" sz="1260"/>
              <a:t>Lab Streaming Layer (LSL) OS </a:t>
            </a:r>
            <a:endParaRPr sz="1260"/>
          </a:p>
          <a:p>
            <a:pPr indent="0" lvl="0" marL="342900" rtl="0" algn="l">
              <a:lnSpc>
                <a:spcPct val="130000"/>
              </a:lnSpc>
              <a:spcBef>
                <a:spcPts val="480"/>
              </a:spcBef>
              <a:spcAft>
                <a:spcPts val="0"/>
              </a:spcAft>
              <a:buNone/>
            </a:pPr>
            <a:r>
              <a:t/>
            </a:r>
            <a:endParaRPr sz="1260"/>
          </a:p>
        </p:txBody>
      </p:sp>
      <p:sp>
        <p:nvSpPr>
          <p:cNvPr id="775" name="Google Shape;775;p86"/>
          <p:cNvSpPr txBox="1"/>
          <p:nvPr/>
        </p:nvSpPr>
        <p:spPr>
          <a:xfrm>
            <a:off x="311700" y="2671525"/>
            <a:ext cx="3392100" cy="1797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260"/>
              <a:t>Participants: 20 non-amputees, 2 amputees</a:t>
            </a:r>
            <a:r>
              <a:rPr lang="it" sz="1260"/>
              <a:t>;</a:t>
            </a:r>
            <a:endParaRPr sz="1260"/>
          </a:p>
          <a:p>
            <a:pPr indent="-308610" lvl="0" marL="457200" rtl="0" algn="l">
              <a:lnSpc>
                <a:spcPct val="130000"/>
              </a:lnSpc>
              <a:spcBef>
                <a:spcPts val="480"/>
              </a:spcBef>
              <a:spcAft>
                <a:spcPts val="0"/>
              </a:spcAft>
              <a:buClr>
                <a:schemeClr val="dk1"/>
              </a:buClr>
              <a:buSzPts val="1260"/>
              <a:buChar char="➔"/>
            </a:pPr>
            <a:r>
              <a:rPr lang="it" sz="1260"/>
              <a:t>Gestures: 45 dynamic and 27 static;</a:t>
            </a:r>
            <a:endParaRPr sz="1260"/>
          </a:p>
          <a:p>
            <a:pPr indent="-308610" lvl="0" marL="457200" rtl="0" algn="l">
              <a:lnSpc>
                <a:spcPct val="130000"/>
              </a:lnSpc>
              <a:spcBef>
                <a:spcPts val="480"/>
              </a:spcBef>
              <a:spcAft>
                <a:spcPts val="0"/>
              </a:spcAft>
              <a:buClr>
                <a:schemeClr val="dk1"/>
              </a:buClr>
              <a:buSzPts val="1260"/>
              <a:buChar char="➔"/>
            </a:pPr>
            <a:r>
              <a:rPr lang="it" sz="1260"/>
              <a:t>Sessions: 3 on different days (1 for testing), 1 minute each movement.</a:t>
            </a:r>
            <a:endParaRPr sz="1260"/>
          </a:p>
        </p:txBody>
      </p:sp>
      <p:sp>
        <p:nvSpPr>
          <p:cNvPr id="776" name="Google Shape;776;p86"/>
          <p:cNvSpPr txBox="1"/>
          <p:nvPr/>
        </p:nvSpPr>
        <p:spPr>
          <a:xfrm>
            <a:off x="4572000" y="874750"/>
            <a:ext cx="4091700" cy="1797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260"/>
              <a:t>input: 200 Hz EMG activity normalized with minmax with </a:t>
            </a:r>
            <a:r>
              <a:rPr lang="it" sz="1260"/>
              <a:t>1.28 time window, total 256 temporal points;</a:t>
            </a:r>
            <a:endParaRPr sz="1260"/>
          </a:p>
          <a:p>
            <a:pPr indent="-308610" lvl="0" marL="457200" rtl="0" algn="l">
              <a:lnSpc>
                <a:spcPct val="130000"/>
              </a:lnSpc>
              <a:spcBef>
                <a:spcPts val="480"/>
              </a:spcBef>
              <a:spcAft>
                <a:spcPts val="0"/>
              </a:spcAft>
              <a:buClr>
                <a:schemeClr val="dk1"/>
              </a:buClr>
              <a:buSzPts val="1260"/>
              <a:buChar char="➔"/>
            </a:pPr>
            <a:r>
              <a:rPr lang="it" sz="1260"/>
              <a:t>output: 25 Hz in 1.28 s time window, so 32 temporal future poses. </a:t>
            </a:r>
            <a:endParaRPr sz="1260"/>
          </a:p>
          <a:p>
            <a:pPr indent="0" lvl="0" marL="342900" rtl="0" algn="l">
              <a:lnSpc>
                <a:spcPct val="130000"/>
              </a:lnSpc>
              <a:spcBef>
                <a:spcPts val="480"/>
              </a:spcBef>
              <a:spcAft>
                <a:spcPts val="0"/>
              </a:spcAft>
              <a:buNone/>
            </a:pPr>
            <a:r>
              <a:t/>
            </a:r>
            <a:endParaRPr sz="1260"/>
          </a:p>
        </p:txBody>
      </p:sp>
      <p:sp>
        <p:nvSpPr>
          <p:cNvPr id="777" name="Google Shape;777;p86"/>
          <p:cNvSpPr txBox="1"/>
          <p:nvPr/>
        </p:nvSpPr>
        <p:spPr>
          <a:xfrm>
            <a:off x="4572000" y="2672050"/>
            <a:ext cx="4377600" cy="1797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260"/>
              <a:t>Input [8, 256]. patch [1,8] → 256 tokens, 32 tokens per channel.</a:t>
            </a:r>
            <a:endParaRPr sz="1260"/>
          </a:p>
          <a:p>
            <a:pPr indent="-308610" lvl="0" marL="457200" rtl="0" algn="l">
              <a:lnSpc>
                <a:spcPct val="130000"/>
              </a:lnSpc>
              <a:spcBef>
                <a:spcPts val="480"/>
              </a:spcBef>
              <a:spcAft>
                <a:spcPts val="0"/>
              </a:spcAft>
              <a:buClr>
                <a:schemeClr val="dk1"/>
              </a:buClr>
              <a:buSzPts val="1260"/>
              <a:buChar char="➔"/>
            </a:pPr>
            <a:r>
              <a:rPr lang="it" sz="1260"/>
              <a:t>Encoder: transforms tokens in the latent space;</a:t>
            </a:r>
            <a:endParaRPr sz="1260"/>
          </a:p>
          <a:p>
            <a:pPr indent="-308610" lvl="0" marL="457200" rtl="0" algn="l">
              <a:lnSpc>
                <a:spcPct val="130000"/>
              </a:lnSpc>
              <a:spcBef>
                <a:spcPts val="480"/>
              </a:spcBef>
              <a:spcAft>
                <a:spcPts val="0"/>
              </a:spcAft>
              <a:buClr>
                <a:schemeClr val="dk1"/>
              </a:buClr>
              <a:buSzPts val="1260"/>
              <a:buChar char="➔"/>
            </a:pPr>
            <a:r>
              <a:rPr lang="it" sz="1260"/>
              <a:t>Decoder: ask 32 queries to extract 20 variables.</a:t>
            </a:r>
            <a:endParaRPr sz="126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1" name="Shape 781"/>
        <p:cNvGrpSpPr/>
        <p:nvPr/>
      </p:nvGrpSpPr>
      <p:grpSpPr>
        <a:xfrm>
          <a:off x="0" y="0"/>
          <a:ext cx="0" cy="0"/>
          <a:chOff x="0" y="0"/>
          <a:chExt cx="0" cy="0"/>
        </a:xfrm>
      </p:grpSpPr>
      <p:sp>
        <p:nvSpPr>
          <p:cNvPr id="782" name="Google Shape;782;p87"/>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783" name="Google Shape;783;p87"/>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Mirrored hand motion decoding: TRANSFORMER</a:t>
            </a:r>
            <a:endParaRPr/>
          </a:p>
        </p:txBody>
      </p:sp>
      <p:sp>
        <p:nvSpPr>
          <p:cNvPr id="784" name="Google Shape;784;p87"/>
          <p:cNvSpPr txBox="1"/>
          <p:nvPr/>
        </p:nvSpPr>
        <p:spPr>
          <a:xfrm>
            <a:off x="311700" y="774450"/>
            <a:ext cx="3902100" cy="1797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100"/>
              <a:t>The Encoder is optimized to handle the </a:t>
            </a:r>
            <a:r>
              <a:rPr b="1" lang="it" sz="1100"/>
              <a:t>long sEMG input sequence</a:t>
            </a:r>
            <a:r>
              <a:rPr lang="it" sz="1100"/>
              <a:t> (8 channels x 256 time points). Instead of costly </a:t>
            </a:r>
            <a:r>
              <a:rPr b="1" lang="it" sz="1100"/>
              <a:t>Self-Attention</a:t>
            </a:r>
            <a:r>
              <a:rPr lang="it" sz="1100"/>
              <a:t> (O(N2)), it uses </a:t>
            </a:r>
            <a:r>
              <a:rPr b="1" lang="it" sz="1100"/>
              <a:t>Cross-Attention</a:t>
            </a:r>
            <a:r>
              <a:rPr lang="it" sz="1100"/>
              <a:t> to compress the input into only </a:t>
            </a:r>
            <a:r>
              <a:rPr b="1" lang="it" sz="1100"/>
              <a:t>32 Latent Vectors</a:t>
            </a:r>
            <a:r>
              <a:rPr lang="it" sz="1100"/>
              <a:t> (the </a:t>
            </a:r>
            <a:r>
              <a:rPr i="1" lang="it" sz="1100"/>
              <a:t>bottleneck</a:t>
            </a:r>
            <a:r>
              <a:rPr lang="it" sz="1100"/>
              <a:t>). This ensures processing is </a:t>
            </a:r>
            <a:r>
              <a:rPr b="1" lang="it" sz="1100"/>
              <a:t>fast and real-time</a:t>
            </a:r>
            <a:r>
              <a:rPr lang="it" sz="1100"/>
              <a:t>;</a:t>
            </a:r>
            <a:endParaRPr sz="1260"/>
          </a:p>
          <a:p>
            <a:pPr indent="-308610" lvl="0" marL="457200" rtl="0" algn="l">
              <a:lnSpc>
                <a:spcPct val="130000"/>
              </a:lnSpc>
              <a:spcBef>
                <a:spcPts val="480"/>
              </a:spcBef>
              <a:spcAft>
                <a:spcPts val="0"/>
              </a:spcAft>
              <a:buClr>
                <a:schemeClr val="dk1"/>
              </a:buClr>
              <a:buSzPts val="1260"/>
              <a:buChar char="➔"/>
            </a:pPr>
            <a:r>
              <a:rPr lang="it" sz="1100"/>
              <a:t>The Non autoregressive Decoder generates all </a:t>
            </a:r>
            <a:r>
              <a:rPr b="1" lang="it" sz="1100"/>
              <a:t>32 movement frames</a:t>
            </a:r>
            <a:r>
              <a:rPr lang="it" sz="1100"/>
              <a:t> (the 1.28 seconds of hand pose) </a:t>
            </a:r>
            <a:r>
              <a:rPr b="1" lang="it" sz="1100"/>
              <a:t>simultaneously</a:t>
            </a:r>
            <a:r>
              <a:rPr lang="it" sz="1100"/>
              <a:t> in a single pass. It uses </a:t>
            </a:r>
            <a:r>
              <a:rPr b="1" lang="it" sz="1100"/>
              <a:t>32 Learnable Queries</a:t>
            </a:r>
            <a:r>
              <a:rPr lang="it" sz="1100"/>
              <a:t> that query the Latent Vectors in parallel. This eliminates </a:t>
            </a:r>
            <a:r>
              <a:rPr b="1" lang="it" sz="1100"/>
              <a:t>cascading errors</a:t>
            </a:r>
            <a:r>
              <a:rPr lang="it" sz="1100"/>
              <a:t> (common in sequential models) and ensures </a:t>
            </a:r>
            <a:r>
              <a:rPr b="1" lang="it" sz="1100"/>
              <a:t>extremely smooth and stable hand tracking;</a:t>
            </a:r>
            <a:endParaRPr sz="1260"/>
          </a:p>
          <a:p>
            <a:pPr indent="0" lvl="0" marL="342900" rtl="0" algn="l">
              <a:lnSpc>
                <a:spcPct val="130000"/>
              </a:lnSpc>
              <a:spcBef>
                <a:spcPts val="480"/>
              </a:spcBef>
              <a:spcAft>
                <a:spcPts val="0"/>
              </a:spcAft>
              <a:buNone/>
            </a:pPr>
            <a:r>
              <a:t/>
            </a:r>
            <a:endParaRPr sz="1260"/>
          </a:p>
        </p:txBody>
      </p:sp>
      <p:sp>
        <p:nvSpPr>
          <p:cNvPr id="785" name="Google Shape;785;p87"/>
          <p:cNvSpPr txBox="1"/>
          <p:nvPr/>
        </p:nvSpPr>
        <p:spPr>
          <a:xfrm>
            <a:off x="4392025" y="860075"/>
            <a:ext cx="3902100" cy="37698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spcBef>
                <a:spcPts val="0"/>
              </a:spcBef>
              <a:spcAft>
                <a:spcPts val="0"/>
              </a:spcAft>
              <a:buClr>
                <a:schemeClr val="dk1"/>
              </a:buClr>
              <a:buSzPts val="1260"/>
              <a:buChar char="➔"/>
            </a:pPr>
            <a:r>
              <a:rPr lang="it" sz="1100"/>
              <a:t>The model is trained in two phases: </a:t>
            </a:r>
            <a:r>
              <a:rPr b="1" lang="it" sz="1100"/>
              <a:t>1. MAE Pretraining (70% masking):</a:t>
            </a:r>
            <a:r>
              <a:rPr lang="it" sz="1100"/>
              <a:t> The Encoder learns the underlying </a:t>
            </a:r>
            <a:r>
              <a:rPr b="1" lang="it" sz="1100"/>
              <a:t>patterns and muscle relationships</a:t>
            </a:r>
            <a:r>
              <a:rPr lang="it" sz="1100"/>
              <a:t> hidden within the EMG signal. </a:t>
            </a:r>
            <a:r>
              <a:rPr b="1" lang="it" sz="1100"/>
              <a:t>2. L1 Fine-tuning:</a:t>
            </a:r>
            <a:r>
              <a:rPr lang="it" sz="1100"/>
              <a:t> The pretrained Encoder weights are used to optimize the prediction of the </a:t>
            </a:r>
            <a:r>
              <a:rPr b="1" lang="it" sz="1100"/>
              <a:t>joint angles</a:t>
            </a:r>
            <a:r>
              <a:rPr lang="it" sz="1100"/>
              <a:t> (the 20 movement variables), achieving maximum final pose accuracy.</a:t>
            </a:r>
            <a:endParaRPr sz="1100"/>
          </a:p>
          <a:p>
            <a:pPr indent="0" lvl="0" marL="342900" rtl="0" algn="l">
              <a:spcBef>
                <a:spcPts val="0"/>
              </a:spcBef>
              <a:spcAft>
                <a:spcPts val="0"/>
              </a:spcAft>
              <a:buNone/>
            </a:pPr>
            <a:r>
              <a:t/>
            </a:r>
            <a:endParaRPr sz="1100"/>
          </a:p>
          <a:p>
            <a:pPr indent="-260350" lvl="0" marL="342900" rtl="0" algn="l">
              <a:spcBef>
                <a:spcPts val="0"/>
              </a:spcBef>
              <a:spcAft>
                <a:spcPts val="0"/>
              </a:spcAft>
              <a:buClr>
                <a:schemeClr val="dk1"/>
              </a:buClr>
              <a:buSzPts val="1100"/>
              <a:buChar char="➔"/>
            </a:pPr>
            <a:r>
              <a:rPr lang="it" sz="1100"/>
              <a:t>FINE TUNING: updates weights every 10 seconds</a:t>
            </a:r>
            <a:endParaRPr sz="1100"/>
          </a:p>
          <a:p>
            <a:pPr indent="0" lvl="0" marL="342900" rtl="0" algn="l">
              <a:lnSpc>
                <a:spcPct val="130000"/>
              </a:lnSpc>
              <a:spcBef>
                <a:spcPts val="480"/>
              </a:spcBef>
              <a:spcAft>
                <a:spcPts val="0"/>
              </a:spcAft>
              <a:buNone/>
            </a:pPr>
            <a:r>
              <a:t/>
            </a:r>
            <a:endParaRPr sz="126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9" name="Shape 789"/>
        <p:cNvGrpSpPr/>
        <p:nvPr/>
      </p:nvGrpSpPr>
      <p:grpSpPr>
        <a:xfrm>
          <a:off x="0" y="0"/>
          <a:ext cx="0" cy="0"/>
          <a:chOff x="0" y="0"/>
          <a:chExt cx="0" cy="0"/>
        </a:xfrm>
      </p:grpSpPr>
      <p:sp>
        <p:nvSpPr>
          <p:cNvPr id="790" name="Google Shape;790;p88"/>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pic>
        <p:nvPicPr>
          <p:cNvPr id="791" name="Google Shape;791;p88"/>
          <p:cNvPicPr preferRelativeResize="0"/>
          <p:nvPr/>
        </p:nvPicPr>
        <p:blipFill>
          <a:blip r:embed="rId3">
            <a:alphaModFix/>
          </a:blip>
          <a:stretch>
            <a:fillRect/>
          </a:stretch>
        </p:blipFill>
        <p:spPr>
          <a:xfrm>
            <a:off x="2048525" y="1001763"/>
            <a:ext cx="5046943" cy="3340550"/>
          </a:xfrm>
          <a:prstGeom prst="rect">
            <a:avLst/>
          </a:prstGeom>
          <a:noFill/>
          <a:ln>
            <a:noFill/>
          </a:ln>
        </p:spPr>
      </p:pic>
      <p:sp>
        <p:nvSpPr>
          <p:cNvPr id="792" name="Google Shape;792;p88"/>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Mirrored hand motion decoding: TRANSFORMER</a:t>
            </a:r>
            <a:endParaRPr/>
          </a:p>
        </p:txBody>
      </p:sp>
      <p:cxnSp>
        <p:nvCxnSpPr>
          <p:cNvPr id="793" name="Google Shape;793;p88"/>
          <p:cNvCxnSpPr>
            <a:stCxn id="794" idx="1"/>
          </p:cNvCxnSpPr>
          <p:nvPr/>
        </p:nvCxnSpPr>
        <p:spPr>
          <a:xfrm flipH="1">
            <a:off x="6582025" y="3730475"/>
            <a:ext cx="707700" cy="471000"/>
          </a:xfrm>
          <a:prstGeom prst="straightConnector1">
            <a:avLst/>
          </a:prstGeom>
          <a:noFill/>
          <a:ln cap="flat" cmpd="sng" w="9525">
            <a:solidFill>
              <a:schemeClr val="dk2"/>
            </a:solidFill>
            <a:prstDash val="solid"/>
            <a:round/>
            <a:headEnd len="med" w="med" type="none"/>
            <a:tailEnd len="med" w="med" type="triangle"/>
          </a:ln>
        </p:spPr>
      </p:cxnSp>
      <p:sp>
        <p:nvSpPr>
          <p:cNvPr id="794" name="Google Shape;794;p88"/>
          <p:cNvSpPr txBox="1"/>
          <p:nvPr/>
        </p:nvSpPr>
        <p:spPr>
          <a:xfrm>
            <a:off x="7289725" y="3237875"/>
            <a:ext cx="1714500" cy="985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it" sz="1300">
                <a:solidFill>
                  <a:schemeClr val="dk1"/>
                </a:solidFill>
              </a:rPr>
              <a:t>Each query ask for one of the 32 frame of the total movement to predict</a:t>
            </a:r>
            <a:endParaRPr sz="10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8" name="Shape 798"/>
        <p:cNvGrpSpPr/>
        <p:nvPr/>
      </p:nvGrpSpPr>
      <p:grpSpPr>
        <a:xfrm>
          <a:off x="0" y="0"/>
          <a:ext cx="0" cy="0"/>
          <a:chOff x="0" y="0"/>
          <a:chExt cx="0" cy="0"/>
        </a:xfrm>
      </p:grpSpPr>
      <p:sp>
        <p:nvSpPr>
          <p:cNvPr id="799" name="Google Shape;799;p89"/>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800" name="Google Shape;800;p89"/>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emg2Pose Dataset and Vemg2pose Model</a:t>
            </a:r>
            <a:endParaRPr/>
          </a:p>
        </p:txBody>
      </p:sp>
      <p:sp>
        <p:nvSpPr>
          <p:cNvPr id="801" name="Google Shape;801;p89"/>
          <p:cNvSpPr txBox="1"/>
          <p:nvPr/>
        </p:nvSpPr>
        <p:spPr>
          <a:xfrm>
            <a:off x="311700" y="633100"/>
            <a:ext cx="4809300" cy="3692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260"/>
              <a:t>16 channel bipolar sEMG-RD wrist band at 2kHz (no HD sEMG)</a:t>
            </a:r>
            <a:endParaRPr sz="1260"/>
          </a:p>
          <a:p>
            <a:pPr indent="-308610" lvl="0" marL="457200" rtl="0" algn="l">
              <a:lnSpc>
                <a:spcPct val="130000"/>
              </a:lnSpc>
              <a:spcBef>
                <a:spcPts val="480"/>
              </a:spcBef>
              <a:spcAft>
                <a:spcPts val="0"/>
              </a:spcAft>
              <a:buClr>
                <a:schemeClr val="dk1"/>
              </a:buClr>
              <a:buSzPts val="1260"/>
              <a:buChar char="➔"/>
            </a:pPr>
            <a:r>
              <a:rPr lang="it" sz="1260"/>
              <a:t>velocity based emg2pose: model proposed by this paper, it predicts angular velocities. Architecture: Time-Depth Separable Convolution (TDS)  featurizer which reduce 2khz to 50 Hz  and a LSTM decoder. the features at each time step are concatenated to the joint angle predictions at the previous time step and fed to the decoder which produces the next velocity prediction. vemg2pose is therefore auto-regressive with respect to its own predictions. then predictions are linearly up-sampled to match the sample rate of the joint angles targets.</a:t>
            </a:r>
            <a:endParaRPr sz="1260"/>
          </a:p>
        </p:txBody>
      </p:sp>
      <p:sp>
        <p:nvSpPr>
          <p:cNvPr id="802" name="Google Shape;802;p89"/>
          <p:cNvSpPr txBox="1"/>
          <p:nvPr/>
        </p:nvSpPr>
        <p:spPr>
          <a:xfrm>
            <a:off x="5309125" y="633100"/>
            <a:ext cx="3834900" cy="3594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260"/>
              <a:t>Limitations:  more errors for new stage and new stage and user. </a:t>
            </a:r>
            <a:r>
              <a:rPr lang="it" sz="1260"/>
              <a:t>no wrist movements. </a:t>
            </a:r>
            <a:r>
              <a:rPr lang="it" sz="1260"/>
              <a:t>also the wrist band is not public available. Also this is Autoregresive instead of non </a:t>
            </a:r>
            <a:r>
              <a:rPr lang="it" sz="1260"/>
              <a:t>euro</a:t>
            </a:r>
            <a:r>
              <a:rPr lang="it" sz="1260"/>
              <a:t> regressive as ALVI model.  </a:t>
            </a:r>
            <a:endParaRPr sz="1260"/>
          </a:p>
          <a:p>
            <a:pPr indent="0" lvl="0" marL="0" rtl="0" algn="l">
              <a:lnSpc>
                <a:spcPct val="130000"/>
              </a:lnSpc>
              <a:spcBef>
                <a:spcPts val="480"/>
              </a:spcBef>
              <a:spcAft>
                <a:spcPts val="0"/>
              </a:spcAft>
              <a:buNone/>
            </a:pPr>
            <a:r>
              <a:t/>
            </a:r>
            <a:endParaRPr sz="126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6" name="Shape 806"/>
        <p:cNvGrpSpPr/>
        <p:nvPr/>
      </p:nvGrpSpPr>
      <p:grpSpPr>
        <a:xfrm>
          <a:off x="0" y="0"/>
          <a:ext cx="0" cy="0"/>
          <a:chOff x="0" y="0"/>
          <a:chExt cx="0" cy="0"/>
        </a:xfrm>
      </p:grpSpPr>
      <p:sp>
        <p:nvSpPr>
          <p:cNvPr id="807" name="Google Shape;807;p90"/>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decoding of multiple wrist and hand movement using a </a:t>
            </a:r>
            <a:r>
              <a:rPr lang="it">
                <a:solidFill>
                  <a:srgbClr val="0071BC"/>
                </a:solidFill>
              </a:rPr>
              <a:t>transient </a:t>
            </a:r>
            <a:r>
              <a:rPr lang="it">
                <a:solidFill>
                  <a:schemeClr val="dk1"/>
                </a:solidFill>
              </a:rPr>
              <a:t>emg classifier</a:t>
            </a:r>
            <a:endParaRPr>
              <a:solidFill>
                <a:schemeClr val="dk1"/>
              </a:solidFill>
            </a:endParaRPr>
          </a:p>
        </p:txBody>
      </p:sp>
      <p:sp>
        <p:nvSpPr>
          <p:cNvPr id="808" name="Google Shape;808;p90"/>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809" name="Google Shape;809;p90"/>
          <p:cNvSpPr txBox="1"/>
          <p:nvPr/>
        </p:nvSpPr>
        <p:spPr>
          <a:xfrm>
            <a:off x="311700" y="787200"/>
            <a:ext cx="9000900" cy="41412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050"/>
              <a:t>It is the same </a:t>
            </a:r>
            <a:r>
              <a:rPr lang="it" sz="1050"/>
              <a:t>research</a:t>
            </a:r>
            <a:r>
              <a:rPr lang="it" sz="1050"/>
              <a:t> of before and it’s the proof that the calssificator is robust and precise, high accuracy and generalization. found that the transient EMG phase can be indeed used for predicting/classifying the intended grasp type (power, lateral, bi-digital grasps, open movement) and for controlling multi-grasp prosthetic hands with remarkable real-time performance proved that the onset of contraction includes relevant information predictive of the pre-planned grip force extracted in real-time using a regression algorithm classification on eight classes, including both wrist (flexion, extension, pronation, supination) and hand movements (open hand and power, lateral and bi-digital grasps). 14 non amputee and 5 transradial amputee. </a:t>
            </a:r>
            <a:endParaRPr sz="1050"/>
          </a:p>
          <a:p>
            <a:pPr indent="0" lvl="0" marL="0" rtl="0" algn="l">
              <a:lnSpc>
                <a:spcPct val="130000"/>
              </a:lnSpc>
              <a:spcBef>
                <a:spcPts val="480"/>
              </a:spcBef>
              <a:spcAft>
                <a:spcPts val="0"/>
              </a:spcAft>
              <a:buNone/>
            </a:pPr>
            <a:r>
              <a:rPr lang="it" sz="1050"/>
              <a:t>results in classification accuracy: intra-subject classification 96,2% non </a:t>
            </a:r>
            <a:r>
              <a:rPr lang="it" sz="1050"/>
              <a:t>amputees</a:t>
            </a:r>
            <a:r>
              <a:rPr lang="it" sz="1050"/>
              <a:t> and 89.2% with amputees. In the preliminary online assessment, the amputee participant was able to successfully control the eight wrist and hand movements, completing 81.2% TAC test trials. cross-subject classifier, the results for the eight class problem proved promising (∼65% accuracy) for non-amputees, albeit rather poor for amputees (∼30% accuracy)</a:t>
            </a:r>
            <a:endParaRPr sz="1050"/>
          </a:p>
          <a:p>
            <a:pPr indent="0" lvl="0" marL="0" rtl="0" algn="l">
              <a:lnSpc>
                <a:spcPct val="130000"/>
              </a:lnSpc>
              <a:spcBef>
                <a:spcPts val="480"/>
              </a:spcBef>
              <a:spcAft>
                <a:spcPts val="0"/>
              </a:spcAft>
              <a:buNone/>
            </a:pPr>
            <a:r>
              <a:rPr lang="it" sz="1050"/>
              <a:t>They assessed for the first time whether the informative content of the transient EMG could be used to train a cross-subject classifier. i.e., whether the data collected from multiple users could be used to train a classifier able to decode the movements of a new user</a:t>
            </a:r>
            <a:endParaRPr sz="1050"/>
          </a:p>
          <a:p>
            <a:pPr indent="0" lvl="0" marL="0" rtl="0" algn="l">
              <a:lnSpc>
                <a:spcPct val="130000"/>
              </a:lnSpc>
              <a:spcBef>
                <a:spcPts val="480"/>
              </a:spcBef>
              <a:spcAft>
                <a:spcPts val="0"/>
              </a:spcAft>
              <a:buNone/>
            </a:pPr>
            <a:r>
              <a:rPr lang="it" sz="1050"/>
              <a:t>They say this kind of investigation for steady state was already made but there was such a variability in the acucuracies, that bc it proved acceptable for gross movements like wrist or power grasps but for finer movements no. </a:t>
            </a:r>
            <a:endParaRPr sz="1050"/>
          </a:p>
          <a:p>
            <a:pPr indent="0" lvl="0" marL="0" rtl="0" algn="l">
              <a:lnSpc>
                <a:spcPct val="130000"/>
              </a:lnSpc>
              <a:spcBef>
                <a:spcPts val="480"/>
              </a:spcBef>
              <a:spcAft>
                <a:spcPts val="0"/>
              </a:spcAft>
              <a:buNone/>
            </a:pPr>
            <a:r>
              <a:rPr lang="it" sz="1050"/>
              <a:t>until this paper cross-subject classification using signals collected from participants with amputations was never reported.</a:t>
            </a:r>
            <a:endParaRPr sz="1050"/>
          </a:p>
          <a:p>
            <a:pPr indent="0" lvl="0" marL="0" rtl="0" algn="l">
              <a:lnSpc>
                <a:spcPct val="130000"/>
              </a:lnSpc>
              <a:spcBef>
                <a:spcPts val="480"/>
              </a:spcBef>
              <a:spcAft>
                <a:spcPts val="0"/>
              </a:spcAft>
              <a:buNone/>
            </a:pPr>
            <a:r>
              <a:t/>
            </a:r>
            <a:endParaRPr sz="1050"/>
          </a:p>
          <a:p>
            <a:pPr indent="0" lvl="0" marL="0" rtl="0" algn="l">
              <a:lnSpc>
                <a:spcPct val="130000"/>
              </a:lnSpc>
              <a:spcBef>
                <a:spcPts val="480"/>
              </a:spcBef>
              <a:spcAft>
                <a:spcPts val="0"/>
              </a:spcAft>
              <a:buNone/>
            </a:pPr>
            <a:r>
              <a:t/>
            </a:r>
            <a:endParaRPr sz="1660"/>
          </a:p>
          <a:p>
            <a:pPr indent="0" lvl="0" marL="0" rtl="0" algn="l">
              <a:lnSpc>
                <a:spcPct val="130000"/>
              </a:lnSpc>
              <a:spcBef>
                <a:spcPts val="480"/>
              </a:spcBef>
              <a:spcAft>
                <a:spcPts val="0"/>
              </a:spcAft>
              <a:buNone/>
            </a:pPr>
            <a:r>
              <a:t/>
            </a:r>
            <a:endParaRPr sz="166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3" name="Shape 813"/>
        <p:cNvGrpSpPr/>
        <p:nvPr/>
      </p:nvGrpSpPr>
      <p:grpSpPr>
        <a:xfrm>
          <a:off x="0" y="0"/>
          <a:ext cx="0" cy="0"/>
          <a:chOff x="0" y="0"/>
          <a:chExt cx="0" cy="0"/>
        </a:xfrm>
      </p:grpSpPr>
      <p:sp>
        <p:nvSpPr>
          <p:cNvPr id="814" name="Google Shape;814;p91"/>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decoding of multiple wrist and hand movement using a </a:t>
            </a:r>
            <a:r>
              <a:rPr lang="it">
                <a:solidFill>
                  <a:srgbClr val="0071BC"/>
                </a:solidFill>
              </a:rPr>
              <a:t>transient </a:t>
            </a:r>
            <a:r>
              <a:rPr lang="it">
                <a:solidFill>
                  <a:schemeClr val="dk1"/>
                </a:solidFill>
              </a:rPr>
              <a:t>emg classifier</a:t>
            </a:r>
            <a:endParaRPr>
              <a:solidFill>
                <a:schemeClr val="dk1"/>
              </a:solidFill>
            </a:endParaRPr>
          </a:p>
        </p:txBody>
      </p:sp>
      <p:sp>
        <p:nvSpPr>
          <p:cNvPr id="815" name="Google Shape;815;p91"/>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816" name="Google Shape;816;p91"/>
          <p:cNvSpPr txBox="1"/>
          <p:nvPr/>
        </p:nvSpPr>
        <p:spPr>
          <a:xfrm>
            <a:off x="311700" y="787200"/>
            <a:ext cx="9000900" cy="41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sz="1100"/>
              <a:t>TAC test for amputees measures (in this paper you can find cit to tac test): :</a:t>
            </a:r>
            <a:endParaRPr sz="1100"/>
          </a:p>
          <a:p>
            <a:pPr indent="-298450" lvl="0" marL="457200" rtl="0" algn="l">
              <a:lnSpc>
                <a:spcPct val="115000"/>
              </a:lnSpc>
              <a:spcBef>
                <a:spcPts val="1200"/>
              </a:spcBef>
              <a:spcAft>
                <a:spcPts val="0"/>
              </a:spcAft>
              <a:buSzPts val="1100"/>
              <a:buChar char="●"/>
            </a:pPr>
            <a:r>
              <a:rPr b="1" lang="it" sz="1100"/>
              <a:t>Velocità (Completion Time):</a:t>
            </a:r>
            <a:r>
              <a:rPr lang="it" sz="1100"/>
              <a:t> Quanto velocemente l'utente può passare da una presa all'altra.</a:t>
            </a:r>
            <a:endParaRPr sz="1100"/>
          </a:p>
          <a:p>
            <a:pPr indent="-298450" lvl="0" marL="457200" rtl="0" algn="l">
              <a:lnSpc>
                <a:spcPct val="115000"/>
              </a:lnSpc>
              <a:spcBef>
                <a:spcPts val="0"/>
              </a:spcBef>
              <a:spcAft>
                <a:spcPts val="0"/>
              </a:spcAft>
              <a:buSzPts val="1100"/>
              <a:buChar char="●"/>
            </a:pPr>
            <a:r>
              <a:rPr b="1" lang="it" sz="1100"/>
              <a:t>Affidabilità (Success Rate):</a:t>
            </a:r>
            <a:r>
              <a:rPr lang="it" sz="1100"/>
              <a:t> Quante volte la transizione avviene correttamente (senza errori di classificazione). </a:t>
            </a:r>
            <a:endParaRPr sz="1100"/>
          </a:p>
          <a:p>
            <a:pPr indent="-298450" lvl="0" marL="457200" rtl="0" algn="l">
              <a:lnSpc>
                <a:spcPct val="115000"/>
              </a:lnSpc>
              <a:spcBef>
                <a:spcPts val="0"/>
              </a:spcBef>
              <a:spcAft>
                <a:spcPts val="0"/>
              </a:spcAft>
              <a:buSzPts val="1100"/>
              <a:buChar char="●"/>
            </a:pPr>
            <a:r>
              <a:t/>
            </a:r>
            <a:endParaRPr sz="1100"/>
          </a:p>
          <a:p>
            <a:pPr indent="0" lvl="0" marL="0" rtl="0" algn="l">
              <a:lnSpc>
                <a:spcPct val="115000"/>
              </a:lnSpc>
              <a:spcBef>
                <a:spcPts val="1200"/>
              </a:spcBef>
              <a:spcAft>
                <a:spcPts val="0"/>
              </a:spcAft>
              <a:buNone/>
            </a:pPr>
            <a:r>
              <a:rPr lang="it" sz="1100"/>
              <a:t>participants were instructed to perform one repetition for each movement at the maximum voluntary contraction level (MVC).tehn perform 20 repetitions of each movement, at a moderate, non-fatiguing force level (about 40% of the MVC), and were allowed to pause between each movement. the average mean absolute value (aMAV) from all EMG channels was displayed in real time to the participant as a bar with variable length (0% representing rest, 100% representing MVC). This biofeedback signal helped the participants contracting their muscles in a repeatable fashion. two different feature sets were extracted. The first (FS1) exploited widely used time domain features (i.e., MAV, zero crossing (ZC), waveform length (WL), slope sign changes (SSC) and root mean squared (RMS)) [16], the second (FS2) exploited the MAV extracted for three consecutive windows (i.e., MAV(t=50) , MAV(t=100) , MAV(t=150) ), FS1 was included to compare our method with the state-of-the-art steady-state EMG control techniques. while for inter subject both FS1 and FS2. Not surprisingly, the classification accuracy increased with the training repetitions (in a statistically significant manner for non-amputees) (Fig. 3) and the best median accuracies were achieved with 15 repetitions per movement. In their previous studies. they try only to use FS2 because dry electrode which are more commercial doesn’t have the power to compute also all the other features, but oc fs1 </a:t>
            </a:r>
            <a:r>
              <a:rPr lang="it" sz="1100"/>
              <a:t>outperform</a:t>
            </a:r>
            <a:r>
              <a:rPr lang="it" sz="1100"/>
              <a:t> it.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30000"/>
              </a:lnSpc>
              <a:spcBef>
                <a:spcPts val="1200"/>
              </a:spcBef>
              <a:spcAft>
                <a:spcPts val="0"/>
              </a:spcAft>
              <a:buNone/>
            </a:pPr>
            <a:r>
              <a:t/>
            </a:r>
            <a:endParaRPr sz="1660"/>
          </a:p>
          <a:p>
            <a:pPr indent="0" lvl="0" marL="0" rtl="0" algn="l">
              <a:lnSpc>
                <a:spcPct val="130000"/>
              </a:lnSpc>
              <a:spcBef>
                <a:spcPts val="480"/>
              </a:spcBef>
              <a:spcAft>
                <a:spcPts val="0"/>
              </a:spcAft>
              <a:buNone/>
            </a:pPr>
            <a:r>
              <a:t/>
            </a:r>
            <a:endParaRPr sz="1660"/>
          </a:p>
          <a:p>
            <a:pPr indent="0" lvl="0" marL="0" rtl="0" algn="l">
              <a:lnSpc>
                <a:spcPct val="130000"/>
              </a:lnSpc>
              <a:spcBef>
                <a:spcPts val="480"/>
              </a:spcBef>
              <a:spcAft>
                <a:spcPts val="0"/>
              </a:spcAft>
              <a:buNone/>
            </a:pPr>
            <a:r>
              <a:t/>
            </a:r>
            <a:endParaRPr sz="1660"/>
          </a:p>
          <a:p>
            <a:pPr indent="0" lvl="0" marL="0" rtl="0" algn="l">
              <a:lnSpc>
                <a:spcPct val="130000"/>
              </a:lnSpc>
              <a:spcBef>
                <a:spcPts val="480"/>
              </a:spcBef>
              <a:spcAft>
                <a:spcPts val="0"/>
              </a:spcAft>
              <a:buNone/>
            </a:pPr>
            <a:r>
              <a:t/>
            </a:r>
            <a:endParaRPr sz="166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0" name="Shape 820"/>
        <p:cNvGrpSpPr/>
        <p:nvPr/>
      </p:nvGrpSpPr>
      <p:grpSpPr>
        <a:xfrm>
          <a:off x="0" y="0"/>
          <a:ext cx="0" cy="0"/>
          <a:chOff x="0" y="0"/>
          <a:chExt cx="0" cy="0"/>
        </a:xfrm>
      </p:grpSpPr>
      <p:sp>
        <p:nvSpPr>
          <p:cNvPr id="821" name="Google Shape;821;p92"/>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decoding of multiple wrist and hand movement using a </a:t>
            </a:r>
            <a:r>
              <a:rPr lang="it">
                <a:solidFill>
                  <a:srgbClr val="0071BC"/>
                </a:solidFill>
              </a:rPr>
              <a:t>transient </a:t>
            </a:r>
            <a:r>
              <a:rPr lang="it">
                <a:solidFill>
                  <a:schemeClr val="dk1"/>
                </a:solidFill>
              </a:rPr>
              <a:t>emg classifier</a:t>
            </a:r>
            <a:endParaRPr>
              <a:solidFill>
                <a:schemeClr val="dk1"/>
              </a:solidFill>
            </a:endParaRPr>
          </a:p>
        </p:txBody>
      </p:sp>
      <p:sp>
        <p:nvSpPr>
          <p:cNvPr id="822" name="Google Shape;822;p92"/>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pic>
        <p:nvPicPr>
          <p:cNvPr id="823" name="Google Shape;823;p92" title="Screenshot from 2025-10-07 11-40-16.png"/>
          <p:cNvPicPr preferRelativeResize="0"/>
          <p:nvPr/>
        </p:nvPicPr>
        <p:blipFill>
          <a:blip r:embed="rId3">
            <a:alphaModFix/>
          </a:blip>
          <a:stretch>
            <a:fillRect/>
          </a:stretch>
        </p:blipFill>
        <p:spPr>
          <a:xfrm>
            <a:off x="671513" y="995225"/>
            <a:ext cx="7800975" cy="25336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7" name="Shape 827"/>
        <p:cNvGrpSpPr/>
        <p:nvPr/>
      </p:nvGrpSpPr>
      <p:grpSpPr>
        <a:xfrm>
          <a:off x="0" y="0"/>
          <a:ext cx="0" cy="0"/>
          <a:chOff x="0" y="0"/>
          <a:chExt cx="0" cy="0"/>
        </a:xfrm>
      </p:grpSpPr>
      <p:sp>
        <p:nvSpPr>
          <p:cNvPr id="828" name="Google Shape;828;p93"/>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rgbClr val="0071BC"/>
                </a:solidFill>
              </a:rPr>
              <a:t>transient</a:t>
            </a:r>
            <a:r>
              <a:rPr lang="it">
                <a:solidFill>
                  <a:schemeClr val="dk1"/>
                </a:solidFill>
              </a:rPr>
              <a:t> EMG controller for the control of both wrist and hand</a:t>
            </a:r>
            <a:endParaRPr>
              <a:solidFill>
                <a:schemeClr val="dk1"/>
              </a:solidFill>
            </a:endParaRPr>
          </a:p>
        </p:txBody>
      </p:sp>
      <p:sp>
        <p:nvSpPr>
          <p:cNvPr id="829" name="Google Shape;829;p93"/>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830" name="Google Shape;830;p93"/>
          <p:cNvSpPr txBox="1"/>
          <p:nvPr/>
        </p:nvSpPr>
        <p:spPr>
          <a:xfrm>
            <a:off x="311700" y="1002225"/>
            <a:ext cx="3392100" cy="41412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sz="1260"/>
              <a:t>assumption that repeatable muscular contractions produce repeatable </a:t>
            </a:r>
            <a:r>
              <a:rPr lang="it" sz="1260"/>
              <a:t>p</a:t>
            </a:r>
            <a:r>
              <a:rPr lang="it" sz="1260"/>
              <a:t>atterns of steady-state EMGs. processing the signals associated with the onset of contraction (transient EMG</a:t>
            </a:r>
            <a:endParaRPr sz="1260"/>
          </a:p>
          <a:p>
            <a:pPr indent="-270510" lvl="0" marL="342900" rtl="0" algn="l">
              <a:lnSpc>
                <a:spcPct val="130000"/>
              </a:lnSpc>
              <a:spcBef>
                <a:spcPts val="480"/>
              </a:spcBef>
              <a:spcAft>
                <a:spcPts val="0"/>
              </a:spcAft>
              <a:buClr>
                <a:schemeClr val="dk1"/>
              </a:buClr>
              <a:buSzPts val="1260"/>
              <a:buChar char="➔"/>
            </a:pPr>
            <a:r>
              <a:rPr lang="it" sz="1260"/>
              <a:t>We demonstrated that the muscle contraction associated with the initial enclosing phase of the grasp, contains indeed predictive information about the intended (and preplanned) grasp, which can be used in real-time to control a multi-grasp hand</a:t>
            </a:r>
            <a:endParaRPr sz="1260"/>
          </a:p>
        </p:txBody>
      </p:sp>
      <p:sp>
        <p:nvSpPr>
          <p:cNvPr id="831" name="Google Shape;831;p93"/>
          <p:cNvSpPr txBox="1"/>
          <p:nvPr/>
        </p:nvSpPr>
        <p:spPr>
          <a:xfrm>
            <a:off x="4859900" y="1002225"/>
            <a:ext cx="3392100" cy="41412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0" lvl="0" marL="342900" rtl="0" algn="l">
              <a:lnSpc>
                <a:spcPct val="130000"/>
              </a:lnSpc>
              <a:spcBef>
                <a:spcPts val="480"/>
              </a:spcBef>
              <a:spcAft>
                <a:spcPts val="0"/>
              </a:spcAft>
              <a:buNone/>
            </a:pPr>
            <a:r>
              <a:rPr lang="it" sz="1260"/>
              <a:t>EMG signals were acquired via the embedded system over Bluetooth wireless link with a 500 Hz sampling rate, and filtered via a 20 Hz second order Butterworth high-pass filter, a 250 Hz third order Butterworth low-pass filter, and a 50 Hz notch filter. Then, the embedded system extracted the mean absolute value (MAV) from windows of data of 100 ms with 50 ms overlap, and lastly executed the proposed classification scheme</a:t>
            </a:r>
            <a:endParaRPr sz="1260"/>
          </a:p>
          <a:p>
            <a:pPr indent="0" lvl="0" marL="342900" rtl="0" algn="l">
              <a:lnSpc>
                <a:spcPct val="130000"/>
              </a:lnSpc>
              <a:spcBef>
                <a:spcPts val="480"/>
              </a:spcBef>
              <a:spcAft>
                <a:spcPts val="0"/>
              </a:spcAft>
              <a:buNone/>
            </a:pPr>
            <a:r>
              <a:t/>
            </a:r>
            <a:endParaRPr sz="1260"/>
          </a:p>
          <a:p>
            <a:pPr indent="0" lvl="0" marL="342900" rtl="0" algn="l">
              <a:lnSpc>
                <a:spcPct val="130000"/>
              </a:lnSpc>
              <a:spcBef>
                <a:spcPts val="480"/>
              </a:spcBef>
              <a:spcAft>
                <a:spcPts val="0"/>
              </a:spcAft>
              <a:buNone/>
            </a:pPr>
            <a:r>
              <a:t/>
            </a:r>
            <a:endParaRPr sz="1260"/>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5" name="Shape 835"/>
        <p:cNvGrpSpPr/>
        <p:nvPr/>
      </p:nvGrpSpPr>
      <p:grpSpPr>
        <a:xfrm>
          <a:off x="0" y="0"/>
          <a:ext cx="0" cy="0"/>
          <a:chOff x="0" y="0"/>
          <a:chExt cx="0" cy="0"/>
        </a:xfrm>
      </p:grpSpPr>
      <p:sp>
        <p:nvSpPr>
          <p:cNvPr id="836" name="Google Shape;836;p94"/>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rgbClr val="0071BC"/>
                </a:solidFill>
              </a:rPr>
              <a:t>transient</a:t>
            </a:r>
            <a:r>
              <a:rPr lang="it">
                <a:solidFill>
                  <a:schemeClr val="dk1"/>
                </a:solidFill>
              </a:rPr>
              <a:t> EMG controller for the control of both wrist and hand</a:t>
            </a:r>
            <a:endParaRPr>
              <a:solidFill>
                <a:schemeClr val="dk1"/>
              </a:solidFill>
            </a:endParaRPr>
          </a:p>
        </p:txBody>
      </p:sp>
      <p:sp>
        <p:nvSpPr>
          <p:cNvPr id="837" name="Google Shape;837;p94"/>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838" name="Google Shape;838;p94"/>
          <p:cNvSpPr txBox="1"/>
          <p:nvPr/>
        </p:nvSpPr>
        <p:spPr>
          <a:xfrm>
            <a:off x="311700" y="787200"/>
            <a:ext cx="3392100" cy="41412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0" lvl="0" marL="0" rtl="0" algn="l">
              <a:lnSpc>
                <a:spcPct val="130000"/>
              </a:lnSpc>
              <a:spcBef>
                <a:spcPts val="480"/>
              </a:spcBef>
              <a:spcAft>
                <a:spcPts val="0"/>
              </a:spcAft>
              <a:buNone/>
            </a:pPr>
            <a:r>
              <a:rPr lang="it" sz="1260"/>
              <a:t>BioPatRec toolbox:</a:t>
            </a:r>
            <a:r>
              <a:rPr lang="it" sz="1100"/>
              <a:t> è una </a:t>
            </a:r>
            <a:r>
              <a:rPr b="1" lang="it" sz="1100"/>
              <a:t>piattaforma di ricerca modulare open source</a:t>
            </a:r>
            <a:r>
              <a:rPr lang="it" sz="1100"/>
              <a:t> implementata principalmente in </a:t>
            </a:r>
            <a:r>
              <a:rPr b="1" lang="it" sz="1100"/>
              <a:t>MATLAB</a:t>
            </a:r>
            <a:r>
              <a:rPr lang="it" sz="1100"/>
              <a:t>. Mentre LibEMG è più in python. LibEMG non è un modello di regressione; è l'</a:t>
            </a:r>
            <a:r>
              <a:rPr b="1" lang="it" sz="1100"/>
              <a:t>impalcatura</a:t>
            </a:r>
            <a:r>
              <a:rPr lang="it" sz="1100"/>
              <a:t> che garantisce che il tuo modello di regressione riceva i dati EMG pre-elaborati, </a:t>
            </a:r>
            <a:r>
              <a:rPr i="1" lang="it" sz="1100"/>
              <a:t>finestrati</a:t>
            </a:r>
            <a:r>
              <a:rPr lang="it" sz="1100"/>
              <a:t> (windowed) e </a:t>
            </a:r>
            <a:r>
              <a:rPr i="1" lang="it" sz="1100"/>
              <a:t>featurizzati</a:t>
            </a:r>
            <a:r>
              <a:rPr lang="it" sz="1100"/>
              <a:t> in modo corretto e in tempo reale. Ti permette di concentrarti sulla </a:t>
            </a:r>
            <a:r>
              <a:rPr b="1" lang="it" sz="1100"/>
              <a:t>qualità del modello di regressione</a:t>
            </a:r>
            <a:r>
              <a:rPr lang="it" sz="1100"/>
              <a:t> senza dover riscrivere tutta la logica di gestione del segnale e della latenza.</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rPr lang="it" sz="1100"/>
              <a:t>macchina a stati per l onset detection</a:t>
            </a:r>
            <a:endParaRPr sz="1100"/>
          </a:p>
          <a:p>
            <a:pPr indent="0" lvl="0" marL="0" rtl="0" algn="l">
              <a:lnSpc>
                <a:spcPct val="130000"/>
              </a:lnSpc>
              <a:spcBef>
                <a:spcPts val="480"/>
              </a:spcBef>
              <a:spcAft>
                <a:spcPts val="0"/>
              </a:spcAft>
              <a:buNone/>
            </a:pPr>
            <a:r>
              <a:rPr lang="it" sz="1100"/>
              <a:t>this is the reality aplication of the paper before. </a:t>
            </a:r>
            <a:endParaRPr sz="1100"/>
          </a:p>
        </p:txBody>
      </p:sp>
      <p:sp>
        <p:nvSpPr>
          <p:cNvPr id="839" name="Google Shape;839;p94"/>
          <p:cNvSpPr txBox="1"/>
          <p:nvPr/>
        </p:nvSpPr>
        <p:spPr>
          <a:xfrm>
            <a:off x="4897000" y="787200"/>
            <a:ext cx="3392100" cy="41412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0" lvl="0" marL="0" rtl="0" algn="l">
              <a:lnSpc>
                <a:spcPct val="130000"/>
              </a:lnSpc>
              <a:spcBef>
                <a:spcPts val="480"/>
              </a:spcBef>
              <a:spcAft>
                <a:spcPts val="0"/>
              </a:spcAft>
              <a:buNone/>
            </a:pPr>
            <a:r>
              <a:rPr lang="it" sz="1260"/>
              <a:t>WRIST</a:t>
            </a:r>
            <a:endParaRPr sz="1260"/>
          </a:p>
          <a:p>
            <a:pPr indent="0" lvl="0" marL="0" rtl="0" algn="l">
              <a:lnSpc>
                <a:spcPct val="130000"/>
              </a:lnSpc>
              <a:spcBef>
                <a:spcPts val="480"/>
              </a:spcBef>
              <a:spcAft>
                <a:spcPts val="0"/>
              </a:spcAft>
              <a:buNone/>
            </a:pPr>
            <a:r>
              <a:rPr lang="it" sz="1260"/>
              <a:t>This classification logic allows to recognize the wrist movement, but you cannot </a:t>
            </a:r>
            <a:r>
              <a:rPr lang="it" sz="1260"/>
              <a:t>perform wrist and closure at the same time. </a:t>
            </a:r>
            <a:endParaRPr sz="1260"/>
          </a:p>
          <a:p>
            <a:pPr indent="0" lvl="0" marL="0" rtl="0" algn="l">
              <a:lnSpc>
                <a:spcPct val="130000"/>
              </a:lnSpc>
              <a:spcBef>
                <a:spcPts val="480"/>
              </a:spcBef>
              <a:spcAft>
                <a:spcPts val="0"/>
              </a:spcAft>
              <a:buNone/>
            </a:pPr>
            <a:r>
              <a:rPr lang="it" sz="1100"/>
              <a:t>I muscoli che controllano la pronazione e la supinazione sono:</a:t>
            </a:r>
            <a:endParaRPr sz="1100"/>
          </a:p>
          <a:p>
            <a:pPr indent="0" lvl="0" marL="0" rtl="0" algn="l">
              <a:lnSpc>
                <a:spcPct val="115000"/>
              </a:lnSpc>
              <a:spcBef>
                <a:spcPts val="1200"/>
              </a:spcBef>
              <a:spcAft>
                <a:spcPts val="0"/>
              </a:spcAft>
              <a:buNone/>
            </a:pPr>
            <a:r>
              <a:rPr b="1" lang="it" sz="1100"/>
              <a:t>Pronazione (Rotazione Palmo in Basso): Pronatore Rotondo</a:t>
            </a:r>
            <a:r>
              <a:rPr lang="it" sz="1100"/>
              <a:t> </a:t>
            </a:r>
            <a:r>
              <a:rPr b="1" lang="it" sz="1100"/>
              <a:t>Pronatore Quadrato</a:t>
            </a:r>
            <a:r>
              <a:rPr lang="it" sz="1100"/>
              <a:t> </a:t>
            </a:r>
            <a:endParaRPr sz="1100"/>
          </a:p>
          <a:p>
            <a:pPr indent="0" lvl="0" marL="0" rtl="0" algn="l">
              <a:lnSpc>
                <a:spcPct val="115000"/>
              </a:lnSpc>
              <a:spcBef>
                <a:spcPts val="1200"/>
              </a:spcBef>
              <a:spcAft>
                <a:spcPts val="0"/>
              </a:spcAft>
              <a:buNone/>
            </a:pPr>
            <a:r>
              <a:rPr b="1" lang="it" sz="1100"/>
              <a:t>Supinazione (Rotazione Palmo in Alto): Bicipite Brachiale</a:t>
            </a:r>
            <a:r>
              <a:rPr lang="it" sz="1100"/>
              <a:t> (</a:t>
            </a:r>
            <a:r>
              <a:rPr i="1" lang="it" sz="1100"/>
              <a:t>Biceps Brachii</a:t>
            </a:r>
            <a:r>
              <a:rPr lang="it" sz="1100"/>
              <a:t> - Se il gomito è flesso), </a:t>
            </a:r>
            <a:r>
              <a:rPr b="1" lang="it" sz="1100"/>
              <a:t>Supinatore</a:t>
            </a:r>
            <a:r>
              <a:rPr lang="it" sz="1100"/>
              <a:t> (</a:t>
            </a:r>
            <a:r>
              <a:rPr i="1" lang="it" sz="1100"/>
              <a:t>Supinator</a:t>
            </a:r>
            <a:r>
              <a:rPr lang="it" sz="1100"/>
              <a:t>)</a:t>
            </a:r>
            <a:endParaRPr sz="1100"/>
          </a:p>
          <a:p>
            <a:pPr indent="0" lvl="0" marL="0" rtl="0" algn="l">
              <a:lnSpc>
                <a:spcPct val="130000"/>
              </a:lnSpc>
              <a:spcBef>
                <a:spcPts val="1200"/>
              </a:spcBef>
              <a:spcAft>
                <a:spcPts val="0"/>
              </a:spcAft>
              <a:buNone/>
            </a:pPr>
            <a:r>
              <a:t/>
            </a:r>
            <a:endParaRPr sz="126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3" name="Shape 843"/>
        <p:cNvGrpSpPr/>
        <p:nvPr/>
      </p:nvGrpSpPr>
      <p:grpSpPr>
        <a:xfrm>
          <a:off x="0" y="0"/>
          <a:ext cx="0" cy="0"/>
          <a:chOff x="0" y="0"/>
          <a:chExt cx="0" cy="0"/>
        </a:xfrm>
      </p:grpSpPr>
      <p:sp>
        <p:nvSpPr>
          <p:cNvPr id="844" name="Google Shape;844;p95"/>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rgbClr val="0071BC"/>
                </a:solidFill>
              </a:rPr>
              <a:t>Recent trends and challenges of sEMG(2023)</a:t>
            </a:r>
            <a:endParaRPr>
              <a:solidFill>
                <a:schemeClr val="dk1"/>
              </a:solidFill>
            </a:endParaRPr>
          </a:p>
        </p:txBody>
      </p:sp>
      <p:sp>
        <p:nvSpPr>
          <p:cNvPr id="845" name="Google Shape;845;p95"/>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pic>
        <p:nvPicPr>
          <p:cNvPr id="846" name="Google Shape;846;p95" title="Screenshot from 2025-10-07 13-24-20.png"/>
          <p:cNvPicPr preferRelativeResize="0"/>
          <p:nvPr/>
        </p:nvPicPr>
        <p:blipFill>
          <a:blip r:embed="rId3">
            <a:alphaModFix/>
          </a:blip>
          <a:stretch>
            <a:fillRect/>
          </a:stretch>
        </p:blipFill>
        <p:spPr>
          <a:xfrm>
            <a:off x="671500" y="787200"/>
            <a:ext cx="7800975" cy="2533650"/>
          </a:xfrm>
          <a:prstGeom prst="rect">
            <a:avLst/>
          </a:prstGeom>
          <a:noFill/>
          <a:ln>
            <a:noFill/>
          </a:ln>
        </p:spPr>
      </p:pic>
      <p:sp>
        <p:nvSpPr>
          <p:cNvPr id="847" name="Google Shape;847;p95"/>
          <p:cNvSpPr txBox="1"/>
          <p:nvPr/>
        </p:nvSpPr>
        <p:spPr>
          <a:xfrm>
            <a:off x="311700" y="3101350"/>
            <a:ext cx="8520600" cy="14556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100"/>
              <a:t>the PCA recognizes a typical temporal pattern across large datasets of sEMG signals, and describes a low-dimensional space wherein the original signals can be expressed as vectors and then classified.</a:t>
            </a:r>
            <a:endParaRPr sz="1100"/>
          </a:p>
          <a:p>
            <a:pPr indent="0" lvl="0" marL="0" rtl="0" algn="l">
              <a:lnSpc>
                <a:spcPct val="130000"/>
              </a:lnSpc>
              <a:spcBef>
                <a:spcPts val="480"/>
              </a:spcBef>
              <a:spcAft>
                <a:spcPts val="0"/>
              </a:spcAft>
              <a:buNone/>
            </a:pPr>
            <a:r>
              <a:rPr lang="it" sz="1100"/>
              <a:t>what about emg plus IMU?</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1" name="Shape 851"/>
        <p:cNvGrpSpPr/>
        <p:nvPr/>
      </p:nvGrpSpPr>
      <p:grpSpPr>
        <a:xfrm>
          <a:off x="0" y="0"/>
          <a:ext cx="0" cy="0"/>
          <a:chOff x="0" y="0"/>
          <a:chExt cx="0" cy="0"/>
        </a:xfrm>
      </p:grpSpPr>
      <p:sp>
        <p:nvSpPr>
          <p:cNvPr id="852" name="Google Shape;852;p96"/>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853" name="Google Shape;853;p96"/>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Gesture Recognition Using EMG and DL for prostheses</a:t>
            </a:r>
            <a:endParaRPr/>
          </a:p>
        </p:txBody>
      </p:sp>
      <p:sp>
        <p:nvSpPr>
          <p:cNvPr id="854" name="Google Shape;854;p96"/>
          <p:cNvSpPr txBox="1"/>
          <p:nvPr/>
        </p:nvSpPr>
        <p:spPr>
          <a:xfrm>
            <a:off x="311700" y="774450"/>
            <a:ext cx="3902100" cy="3782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sz="1100"/>
              <a:t>The hand grasping is divided into 33 categories according to four parameters, including thumb position, power type, opposition type, and virtual finger assignments.</a:t>
            </a:r>
            <a:endParaRPr sz="1100"/>
          </a:p>
          <a:p>
            <a:pPr indent="-260350" lvl="0" marL="342900" rtl="0" algn="l">
              <a:lnSpc>
                <a:spcPct val="130000"/>
              </a:lnSpc>
              <a:spcBef>
                <a:spcPts val="480"/>
              </a:spcBef>
              <a:spcAft>
                <a:spcPts val="0"/>
              </a:spcAft>
              <a:buClr>
                <a:schemeClr val="dk1"/>
              </a:buClr>
              <a:buSzPts val="1100"/>
              <a:buChar char="➔"/>
            </a:pPr>
            <a:r>
              <a:rPr lang="it" sz="1100"/>
              <a:t>According to the way of interaction with external objects, Averta et al. (2020) divided upper limb movements into three categories: intransitive, i.e., gestures, transitive, i.e., motion interacting with an object, toolmediated, i.e., motion of interaction between objects.</a:t>
            </a:r>
            <a:endParaRPr sz="1100"/>
          </a:p>
          <a:p>
            <a:pPr indent="-260350" lvl="0" marL="342900" rtl="0" algn="l">
              <a:lnSpc>
                <a:spcPct val="130000"/>
              </a:lnSpc>
              <a:spcBef>
                <a:spcPts val="480"/>
              </a:spcBef>
              <a:spcAft>
                <a:spcPts val="0"/>
              </a:spcAft>
              <a:buClr>
                <a:schemeClr val="dk1"/>
              </a:buClr>
              <a:buSzPts val="1100"/>
              <a:buChar char="➔"/>
            </a:pPr>
            <a:r>
              <a:rPr lang="it" sz="1100"/>
              <a:t>sEMG pattern recognition is to extract multi-dimension features from sEMG signals, rather than relying entirely on EMG amplitude, which is usually used in non-pattern recognition.</a:t>
            </a:r>
            <a:endParaRPr sz="1100"/>
          </a:p>
          <a:p>
            <a:pPr indent="0" lvl="0" marL="342900" rtl="0" algn="l">
              <a:lnSpc>
                <a:spcPct val="130000"/>
              </a:lnSpc>
              <a:spcBef>
                <a:spcPts val="480"/>
              </a:spcBef>
              <a:spcAft>
                <a:spcPts val="0"/>
              </a:spcAft>
              <a:buNone/>
            </a:pPr>
            <a:r>
              <a:t/>
            </a:r>
            <a:endParaRPr sz="1260"/>
          </a:p>
        </p:txBody>
      </p:sp>
      <p:sp>
        <p:nvSpPr>
          <p:cNvPr id="855" name="Google Shape;855;p96"/>
          <p:cNvSpPr txBox="1"/>
          <p:nvPr/>
        </p:nvSpPr>
        <p:spPr>
          <a:xfrm>
            <a:off x="4806325" y="774450"/>
            <a:ext cx="3902100" cy="3782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sz="1100"/>
              <a:t>The sEMG pattern recognition techniques can be achieved with two primary processing methods: machine learning (ML) and deep learning. For conventional machine learning algorithms, there are limitations in processing raw data, because they could not effectively train on inconsistent, noisy, abstract, and highdimensional data. It found that almost all the data used by traditional ML methods come from steady-state signals, but the sEMG signals generated by gestures in daily life are transient. Transient-state analysis is a very challenging task suitable for DL processing.</a:t>
            </a:r>
            <a:endParaRPr sz="1100"/>
          </a:p>
          <a:p>
            <a:pPr indent="0" lvl="0" marL="0" rtl="0" algn="l">
              <a:lnSpc>
                <a:spcPct val="130000"/>
              </a:lnSpc>
              <a:spcBef>
                <a:spcPts val="480"/>
              </a:spcBef>
              <a:spcAft>
                <a:spcPts val="0"/>
              </a:spcAft>
              <a:buNone/>
            </a:pPr>
            <a:r>
              <a:t/>
            </a:r>
            <a:endParaRPr sz="11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9" name="Shape 859"/>
        <p:cNvGrpSpPr/>
        <p:nvPr/>
      </p:nvGrpSpPr>
      <p:grpSpPr>
        <a:xfrm>
          <a:off x="0" y="0"/>
          <a:ext cx="0" cy="0"/>
          <a:chOff x="0" y="0"/>
          <a:chExt cx="0" cy="0"/>
        </a:xfrm>
      </p:grpSpPr>
      <p:sp>
        <p:nvSpPr>
          <p:cNvPr id="860" name="Google Shape;860;p97"/>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861" name="Google Shape;861;p97"/>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Gesture Recognition Using EMG and DL for prostheses</a:t>
            </a:r>
            <a:endParaRPr/>
          </a:p>
        </p:txBody>
      </p:sp>
      <p:sp>
        <p:nvSpPr>
          <p:cNvPr id="862" name="Google Shape;862;p97"/>
          <p:cNvSpPr txBox="1"/>
          <p:nvPr/>
        </p:nvSpPr>
        <p:spPr>
          <a:xfrm>
            <a:off x="311700" y="774450"/>
            <a:ext cx="3902100" cy="3782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sz="1100"/>
              <a:t>The sEMG signals are collected from sEMG sensors, which could adopt two different acquisition criteria, sparse multi-channel sEMG and high-density sEMG (HD-sEMG), in the density of the employed electrodes of view. </a:t>
            </a:r>
            <a:endParaRPr sz="1100"/>
          </a:p>
          <a:p>
            <a:pPr indent="-260350" lvl="0" marL="342900" rtl="0" algn="l">
              <a:lnSpc>
                <a:spcPct val="130000"/>
              </a:lnSpc>
              <a:spcBef>
                <a:spcPts val="480"/>
              </a:spcBef>
              <a:spcAft>
                <a:spcPts val="0"/>
              </a:spcAft>
              <a:buClr>
                <a:schemeClr val="dk1"/>
              </a:buClr>
              <a:buSzPts val="1100"/>
              <a:buChar char="➔"/>
            </a:pPr>
            <a:r>
              <a:rPr lang="it" sz="1100"/>
              <a:t>Pre processing:</a:t>
            </a:r>
            <a:endParaRPr sz="1100"/>
          </a:p>
          <a:p>
            <a:pPr indent="-298450" lvl="0" marL="457200" rtl="0" algn="l">
              <a:lnSpc>
                <a:spcPct val="130000"/>
              </a:lnSpc>
              <a:spcBef>
                <a:spcPts val="0"/>
              </a:spcBef>
              <a:spcAft>
                <a:spcPts val="0"/>
              </a:spcAft>
              <a:buSzPts val="1100"/>
              <a:buChar char="-"/>
            </a:pPr>
            <a:r>
              <a:rPr lang="it" sz="1100"/>
              <a:t>smoothing: This means that the probability distribution of the sEMG changes with time. let s do rectification and filtering (Low-Pass Filtering (Filtro Passa-Bass oor Moving Average Method (Media Mobile)). </a:t>
            </a:r>
            <a:endParaRPr sz="1100"/>
          </a:p>
          <a:p>
            <a:pPr indent="-298450" lvl="0" marL="457200" rtl="0" algn="l">
              <a:lnSpc>
                <a:spcPct val="130000"/>
              </a:lnSpc>
              <a:spcBef>
                <a:spcPts val="0"/>
              </a:spcBef>
              <a:spcAft>
                <a:spcPts val="0"/>
              </a:spcAft>
              <a:buSzPts val="1100"/>
              <a:buChar char="-"/>
            </a:pPr>
            <a:r>
              <a:rPr lang="it" sz="1100"/>
              <a:t>normalization; </a:t>
            </a:r>
            <a:endParaRPr sz="1100"/>
          </a:p>
          <a:p>
            <a:pPr indent="-298450" lvl="0" marL="457200" rtl="0" algn="l">
              <a:lnSpc>
                <a:spcPct val="130000"/>
              </a:lnSpc>
              <a:spcBef>
                <a:spcPts val="0"/>
              </a:spcBef>
              <a:spcAft>
                <a:spcPts val="0"/>
              </a:spcAft>
              <a:buSzPts val="1100"/>
              <a:buChar char="-"/>
            </a:pPr>
            <a:r>
              <a:rPr lang="it" sz="1100"/>
              <a:t>segmentation: gesture detection and sliding windowing. 150-250 ms windows is best. decline is &lt;100 ms. better overlapping windows. </a:t>
            </a:r>
            <a:endParaRPr/>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342900" rtl="0" algn="l">
              <a:lnSpc>
                <a:spcPct val="130000"/>
              </a:lnSpc>
              <a:spcBef>
                <a:spcPts val="480"/>
              </a:spcBef>
              <a:spcAft>
                <a:spcPts val="0"/>
              </a:spcAft>
              <a:buNone/>
            </a:pPr>
            <a:r>
              <a:t/>
            </a:r>
            <a:endParaRPr sz="1260"/>
          </a:p>
        </p:txBody>
      </p:sp>
      <p:sp>
        <p:nvSpPr>
          <p:cNvPr id="863" name="Google Shape;863;p97"/>
          <p:cNvSpPr txBox="1"/>
          <p:nvPr/>
        </p:nvSpPr>
        <p:spPr>
          <a:xfrm>
            <a:off x="4679550" y="774450"/>
            <a:ext cx="3902100" cy="3782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sz="1100"/>
              <a:t>Feature Extraction: increase the information density implicit in sEMG signals and improve the difference between gestures. </a:t>
            </a:r>
            <a:endParaRPr sz="1100"/>
          </a:p>
          <a:p>
            <a:pPr indent="-298450" lvl="0" marL="457200" rtl="0" algn="l">
              <a:lnSpc>
                <a:spcPct val="130000"/>
              </a:lnSpc>
              <a:spcBef>
                <a:spcPts val="0"/>
              </a:spcBef>
              <a:spcAft>
                <a:spcPts val="0"/>
              </a:spcAft>
              <a:buSzPts val="1100"/>
              <a:buChar char="-"/>
            </a:pPr>
            <a:r>
              <a:rPr lang="it" sz="1100"/>
              <a:t>Traditional The existing sEMG features can be dividedinto four types: time domain features (TD), frequency domainfeatures (FD), time-frequency domain features (TFD), and parameter mode.</a:t>
            </a:r>
            <a:endParaRPr sz="1100"/>
          </a:p>
          <a:p>
            <a:pPr indent="-298450" lvl="0" marL="457200" rtl="0" algn="l">
              <a:lnSpc>
                <a:spcPct val="130000"/>
              </a:lnSpc>
              <a:spcBef>
                <a:spcPts val="0"/>
              </a:spcBef>
              <a:spcAft>
                <a:spcPts val="0"/>
              </a:spcAft>
              <a:buSzPts val="1100"/>
              <a:buChar char="-"/>
            </a:pPr>
            <a:r>
              <a:rPr lang="it" sz="1100"/>
              <a:t>sEMG Image: he time-series EMG data into a </a:t>
            </a:r>
            <a:r>
              <a:rPr b="1" lang="it" sz="1100"/>
              <a:t>two-dimensional matrix</a:t>
            </a:r>
            <a:r>
              <a:rPr lang="it" sz="1100"/>
              <a:t>, a "pseudo-image," which CNNs can effectively analyze.The signal is re-structured into a M×N matrix. Typically, the matrix rows represent </a:t>
            </a:r>
            <a:r>
              <a:rPr b="1" lang="it" sz="1100"/>
              <a:t>time samples</a:t>
            </a:r>
            <a:r>
              <a:rPr lang="it" sz="1100"/>
              <a:t> within the window, and the columns represent the </a:t>
            </a:r>
            <a:r>
              <a:rPr b="1" lang="it" sz="1100"/>
              <a:t>different EMG channels</a:t>
            </a:r>
            <a:r>
              <a:rPr lang="it" sz="1100"/>
              <a:t> (electrodes).</a:t>
            </a:r>
            <a:endParaRPr sz="1100"/>
          </a:p>
          <a:p>
            <a:pPr indent="0" lvl="0" marL="0" rtl="0" algn="l">
              <a:lnSpc>
                <a:spcPct val="130000"/>
              </a:lnSpc>
              <a:spcBef>
                <a:spcPts val="480"/>
              </a:spcBef>
              <a:spcAft>
                <a:spcPts val="0"/>
              </a:spcAft>
              <a:buNone/>
            </a:pPr>
            <a:r>
              <a:t/>
            </a:r>
            <a:endParaRPr sz="1100"/>
          </a:p>
          <a:p>
            <a:pPr indent="-260350" lvl="0" marL="342900" rtl="0" algn="l">
              <a:lnSpc>
                <a:spcPct val="130000"/>
              </a:lnSpc>
              <a:spcBef>
                <a:spcPts val="480"/>
              </a:spcBef>
              <a:spcAft>
                <a:spcPts val="0"/>
              </a:spcAft>
              <a:buClr>
                <a:schemeClr val="dk1"/>
              </a:buClr>
              <a:buSzPts val="1100"/>
              <a:buChar char="➔"/>
            </a:pPr>
            <a:r>
              <a:t/>
            </a:r>
            <a:endParaRPr sz="1100"/>
          </a:p>
          <a:p>
            <a:pPr indent="-298450" lvl="0" marL="457200" rtl="0" algn="l">
              <a:lnSpc>
                <a:spcPct val="130000"/>
              </a:lnSpc>
              <a:spcBef>
                <a:spcPts val="0"/>
              </a:spcBef>
              <a:spcAft>
                <a:spcPts val="0"/>
              </a:spcAft>
              <a:buSzPts val="1100"/>
              <a:buChar char="-"/>
            </a:pPr>
            <a:r>
              <a:t/>
            </a:r>
            <a:endParaRPr sz="1100"/>
          </a:p>
          <a:p>
            <a:pPr indent="0" lvl="0" marL="0" rtl="0" algn="l">
              <a:lnSpc>
                <a:spcPct val="130000"/>
              </a:lnSpc>
              <a:spcBef>
                <a:spcPts val="480"/>
              </a:spcBef>
              <a:spcAft>
                <a:spcPts val="0"/>
              </a:spcAft>
              <a:buNone/>
            </a:pPr>
            <a:r>
              <a:t/>
            </a:r>
            <a:endParaRPr sz="1100"/>
          </a:p>
          <a:p>
            <a:pPr indent="0" lvl="0" marL="342900" rtl="0" algn="l">
              <a:lnSpc>
                <a:spcPct val="130000"/>
              </a:lnSpc>
              <a:spcBef>
                <a:spcPts val="480"/>
              </a:spcBef>
              <a:spcAft>
                <a:spcPts val="0"/>
              </a:spcAft>
              <a:buNone/>
            </a:pPr>
            <a:r>
              <a:t/>
            </a:r>
            <a:endParaRPr sz="126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7" name="Shape 867"/>
        <p:cNvGrpSpPr/>
        <p:nvPr/>
      </p:nvGrpSpPr>
      <p:grpSpPr>
        <a:xfrm>
          <a:off x="0" y="0"/>
          <a:ext cx="0" cy="0"/>
          <a:chOff x="0" y="0"/>
          <a:chExt cx="0" cy="0"/>
        </a:xfrm>
      </p:grpSpPr>
      <p:sp>
        <p:nvSpPr>
          <p:cNvPr id="868" name="Google Shape;868;p98"/>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869" name="Google Shape;869;p98"/>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Gesture Recognition Using EMG and DL for prostheses</a:t>
            </a:r>
            <a:endParaRPr/>
          </a:p>
        </p:txBody>
      </p:sp>
      <p:sp>
        <p:nvSpPr>
          <p:cNvPr id="870" name="Google Shape;870;p98"/>
          <p:cNvSpPr txBox="1"/>
          <p:nvPr/>
        </p:nvSpPr>
        <p:spPr>
          <a:xfrm>
            <a:off x="311700" y="774450"/>
            <a:ext cx="3902100" cy="4439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a:t>the performance of AE slightly outperformed the state-of-the-art factorization algorithms, i.e., non-negative matrix factorization. The results showed that AE outperformed CNN in intra-session analysis, but CNN had stronger robustness and higher computational efficiency. it still can ave data distribution mutation problem, so better integrate transfer learning and domain adaptation.</a:t>
            </a:r>
            <a:endParaRPr/>
          </a:p>
          <a:p>
            <a:pPr indent="0" lvl="0" marL="342900" rtl="0" algn="l">
              <a:lnSpc>
                <a:spcPct val="130000"/>
              </a:lnSpc>
              <a:spcBef>
                <a:spcPts val="480"/>
              </a:spcBef>
              <a:spcAft>
                <a:spcPts val="0"/>
              </a:spcAft>
              <a:buNone/>
            </a:pPr>
            <a:r>
              <a:t/>
            </a:r>
            <a:endParaRPr/>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342900" rtl="0" algn="l">
              <a:lnSpc>
                <a:spcPct val="130000"/>
              </a:lnSpc>
              <a:spcBef>
                <a:spcPts val="480"/>
              </a:spcBef>
              <a:spcAft>
                <a:spcPts val="0"/>
              </a:spcAft>
              <a:buNone/>
            </a:pPr>
            <a:r>
              <a:t/>
            </a:r>
            <a:endParaRPr sz="1260"/>
          </a:p>
        </p:txBody>
      </p:sp>
      <p:sp>
        <p:nvSpPr>
          <p:cNvPr id="871" name="Google Shape;871;p98"/>
          <p:cNvSpPr txBox="1"/>
          <p:nvPr/>
        </p:nvSpPr>
        <p:spPr>
          <a:xfrm>
            <a:off x="4727075" y="680550"/>
            <a:ext cx="3902100" cy="3782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260350" lvl="0" marL="342900" rtl="0" algn="l">
              <a:lnSpc>
                <a:spcPct val="130000"/>
              </a:lnSpc>
              <a:spcBef>
                <a:spcPts val="480"/>
              </a:spcBef>
              <a:spcAft>
                <a:spcPts val="0"/>
              </a:spcAft>
              <a:buClr>
                <a:schemeClr val="dk1"/>
              </a:buClr>
              <a:buSzPts val="1100"/>
              <a:buChar char="➔"/>
            </a:pPr>
            <a:r>
              <a:rPr lang="it" sz="1100"/>
              <a:t>Post-Processing: </a:t>
            </a:r>
            <a:endParaRPr sz="1100"/>
          </a:p>
          <a:p>
            <a:pPr indent="-298450" lvl="0" marL="457200" rtl="0" algn="l">
              <a:lnSpc>
                <a:spcPct val="130000"/>
              </a:lnSpc>
              <a:spcBef>
                <a:spcPts val="0"/>
              </a:spcBef>
              <a:spcAft>
                <a:spcPts val="0"/>
              </a:spcAft>
              <a:buSzPts val="1100"/>
              <a:buChar char="-"/>
            </a:pPr>
            <a:r>
              <a:rPr lang="it" sz="1100"/>
              <a:t>multiwindow joint decision-making:</a:t>
            </a:r>
            <a:endParaRPr sz="1100"/>
          </a:p>
          <a:p>
            <a:pPr indent="-298450" lvl="0" marL="457200" rtl="0" algn="l">
              <a:lnSpc>
                <a:spcPct val="130000"/>
              </a:lnSpc>
              <a:spcBef>
                <a:spcPts val="0"/>
              </a:spcBef>
              <a:spcAft>
                <a:spcPts val="0"/>
              </a:spcAft>
              <a:buSzPts val="1100"/>
              <a:buChar char="-"/>
            </a:pPr>
            <a:r>
              <a:rPr lang="it" sz="1100"/>
              <a:t>confidence score:</a:t>
            </a:r>
            <a:endParaRPr sz="1100"/>
          </a:p>
          <a:p>
            <a:pPr indent="-298450" lvl="0" marL="457200" rtl="0" algn="l">
              <a:lnSpc>
                <a:spcPct val="130000"/>
              </a:lnSpc>
              <a:spcBef>
                <a:spcPts val="0"/>
              </a:spcBef>
              <a:spcAft>
                <a:spcPts val="0"/>
              </a:spcAft>
              <a:buSzPts val="1100"/>
              <a:buChar char="-"/>
            </a:pPr>
            <a:r>
              <a:rPr lang="it" sz="1100"/>
              <a:t>tolerate some error classification.</a:t>
            </a:r>
            <a:endParaRPr sz="1100"/>
          </a:p>
          <a:p>
            <a:pPr indent="0" lvl="0" marL="0" rtl="0" algn="l">
              <a:lnSpc>
                <a:spcPct val="130000"/>
              </a:lnSpc>
              <a:spcBef>
                <a:spcPts val="480"/>
              </a:spcBef>
              <a:spcAft>
                <a:spcPts val="0"/>
              </a:spcAft>
              <a:buNone/>
            </a:pPr>
            <a:r>
              <a:rPr lang="it" sz="1100"/>
              <a:t>         Performance Evaluation:</a:t>
            </a:r>
            <a:endParaRPr sz="1100"/>
          </a:p>
          <a:p>
            <a:pPr indent="-298450" lvl="0" marL="457200" rtl="0" algn="l">
              <a:lnSpc>
                <a:spcPct val="130000"/>
              </a:lnSpc>
              <a:spcBef>
                <a:spcPts val="480"/>
              </a:spcBef>
              <a:spcAft>
                <a:spcPts val="0"/>
              </a:spcAft>
              <a:buSzPts val="1100"/>
              <a:buChar char="-"/>
            </a:pPr>
            <a:r>
              <a:rPr lang="it" sz="1100"/>
              <a:t>MSE or R can be biased to methods like TAC and MEasures based on FItt’s law are better for evaluating real time model of </a:t>
            </a:r>
            <a:r>
              <a:rPr lang="it" sz="1100"/>
              <a:t>prosthesis</a:t>
            </a:r>
            <a:r>
              <a:rPr lang="it" sz="1100"/>
              <a:t>.</a:t>
            </a:r>
            <a:endParaRPr sz="1100"/>
          </a:p>
          <a:p>
            <a:pPr indent="0" lvl="0" marL="457200" rtl="0" algn="l">
              <a:lnSpc>
                <a:spcPct val="130000"/>
              </a:lnSpc>
              <a:spcBef>
                <a:spcPts val="480"/>
              </a:spcBef>
              <a:spcAft>
                <a:spcPts val="0"/>
              </a:spcAft>
              <a:buNone/>
            </a:pPr>
            <a:r>
              <a:rPr lang="it" sz="1100"/>
              <a:t>Mukti session Evaluation</a:t>
            </a:r>
            <a:endParaRPr sz="1100"/>
          </a:p>
          <a:p>
            <a:pPr indent="-298450" lvl="0" marL="457200" rtl="0" algn="l">
              <a:lnSpc>
                <a:spcPct val="130000"/>
              </a:lnSpc>
              <a:spcBef>
                <a:spcPts val="480"/>
              </a:spcBef>
              <a:spcAft>
                <a:spcPts val="0"/>
              </a:spcAft>
              <a:buSzPts val="1100"/>
              <a:buChar char="-"/>
            </a:pPr>
            <a:r>
              <a:rPr lang="it" sz="1100"/>
              <a:t>Intra-session: </a:t>
            </a:r>
            <a:endParaRPr sz="1100"/>
          </a:p>
          <a:p>
            <a:pPr indent="-298450" lvl="0" marL="457200" rtl="0" algn="l">
              <a:lnSpc>
                <a:spcPct val="130000"/>
              </a:lnSpc>
              <a:spcBef>
                <a:spcPts val="0"/>
              </a:spcBef>
              <a:spcAft>
                <a:spcPts val="0"/>
              </a:spcAft>
              <a:buSzPts val="1100"/>
              <a:buChar char="-"/>
            </a:pPr>
            <a:r>
              <a:rPr lang="it" sz="1100"/>
              <a:t>Inter session:</a:t>
            </a:r>
            <a:endParaRPr sz="1100"/>
          </a:p>
          <a:p>
            <a:pPr indent="-298450" lvl="0" marL="457200" rtl="0" algn="l">
              <a:lnSpc>
                <a:spcPct val="130000"/>
              </a:lnSpc>
              <a:spcBef>
                <a:spcPts val="0"/>
              </a:spcBef>
              <a:spcAft>
                <a:spcPts val="0"/>
              </a:spcAft>
              <a:buSzPts val="1100"/>
              <a:buChar char="-"/>
            </a:pPr>
            <a:r>
              <a:rPr lang="it" sz="1100"/>
              <a:t>Intra-subject:</a:t>
            </a:r>
            <a:endParaRPr sz="1100"/>
          </a:p>
          <a:p>
            <a:pPr indent="0" lvl="0" marL="342900" rtl="0" algn="l">
              <a:lnSpc>
                <a:spcPct val="130000"/>
              </a:lnSpc>
              <a:spcBef>
                <a:spcPts val="480"/>
              </a:spcBef>
              <a:spcAft>
                <a:spcPts val="0"/>
              </a:spcAft>
              <a:buNone/>
            </a:pPr>
            <a:r>
              <a:t/>
            </a:r>
            <a:endParaRPr sz="126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5" name="Shape 875"/>
        <p:cNvGrpSpPr/>
        <p:nvPr/>
      </p:nvGrpSpPr>
      <p:grpSpPr>
        <a:xfrm>
          <a:off x="0" y="0"/>
          <a:ext cx="0" cy="0"/>
          <a:chOff x="0" y="0"/>
          <a:chExt cx="0" cy="0"/>
        </a:xfrm>
      </p:grpSpPr>
      <p:sp>
        <p:nvSpPr>
          <p:cNvPr id="876" name="Google Shape;876;p99"/>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877" name="Google Shape;877;p99"/>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Gesture Recognition Using EMG and DL for prostheses</a:t>
            </a:r>
            <a:endParaRPr/>
          </a:p>
        </p:txBody>
      </p:sp>
      <p:sp>
        <p:nvSpPr>
          <p:cNvPr id="878" name="Google Shape;878;p99"/>
          <p:cNvSpPr txBox="1"/>
          <p:nvPr/>
        </p:nvSpPr>
        <p:spPr>
          <a:xfrm>
            <a:off x="311700" y="536725"/>
            <a:ext cx="4442700" cy="4439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a:t>Signal Acquisition and Processing Devices: problems with type of electrodes.</a:t>
            </a:r>
            <a:endParaRPr/>
          </a:p>
          <a:p>
            <a:pPr indent="-287655" lvl="0" marL="342900" rtl="0" algn="l">
              <a:lnSpc>
                <a:spcPct val="130000"/>
              </a:lnSpc>
              <a:spcBef>
                <a:spcPts val="480"/>
              </a:spcBef>
              <a:spcAft>
                <a:spcPts val="0"/>
              </a:spcAft>
              <a:buClr>
                <a:schemeClr val="dk1"/>
              </a:buClr>
              <a:buSzPts val="1530"/>
              <a:buChar char="➔"/>
            </a:pPr>
            <a:r>
              <a:rPr lang="it"/>
              <a:t>Offline vs Online Processing Perfomance Evaluation: system with good offline training performance does not always have excellent real-time performance.</a:t>
            </a:r>
            <a:endParaRPr/>
          </a:p>
          <a:p>
            <a:pPr indent="-287655" lvl="0" marL="342900" rtl="0" algn="l">
              <a:lnSpc>
                <a:spcPct val="130000"/>
              </a:lnSpc>
              <a:spcBef>
                <a:spcPts val="480"/>
              </a:spcBef>
              <a:spcAft>
                <a:spcPts val="0"/>
              </a:spcAft>
              <a:buClr>
                <a:schemeClr val="dk1"/>
              </a:buClr>
              <a:buSzPts val="1530"/>
              <a:buChar char="➔"/>
            </a:pPr>
            <a:r>
              <a:rPr lang="it"/>
              <a:t>Individual-</a:t>
            </a:r>
            <a:r>
              <a:rPr lang="it"/>
              <a:t>Specific</a:t>
            </a:r>
            <a:r>
              <a:rPr lang="it"/>
              <a:t> and Variability of sEMG signals: multi-user and multi-session training protocol has been adopted.g, the robustness with daily variation and potential user adaptability in a new </a:t>
            </a:r>
            <a:r>
              <a:rPr lang="it"/>
              <a:t>recording</a:t>
            </a:r>
            <a:r>
              <a:rPr lang="it"/>
              <a:t> session over time remains unexplored.</a:t>
            </a:r>
            <a:endParaRPr/>
          </a:p>
          <a:p>
            <a:pPr indent="0" lvl="0" marL="0" rtl="0" algn="l">
              <a:lnSpc>
                <a:spcPct val="130000"/>
              </a:lnSpc>
              <a:spcBef>
                <a:spcPts val="480"/>
              </a:spcBef>
              <a:spcAft>
                <a:spcPts val="0"/>
              </a:spcAft>
              <a:buNone/>
            </a:pPr>
            <a:r>
              <a:t/>
            </a:r>
            <a:endParaRPr/>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342900" rtl="0" algn="l">
              <a:lnSpc>
                <a:spcPct val="130000"/>
              </a:lnSpc>
              <a:spcBef>
                <a:spcPts val="480"/>
              </a:spcBef>
              <a:spcAft>
                <a:spcPts val="0"/>
              </a:spcAft>
              <a:buNone/>
            </a:pPr>
            <a:r>
              <a:t/>
            </a:r>
            <a:endParaRPr sz="1260"/>
          </a:p>
        </p:txBody>
      </p:sp>
      <p:sp>
        <p:nvSpPr>
          <p:cNvPr id="879" name="Google Shape;879;p99"/>
          <p:cNvSpPr txBox="1"/>
          <p:nvPr/>
        </p:nvSpPr>
        <p:spPr>
          <a:xfrm>
            <a:off x="4985700" y="961525"/>
            <a:ext cx="4158300" cy="1628400"/>
          </a:xfrm>
          <a:prstGeom prst="rect">
            <a:avLst/>
          </a:prstGeom>
          <a:noFill/>
          <a:ln>
            <a:noFill/>
          </a:ln>
        </p:spPr>
        <p:txBody>
          <a:bodyPr anchorCtr="0" anchor="t" bIns="91425" lIns="91425" spcFirstLastPara="1" rIns="91425" wrap="square" tIns="91425">
            <a:spAutoFit/>
          </a:bodyPr>
          <a:lstStyle/>
          <a:p>
            <a:pPr indent="-287655" lvl="0" marL="342900" rtl="0" algn="l">
              <a:lnSpc>
                <a:spcPct val="130000"/>
              </a:lnSpc>
              <a:spcBef>
                <a:spcPts val="480"/>
              </a:spcBef>
              <a:spcAft>
                <a:spcPts val="0"/>
              </a:spcAft>
              <a:buClr>
                <a:schemeClr val="dk1"/>
              </a:buClr>
              <a:buSzPts val="1530"/>
              <a:buChar char="➔"/>
            </a:pPr>
            <a:r>
              <a:rPr lang="it"/>
              <a:t>Simultaneous and Proportional Information: Non-Negative Matrix Factorization (NMF) with </a:t>
            </a:r>
            <a:r>
              <a:rPr lang="it"/>
              <a:t>muscular</a:t>
            </a:r>
            <a:r>
              <a:rPr lang="it"/>
              <a:t> synergies or Blind Source Separation, BSS with motoneuron  </a:t>
            </a:r>
            <a:endParaRPr/>
          </a:p>
          <a:p>
            <a:pPr indent="-287655" lvl="0" marL="342900" rtl="0" algn="l">
              <a:lnSpc>
                <a:spcPct val="130000"/>
              </a:lnSpc>
              <a:spcBef>
                <a:spcPts val="480"/>
              </a:spcBef>
              <a:spcAft>
                <a:spcPts val="0"/>
              </a:spcAft>
              <a:buClr>
                <a:schemeClr val="dk1"/>
              </a:buClr>
              <a:buSzPts val="1530"/>
              <a:buChar char="➔"/>
            </a:pPr>
            <a:r>
              <a:rPr lang="it"/>
              <a:t>They suggest Ensemble Learning.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3" name="Shape 883"/>
        <p:cNvGrpSpPr/>
        <p:nvPr/>
      </p:nvGrpSpPr>
      <p:grpSpPr>
        <a:xfrm>
          <a:off x="0" y="0"/>
          <a:ext cx="0" cy="0"/>
          <a:chOff x="0" y="0"/>
          <a:chExt cx="0" cy="0"/>
        </a:xfrm>
      </p:grpSpPr>
      <p:sp>
        <p:nvSpPr>
          <p:cNvPr id="884" name="Google Shape;884;p100"/>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885" name="Google Shape;885;p100"/>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Muscular activation sequences used as time-domain feature</a:t>
            </a:r>
            <a:endParaRPr/>
          </a:p>
        </p:txBody>
      </p:sp>
      <p:sp>
        <p:nvSpPr>
          <p:cNvPr id="886" name="Google Shape;886;p100"/>
          <p:cNvSpPr txBox="1"/>
          <p:nvPr/>
        </p:nvSpPr>
        <p:spPr>
          <a:xfrm>
            <a:off x="311700" y="774450"/>
            <a:ext cx="3902100" cy="3551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sz="1100"/>
              <a:t>to evaluate the robustness of these features extracted from the EMG signal in transient state, on the forearm, for classifying common hand tasks.</a:t>
            </a:r>
            <a:endParaRPr sz="1100"/>
          </a:p>
          <a:p>
            <a:pPr indent="-260350" lvl="0" marL="342900" rtl="0" algn="l">
              <a:lnSpc>
                <a:spcPct val="130000"/>
              </a:lnSpc>
              <a:spcBef>
                <a:spcPts val="480"/>
              </a:spcBef>
              <a:spcAft>
                <a:spcPts val="0"/>
              </a:spcAft>
              <a:buClr>
                <a:schemeClr val="dk1"/>
              </a:buClr>
              <a:buSzPts val="1100"/>
              <a:buChar char="➔"/>
            </a:pPr>
            <a:r>
              <a:rPr lang="it" sz="1100"/>
              <a:t>signal associated to four hand gestures and the rest condition were acquired from ten healthy people and two persons with </a:t>
            </a:r>
            <a:r>
              <a:rPr lang="it" sz="1100"/>
              <a:t>transradial amputation.</a:t>
            </a:r>
            <a:r>
              <a:rPr lang="it" sz="1100"/>
              <a:t>.</a:t>
            </a:r>
            <a:endParaRPr sz="1100"/>
          </a:p>
          <a:p>
            <a:pPr indent="0" lvl="0" marL="342900" rtl="0" algn="l">
              <a:lnSpc>
                <a:spcPct val="130000"/>
              </a:lnSpc>
              <a:spcBef>
                <a:spcPts val="480"/>
              </a:spcBef>
              <a:spcAft>
                <a:spcPts val="0"/>
              </a:spcAft>
              <a:buNone/>
            </a:pPr>
            <a:r>
              <a:rPr lang="it" sz="1260"/>
              <a:t>The highest performance were obtained with the NLR classiﬁer.</a:t>
            </a:r>
            <a:endParaRPr sz="1260"/>
          </a:p>
          <a:p>
            <a:pPr indent="0" lvl="0" marL="342900" rtl="0" algn="l">
              <a:lnSpc>
                <a:spcPct val="130000"/>
              </a:lnSpc>
              <a:spcBef>
                <a:spcPts val="480"/>
              </a:spcBef>
              <a:spcAft>
                <a:spcPts val="0"/>
              </a:spcAft>
              <a:buNone/>
            </a:pPr>
            <a:r>
              <a:rPr lang="it" sz="1260"/>
              <a:t>Due to the high computational cost of using features extracted from the signal spectrum, time domain features are usually preferred for real-time applications</a:t>
            </a:r>
            <a:endParaRPr sz="1260"/>
          </a:p>
          <a:p>
            <a:pPr indent="0" lvl="0" marL="342900" rtl="0" algn="l">
              <a:lnSpc>
                <a:spcPct val="130000"/>
              </a:lnSpc>
              <a:spcBef>
                <a:spcPts val="480"/>
              </a:spcBef>
              <a:spcAft>
                <a:spcPts val="0"/>
              </a:spcAft>
              <a:buNone/>
            </a:pPr>
            <a:r>
              <a:t/>
            </a:r>
            <a:endParaRPr sz="1260"/>
          </a:p>
        </p:txBody>
      </p:sp>
      <p:sp>
        <p:nvSpPr>
          <p:cNvPr id="887" name="Google Shape;887;p100"/>
          <p:cNvSpPr txBox="1"/>
          <p:nvPr/>
        </p:nvSpPr>
        <p:spPr>
          <a:xfrm>
            <a:off x="4392025" y="860075"/>
            <a:ext cx="3902100" cy="37698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spcBef>
                <a:spcPts val="0"/>
              </a:spcBef>
              <a:spcAft>
                <a:spcPts val="0"/>
              </a:spcAft>
              <a:buClr>
                <a:schemeClr val="dk1"/>
              </a:buClr>
              <a:buSzPts val="1260"/>
              <a:buChar char="➔"/>
            </a:pPr>
            <a:r>
              <a:rPr lang="it" sz="1100"/>
              <a:t>maximum acceptable time delay between intention and classification that allows the patient not to perceive the latency of the prosthesis response is conventionally set to 300 ms</a:t>
            </a:r>
            <a:endParaRPr sz="1100"/>
          </a:p>
          <a:p>
            <a:pPr indent="-270510" lvl="0" marL="342900" rtl="0" algn="l">
              <a:spcBef>
                <a:spcPts val="0"/>
              </a:spcBef>
              <a:spcAft>
                <a:spcPts val="0"/>
              </a:spcAft>
              <a:buClr>
                <a:schemeClr val="dk1"/>
              </a:buClr>
              <a:buSzPts val="1260"/>
              <a:buChar char="➔"/>
            </a:pPr>
            <a:r>
              <a:rPr lang="it" sz="1100"/>
              <a:t> The transient state is identified by the time instant when the signal exceeds the rest state, this is the ONSET. Onset detection algorithms differ depending on how the muscular activation thresholds are computed;</a:t>
            </a:r>
            <a:endParaRPr sz="1100"/>
          </a:p>
          <a:p>
            <a:pPr indent="0" lvl="0" marL="342900" rtl="0" algn="l">
              <a:spcBef>
                <a:spcPts val="0"/>
              </a:spcBef>
              <a:spcAft>
                <a:spcPts val="0"/>
              </a:spcAft>
              <a:buNone/>
            </a:pPr>
            <a:r>
              <a:rPr lang="it" sz="1100"/>
              <a:t>A muscular activation sequence was obtained by evaluating the time instant when each EMG signal exceeded the correspondent TH_High value.</a:t>
            </a:r>
            <a:endParaRPr sz="1100"/>
          </a:p>
          <a:p>
            <a:pPr indent="0" lvl="0" marL="342900" rtl="0" algn="l">
              <a:spcBef>
                <a:spcPts val="0"/>
              </a:spcBef>
              <a:spcAft>
                <a:spcPts val="0"/>
              </a:spcAft>
              <a:buNone/>
            </a:pPr>
            <a:r>
              <a:rPr b="1" lang="it" sz="1100"/>
              <a:t>only muscular activations within 300 ms from the SoA were considered eligible for the classification.</a:t>
            </a:r>
            <a:endParaRPr b="1" sz="1100"/>
          </a:p>
          <a:p>
            <a:pPr indent="0" lvl="0" marL="342900" rtl="0" algn="l">
              <a:spcBef>
                <a:spcPts val="0"/>
              </a:spcBef>
              <a:spcAft>
                <a:spcPts val="0"/>
              </a:spcAft>
              <a:buNone/>
            </a:pPr>
            <a:r>
              <a:rPr b="1" lang="it" sz="1100"/>
              <a:t>it resulted that muscular activation occurred for three EMG signals per activation sequence, on average among the four tasks. so they reduced the matrix.</a:t>
            </a:r>
            <a:endParaRPr b="1" sz="1100"/>
          </a:p>
          <a:p>
            <a:pPr indent="0" lvl="0" marL="342900" rtl="0" algn="l">
              <a:spcBef>
                <a:spcPts val="0"/>
              </a:spcBef>
              <a:spcAft>
                <a:spcPts val="0"/>
              </a:spcAft>
              <a:buNone/>
            </a:pPr>
            <a:r>
              <a:t/>
            </a:r>
            <a:endParaRPr b="1" sz="1100"/>
          </a:p>
          <a:p>
            <a:pPr indent="0" lvl="0" marL="342900" rtl="0" algn="l">
              <a:spcBef>
                <a:spcPts val="0"/>
              </a:spcBef>
              <a:spcAft>
                <a:spcPts val="0"/>
              </a:spcAft>
              <a:buNone/>
            </a:pPr>
            <a:r>
              <a:t/>
            </a:r>
            <a:endParaRPr b="1" sz="1100"/>
          </a:p>
          <a:p>
            <a:pPr indent="0" lvl="0" marL="0" rtl="0" algn="l">
              <a:spcBef>
                <a:spcPts val="0"/>
              </a:spcBef>
              <a:spcAft>
                <a:spcPts val="0"/>
              </a:spcAft>
              <a:buNone/>
            </a:pPr>
            <a:r>
              <a:t/>
            </a:r>
            <a:endParaRPr sz="1100"/>
          </a:p>
          <a:p>
            <a:pPr indent="0" lvl="0" marL="342900" rtl="0" algn="l">
              <a:lnSpc>
                <a:spcPct val="130000"/>
              </a:lnSpc>
              <a:spcBef>
                <a:spcPts val="480"/>
              </a:spcBef>
              <a:spcAft>
                <a:spcPts val="0"/>
              </a:spcAft>
              <a:buNone/>
            </a:pPr>
            <a:r>
              <a:t/>
            </a:r>
            <a:endParaRPr sz="1260"/>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1" name="Shape 891"/>
        <p:cNvGrpSpPr/>
        <p:nvPr/>
      </p:nvGrpSpPr>
      <p:grpSpPr>
        <a:xfrm>
          <a:off x="0" y="0"/>
          <a:ext cx="0" cy="0"/>
          <a:chOff x="0" y="0"/>
          <a:chExt cx="0" cy="0"/>
        </a:xfrm>
      </p:grpSpPr>
      <p:sp>
        <p:nvSpPr>
          <p:cNvPr id="892" name="Google Shape;892;p101"/>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893" name="Google Shape;893;p101"/>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Muscular activation sequences used as time-domain feature</a:t>
            </a:r>
            <a:endParaRPr/>
          </a:p>
        </p:txBody>
      </p:sp>
      <p:sp>
        <p:nvSpPr>
          <p:cNvPr id="894" name="Google Shape;894;p101"/>
          <p:cNvSpPr txBox="1"/>
          <p:nvPr/>
        </p:nvSpPr>
        <p:spPr>
          <a:xfrm>
            <a:off x="311700" y="774450"/>
            <a:ext cx="3902100" cy="3551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sz="1100"/>
              <a:t>Tradition Pattern Recognition is based on what </a:t>
            </a:r>
            <a:r>
              <a:rPr lang="it" sz="1100"/>
              <a:t>append</a:t>
            </a:r>
            <a:r>
              <a:rPr lang="it" sz="1100"/>
              <a:t> so MAV/RMS while this new feature is based on how and when wrt the activation order. SO because there where 4 task and the emg are 3 mean then they flatten the output of the classificator  of 1x12. </a:t>
            </a:r>
            <a:endParaRPr sz="1100"/>
          </a:p>
          <a:p>
            <a:pPr indent="-260350" lvl="0" marL="342900" rtl="0" algn="l">
              <a:lnSpc>
                <a:spcPct val="130000"/>
              </a:lnSpc>
              <a:spcBef>
                <a:spcPts val="480"/>
              </a:spcBef>
              <a:spcAft>
                <a:spcPts val="0"/>
              </a:spcAft>
              <a:buClr>
                <a:schemeClr val="dk1"/>
              </a:buClr>
              <a:buSzPts val="1100"/>
              <a:buChar char="➔"/>
            </a:pPr>
            <a:r>
              <a:rPr lang="it" sz="1100"/>
              <a:t>The study presents some limitations. Due to the nature of the EMG transient, the activation bursts are unique for each hand motion and </a:t>
            </a:r>
            <a:r>
              <a:rPr lang="it" sz="1100"/>
              <a:t>acquisition</a:t>
            </a:r>
            <a:r>
              <a:rPr lang="it" sz="1100"/>
              <a:t>. Also the limb orientation effect is a problem. </a:t>
            </a:r>
            <a:endParaRPr sz="1100"/>
          </a:p>
          <a:p>
            <a:pPr indent="0" lvl="0" marL="342900" rtl="0" algn="l">
              <a:lnSpc>
                <a:spcPct val="130000"/>
              </a:lnSpc>
              <a:spcBef>
                <a:spcPts val="480"/>
              </a:spcBef>
              <a:spcAft>
                <a:spcPts val="0"/>
              </a:spcAft>
              <a:buNone/>
            </a:pPr>
            <a:r>
              <a:t/>
            </a:r>
            <a:endParaRPr sz="126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8" name="Shape 898"/>
        <p:cNvGrpSpPr/>
        <p:nvPr/>
      </p:nvGrpSpPr>
      <p:grpSpPr>
        <a:xfrm>
          <a:off x="0" y="0"/>
          <a:ext cx="0" cy="0"/>
          <a:chOff x="0" y="0"/>
          <a:chExt cx="0" cy="0"/>
        </a:xfrm>
      </p:grpSpPr>
      <p:sp>
        <p:nvSpPr>
          <p:cNvPr id="899" name="Google Shape;899;p102"/>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900" name="Google Shape;900;p102"/>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rPr lang="it"/>
              <a:t>Hand gesture recognition based on motor unit spike trains decoded from high-density electromyography</a:t>
            </a:r>
            <a:endParaRPr/>
          </a:p>
          <a:p>
            <a:pPr indent="0" lvl="0" marL="0" rtl="0" algn="ctr">
              <a:spcBef>
                <a:spcPts val="0"/>
              </a:spcBef>
              <a:spcAft>
                <a:spcPts val="0"/>
              </a:spcAft>
              <a:buClr>
                <a:schemeClr val="dk1"/>
              </a:buClr>
              <a:buSzPts val="1100"/>
              <a:buFont typeface="Arial"/>
              <a:buNone/>
            </a:pPr>
            <a:r>
              <a:t/>
            </a:r>
            <a:endParaRPr/>
          </a:p>
        </p:txBody>
      </p:sp>
      <p:sp>
        <p:nvSpPr>
          <p:cNvPr id="901" name="Google Shape;901;p102"/>
          <p:cNvSpPr txBox="1"/>
          <p:nvPr/>
        </p:nvSpPr>
        <p:spPr>
          <a:xfrm>
            <a:off x="311700" y="774450"/>
            <a:ext cx="3902100" cy="3551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sz="1100"/>
              <a:t>It cites other paper which demonstrated that among the TD, TF and TDF features, those last ones are the most effective. the features extracted from EMG signals only indirectly reﬂect the neural drive sent to muscles from motor neurons in the spinal cord.As opposed to these classic approaches, direct neural features have also been proposed. These consist in the series of discharge timings of the motor neurons innervating the muscle where EMG is recorded]. The identiﬁcation of these features has been referred to as surface EMG decomposition. myoelectric control based on motor unit activities has been demonstrated for the wrist and ﬁngers. </a:t>
            </a:r>
            <a:endParaRPr sz="1100"/>
          </a:p>
          <a:p>
            <a:pPr indent="0" lvl="0" marL="0" rtl="0" algn="l">
              <a:lnSpc>
                <a:spcPct val="130000"/>
              </a:lnSpc>
              <a:spcBef>
                <a:spcPts val="480"/>
              </a:spcBef>
              <a:spcAft>
                <a:spcPts val="0"/>
              </a:spcAft>
              <a:buNone/>
            </a:pPr>
            <a:r>
              <a:t/>
            </a:r>
            <a:endParaRPr sz="1100"/>
          </a:p>
          <a:p>
            <a:pPr indent="0" lvl="0" marL="342900" rtl="0" algn="l">
              <a:lnSpc>
                <a:spcPct val="130000"/>
              </a:lnSpc>
              <a:spcBef>
                <a:spcPts val="480"/>
              </a:spcBef>
              <a:spcAft>
                <a:spcPts val="0"/>
              </a:spcAft>
              <a:buNone/>
            </a:pPr>
            <a:r>
              <a:t/>
            </a:r>
            <a:endParaRPr sz="1100"/>
          </a:p>
        </p:txBody>
      </p:sp>
      <p:sp>
        <p:nvSpPr>
          <p:cNvPr id="902" name="Google Shape;902;p102"/>
          <p:cNvSpPr txBox="1"/>
          <p:nvPr/>
        </p:nvSpPr>
        <p:spPr>
          <a:xfrm>
            <a:off x="4837325" y="774438"/>
            <a:ext cx="3902100" cy="3551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sz="1100"/>
              <a:t>192 channels: gain of 500 and sampling frequency at 2048 Hz. </a:t>
            </a:r>
            <a:endParaRPr sz="1100"/>
          </a:p>
          <a:p>
            <a:pPr indent="-260350" lvl="0" marL="342900" rtl="0" algn="l">
              <a:lnSpc>
                <a:spcPct val="130000"/>
              </a:lnSpc>
              <a:spcBef>
                <a:spcPts val="480"/>
              </a:spcBef>
              <a:spcAft>
                <a:spcPts val="0"/>
              </a:spcAft>
              <a:buClr>
                <a:schemeClr val="dk1"/>
              </a:buClr>
              <a:buSzPts val="1100"/>
              <a:buChar char="➔"/>
            </a:pPr>
            <a:r>
              <a:rPr lang="it" sz="1100"/>
              <a:t>EMG signals were decomposed into MUSTs following preprocessing. Then the MUAP waveforms were extracted for hand gesture recognition. The high-density EMG signals were decomposed ofﬂine into MUSTs with the convolution kernel compensation (CKC) algorithm.</a:t>
            </a:r>
            <a:endParaRPr sz="1100"/>
          </a:p>
          <a:p>
            <a:pPr indent="-260350" lvl="0" marL="342900" rtl="0" algn="l">
              <a:lnSpc>
                <a:spcPct val="130000"/>
              </a:lnSpc>
              <a:spcBef>
                <a:spcPts val="480"/>
              </a:spcBef>
              <a:spcAft>
                <a:spcPts val="0"/>
              </a:spcAft>
              <a:buClr>
                <a:schemeClr val="dk1"/>
              </a:buClr>
              <a:buSzPts val="1100"/>
              <a:buChar char="➔"/>
            </a:pPr>
            <a:r>
              <a:rPr lang="it" sz="1100"/>
              <a:t>Motion recognition: The ﬁrst approach utilized the MUSTs and MUAPs from the EMG decomposition. The second approach was based on the RMS feature, as a classic TD feature extracted from EMG signals used in gesture recognition.</a:t>
            </a:r>
            <a:endParaRPr sz="1100"/>
          </a:p>
          <a:p>
            <a:pPr indent="0" lvl="0" marL="0" rtl="0" algn="l">
              <a:lnSpc>
                <a:spcPct val="130000"/>
              </a:lnSpc>
              <a:spcBef>
                <a:spcPts val="480"/>
              </a:spcBef>
              <a:spcAft>
                <a:spcPts val="0"/>
              </a:spcAft>
              <a:buNone/>
            </a:pPr>
            <a:r>
              <a:t/>
            </a:r>
            <a:endParaRPr sz="1100"/>
          </a:p>
          <a:p>
            <a:pPr indent="-260350" lvl="0" marL="342900" rtl="0" algn="l">
              <a:lnSpc>
                <a:spcPct val="130000"/>
              </a:lnSpc>
              <a:spcBef>
                <a:spcPts val="480"/>
              </a:spcBef>
              <a:spcAft>
                <a:spcPts val="0"/>
              </a:spcAft>
              <a:buClr>
                <a:schemeClr val="dk1"/>
              </a:buClr>
              <a:buSzPts val="1100"/>
              <a:buChar char="➔"/>
            </a:pPr>
            <a:r>
              <a:t/>
            </a:r>
            <a:endParaRPr sz="1100"/>
          </a:p>
          <a:p>
            <a:pPr indent="0" lvl="0" marL="0" rtl="0" algn="l">
              <a:lnSpc>
                <a:spcPct val="130000"/>
              </a:lnSpc>
              <a:spcBef>
                <a:spcPts val="480"/>
              </a:spcBef>
              <a:spcAft>
                <a:spcPts val="0"/>
              </a:spcAft>
              <a:buNone/>
            </a:pPr>
            <a:r>
              <a:t/>
            </a:r>
            <a:endParaRPr sz="1100"/>
          </a:p>
          <a:p>
            <a:pPr indent="0" lvl="0" marL="342900" rtl="0" algn="l">
              <a:lnSpc>
                <a:spcPct val="130000"/>
              </a:lnSpc>
              <a:spcBef>
                <a:spcPts val="480"/>
              </a:spcBef>
              <a:spcAft>
                <a:spcPts val="0"/>
              </a:spcAft>
              <a:buNone/>
            </a:pPr>
            <a:r>
              <a:t/>
            </a:r>
            <a:endParaRPr sz="11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6" name="Shape 906"/>
        <p:cNvGrpSpPr/>
        <p:nvPr/>
      </p:nvGrpSpPr>
      <p:grpSpPr>
        <a:xfrm>
          <a:off x="0" y="0"/>
          <a:ext cx="0" cy="0"/>
          <a:chOff x="0" y="0"/>
          <a:chExt cx="0" cy="0"/>
        </a:xfrm>
      </p:grpSpPr>
      <p:sp>
        <p:nvSpPr>
          <p:cNvPr id="907" name="Google Shape;907;p103"/>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908" name="Google Shape;908;p103"/>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rPr lang="it"/>
              <a:t>Hand gesture recognition based on motor unit spike trains decoded from high-density electromyography</a:t>
            </a:r>
            <a:endParaRPr/>
          </a:p>
          <a:p>
            <a:pPr indent="0" lvl="0" marL="0" rtl="0" algn="ctr">
              <a:spcBef>
                <a:spcPts val="0"/>
              </a:spcBef>
              <a:spcAft>
                <a:spcPts val="0"/>
              </a:spcAft>
              <a:buClr>
                <a:schemeClr val="dk1"/>
              </a:buClr>
              <a:buSzPts val="1100"/>
              <a:buFont typeface="Arial"/>
              <a:buNone/>
            </a:pPr>
            <a:r>
              <a:t/>
            </a:r>
            <a:endParaRPr/>
          </a:p>
        </p:txBody>
      </p:sp>
      <p:sp>
        <p:nvSpPr>
          <p:cNvPr id="909" name="Google Shape;909;p103"/>
          <p:cNvSpPr txBox="1"/>
          <p:nvPr/>
        </p:nvSpPr>
        <p:spPr>
          <a:xfrm>
            <a:off x="311700" y="774450"/>
            <a:ext cx="3902100" cy="3551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sz="1100"/>
              <a:t>The MUAP waveforms were classiﬁed into 11 groups corresponding to the motions. The rest task was not taken into consideration since few motor unit discharges were identiﬁed during this task.</a:t>
            </a:r>
            <a:endParaRPr sz="1100"/>
          </a:p>
          <a:p>
            <a:pPr indent="-260350" lvl="0" marL="342900" rtl="0" algn="l">
              <a:lnSpc>
                <a:spcPct val="130000"/>
              </a:lnSpc>
              <a:spcBef>
                <a:spcPts val="480"/>
              </a:spcBef>
              <a:spcAft>
                <a:spcPts val="0"/>
              </a:spcAft>
              <a:buClr>
                <a:schemeClr val="dk1"/>
              </a:buClr>
              <a:buSzPts val="1100"/>
              <a:buChar char="➔"/>
            </a:pPr>
            <a:r>
              <a:rPr lang="it" sz="1100"/>
              <a:t>This approach decodes hand gestures by first using </a:t>
            </a:r>
            <a:r>
              <a:rPr b="1" lang="it" sz="1100"/>
              <a:t>Blind Source Separation (BSS)</a:t>
            </a:r>
            <a:r>
              <a:rPr lang="it" sz="1100"/>
              <a:t> on </a:t>
            </a:r>
            <a:r>
              <a:rPr b="1" lang="it" sz="1100"/>
              <a:t>High-Density EMG</a:t>
            </a:r>
            <a:r>
              <a:rPr lang="it" sz="1100"/>
              <a:t> to extract the </a:t>
            </a:r>
            <a:r>
              <a:rPr b="1" lang="it" sz="1100"/>
              <a:t>Motor Unit Spike Trains (MUSTs)</a:t>
            </a:r>
            <a:r>
              <a:rPr lang="it" sz="1100"/>
              <a:t> (the actual neural commands). An </a:t>
            </a:r>
            <a:r>
              <a:rPr b="1" lang="it" sz="1100"/>
              <a:t>SVM</a:t>
            </a:r>
            <a:r>
              <a:rPr lang="it" sz="1100"/>
              <a:t> is then trained </a:t>
            </a:r>
            <a:r>
              <a:rPr b="1" lang="it" sz="1100"/>
              <a:t>offline</a:t>
            </a:r>
            <a:r>
              <a:rPr lang="it" sz="1100"/>
              <a:t> to associate the cleaned neural signatures (MUAP waveforms) with 11 specific movements. </a:t>
            </a:r>
            <a:r>
              <a:rPr b="1" lang="it" sz="1100"/>
              <a:t>Online</a:t>
            </a:r>
            <a:r>
              <a:rPr lang="it" sz="1100"/>
              <a:t>, a </a:t>
            </a:r>
            <a:r>
              <a:rPr b="1" lang="it" sz="1100"/>
              <a:t>voting machine</a:t>
            </a:r>
            <a:r>
              <a:rPr lang="it" sz="1100"/>
              <a:t> classifies the gesture by identifying which group of motoneurons exhibits the highest </a:t>
            </a:r>
            <a:r>
              <a:rPr b="1" lang="it" sz="1100"/>
              <a:t>discharge rate</a:t>
            </a:r>
            <a:r>
              <a:rPr lang="it" sz="1100"/>
              <a:t> within a 200 ms sliding window.</a:t>
            </a:r>
            <a:endParaRPr sz="1100"/>
          </a:p>
        </p:txBody>
      </p:sp>
      <p:sp>
        <p:nvSpPr>
          <p:cNvPr id="910" name="Google Shape;910;p103"/>
          <p:cNvSpPr txBox="1"/>
          <p:nvPr/>
        </p:nvSpPr>
        <p:spPr>
          <a:xfrm>
            <a:off x="4837325" y="774438"/>
            <a:ext cx="3902100" cy="3551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60350" lvl="0" marL="342900" rtl="0" algn="l">
              <a:lnSpc>
                <a:spcPct val="130000"/>
              </a:lnSpc>
              <a:spcBef>
                <a:spcPts val="480"/>
              </a:spcBef>
              <a:spcAft>
                <a:spcPts val="0"/>
              </a:spcAft>
              <a:buClr>
                <a:schemeClr val="dk1"/>
              </a:buClr>
              <a:buSzPts val="1100"/>
              <a:buChar char="➔"/>
            </a:pPr>
            <a:r>
              <a:rPr lang="it" sz="1100"/>
              <a:t>Kolgomorov tells us if the data are normally distributed so that we can evaluate with ANOVA.</a:t>
            </a:r>
            <a:endParaRPr sz="1100"/>
          </a:p>
          <a:p>
            <a:pPr indent="0" lvl="0" marL="0" rtl="0" algn="l">
              <a:lnSpc>
                <a:spcPct val="130000"/>
              </a:lnSpc>
              <a:spcBef>
                <a:spcPts val="480"/>
              </a:spcBef>
              <a:spcAft>
                <a:spcPts val="0"/>
              </a:spcAft>
              <a:buNone/>
            </a:pPr>
            <a:r>
              <a:t/>
            </a:r>
            <a:endParaRPr sz="1100"/>
          </a:p>
          <a:p>
            <a:pPr indent="-260350" lvl="0" marL="342900" rtl="0" algn="l">
              <a:lnSpc>
                <a:spcPct val="130000"/>
              </a:lnSpc>
              <a:spcBef>
                <a:spcPts val="480"/>
              </a:spcBef>
              <a:spcAft>
                <a:spcPts val="0"/>
              </a:spcAft>
              <a:buClr>
                <a:schemeClr val="dk1"/>
              </a:buClr>
              <a:buSzPts val="1100"/>
              <a:buChar char="➔"/>
            </a:pPr>
            <a:r>
              <a:rPr lang="it" sz="1100"/>
              <a:t>Il </a:t>
            </a:r>
            <a:r>
              <a:rPr b="1" lang="it" sz="1100"/>
              <a:t>Motor Unit Spike Train (MUST)</a:t>
            </a:r>
            <a:r>
              <a:rPr lang="it" sz="1100"/>
              <a:t> fornisce solo la sequenza temporale (</a:t>
            </a:r>
            <a:r>
              <a:rPr i="1" lang="it" sz="1100"/>
              <a:t>quando</a:t>
            </a:r>
            <a:r>
              <a:rPr lang="it" sz="1100"/>
              <a:t>) il neurone ha sparato. Non dice </a:t>
            </a:r>
            <a:r>
              <a:rPr b="1" lang="it" sz="1100"/>
              <a:t>quale</a:t>
            </a:r>
            <a:r>
              <a:rPr lang="it" sz="1100"/>
              <a:t> muscolo è stato attivato né </a:t>
            </a:r>
            <a:r>
              <a:rPr b="1" lang="it" sz="1100"/>
              <a:t>dove</a:t>
            </a:r>
            <a:r>
              <a:rPr lang="it" sz="1100"/>
              <a:t> si trova il neurone. Per sapere se un MUST appartiene al gesto di </a:t>
            </a:r>
            <a:r>
              <a:rPr i="1" lang="it" sz="1100"/>
              <a:t>Flessione</a:t>
            </a:r>
            <a:r>
              <a:rPr lang="it" sz="1100"/>
              <a:t> o </a:t>
            </a:r>
            <a:r>
              <a:rPr i="1" lang="it" sz="1100"/>
              <a:t>Estensione</a:t>
            </a:r>
            <a:r>
              <a:rPr lang="it" sz="1100"/>
              <a:t>, i ricercatori hanno dovuto usare le </a:t>
            </a:r>
            <a:r>
              <a:rPr b="1" lang="it" sz="1100"/>
              <a:t>MUAP (Motor Unit Action Potential)</a:t>
            </a:r>
            <a:r>
              <a:rPr lang="it" sz="1100"/>
              <a:t> multicanale. La MUAP contiene l'</a:t>
            </a:r>
            <a:r>
              <a:rPr b="1" lang="it" sz="1100"/>
              <a:t>informazione spaziale</a:t>
            </a:r>
            <a:r>
              <a:rPr lang="it" sz="1100"/>
              <a:t>—la sua forma e ampiezza mostrano </a:t>
            </a:r>
            <a:r>
              <a:rPr i="1" lang="it" sz="1100"/>
              <a:t>dove</a:t>
            </a:r>
            <a:r>
              <a:rPr lang="it" sz="1100"/>
              <a:t> il segnale è più forte sulla griglia di elettrodi, indicando così il muscolo specifico attivato.</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342900" rtl="0" algn="l">
              <a:lnSpc>
                <a:spcPct val="130000"/>
              </a:lnSpc>
              <a:spcBef>
                <a:spcPts val="480"/>
              </a:spcBef>
              <a:spcAft>
                <a:spcPts val="0"/>
              </a:spcAft>
              <a:buNone/>
            </a:pPr>
            <a:r>
              <a:t/>
            </a:r>
            <a:endParaRPr sz="1100"/>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4" name="Shape 914"/>
        <p:cNvGrpSpPr/>
        <p:nvPr/>
      </p:nvGrpSpPr>
      <p:grpSpPr>
        <a:xfrm>
          <a:off x="0" y="0"/>
          <a:ext cx="0" cy="0"/>
          <a:chOff x="0" y="0"/>
          <a:chExt cx="0" cy="0"/>
        </a:xfrm>
      </p:grpSpPr>
      <p:sp>
        <p:nvSpPr>
          <p:cNvPr id="915" name="Google Shape;915;p104"/>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916" name="Google Shape;916;p104"/>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rPr lang="it"/>
              <a:t>Hand gesture recognition based on motor unit spike trains decoded from high-density electromyography</a:t>
            </a:r>
            <a:endParaRPr/>
          </a:p>
          <a:p>
            <a:pPr indent="0" lvl="0" marL="0" rtl="0" algn="ctr">
              <a:spcBef>
                <a:spcPts val="0"/>
              </a:spcBef>
              <a:spcAft>
                <a:spcPts val="0"/>
              </a:spcAft>
              <a:buClr>
                <a:schemeClr val="dk1"/>
              </a:buClr>
              <a:buSzPts val="1100"/>
              <a:buFont typeface="Arial"/>
              <a:buNone/>
            </a:pPr>
            <a:r>
              <a:t/>
            </a:r>
            <a:endParaRPr/>
          </a:p>
        </p:txBody>
      </p:sp>
      <p:sp>
        <p:nvSpPr>
          <p:cNvPr id="917" name="Google Shape;917;p104"/>
          <p:cNvSpPr txBox="1"/>
          <p:nvPr/>
        </p:nvSpPr>
        <p:spPr>
          <a:xfrm>
            <a:off x="311700" y="774450"/>
            <a:ext cx="8387100" cy="3551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60350" lvl="0" marL="342900" rtl="0" algn="l">
              <a:lnSpc>
                <a:spcPct val="130000"/>
              </a:lnSpc>
              <a:spcBef>
                <a:spcPts val="480"/>
              </a:spcBef>
              <a:spcAft>
                <a:spcPts val="0"/>
              </a:spcAft>
              <a:buClr>
                <a:schemeClr val="dk1"/>
              </a:buClr>
              <a:buSzPts val="1100"/>
              <a:buChar char="➔"/>
            </a:pPr>
            <a:r>
              <a:rPr lang="it" sz="1100"/>
              <a:t>Questo metodo può essere applicato anche per non TMR amputees, invece per TMR funziona ovviamente meglio. </a:t>
            </a:r>
            <a:endParaRPr sz="1100"/>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1" name="Shape 921"/>
        <p:cNvGrpSpPr/>
        <p:nvPr/>
      </p:nvGrpSpPr>
      <p:grpSpPr>
        <a:xfrm>
          <a:off x="0" y="0"/>
          <a:ext cx="0" cy="0"/>
          <a:chOff x="0" y="0"/>
          <a:chExt cx="0" cy="0"/>
        </a:xfrm>
      </p:grpSpPr>
      <p:sp>
        <p:nvSpPr>
          <p:cNvPr id="922" name="Google Shape;922;p105"/>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923" name="Google Shape;923;p105"/>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rPr lang="it"/>
              <a:t>Hand gesture recognition based on motor unit spike trains decoded from high-density electromyography</a:t>
            </a:r>
            <a:endParaRPr/>
          </a:p>
          <a:p>
            <a:pPr indent="0" lvl="0" marL="0" rtl="0" algn="ctr">
              <a:spcBef>
                <a:spcPts val="0"/>
              </a:spcBef>
              <a:spcAft>
                <a:spcPts val="0"/>
              </a:spcAft>
              <a:buClr>
                <a:schemeClr val="dk1"/>
              </a:buClr>
              <a:buSzPts val="1100"/>
              <a:buFont typeface="Arial"/>
              <a:buNone/>
            </a:pPr>
            <a:r>
              <a:t/>
            </a:r>
            <a:endParaRPr/>
          </a:p>
        </p:txBody>
      </p:sp>
      <p:pic>
        <p:nvPicPr>
          <p:cNvPr id="924" name="Google Shape;924;p105" title="Screenshot from 2025-10-10 10-16-05.png"/>
          <p:cNvPicPr preferRelativeResize="0"/>
          <p:nvPr/>
        </p:nvPicPr>
        <p:blipFill>
          <a:blip r:embed="rId3">
            <a:alphaModFix/>
          </a:blip>
          <a:stretch>
            <a:fillRect/>
          </a:stretch>
        </p:blipFill>
        <p:spPr>
          <a:xfrm>
            <a:off x="5017275" y="1590375"/>
            <a:ext cx="3815025" cy="1812528"/>
          </a:xfrm>
          <a:prstGeom prst="rect">
            <a:avLst/>
          </a:prstGeom>
          <a:noFill/>
          <a:ln>
            <a:noFill/>
          </a:ln>
        </p:spPr>
      </p:pic>
      <p:pic>
        <p:nvPicPr>
          <p:cNvPr id="925" name="Google Shape;925;p105" title="Screenshot from 2025-10-10 10-46-57.png"/>
          <p:cNvPicPr preferRelativeResize="0"/>
          <p:nvPr/>
        </p:nvPicPr>
        <p:blipFill>
          <a:blip r:embed="rId4">
            <a:alphaModFix/>
          </a:blip>
          <a:stretch>
            <a:fillRect/>
          </a:stretch>
        </p:blipFill>
        <p:spPr>
          <a:xfrm>
            <a:off x="120575" y="1590375"/>
            <a:ext cx="4697924" cy="190015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9" name="Shape 929"/>
        <p:cNvGrpSpPr/>
        <p:nvPr/>
      </p:nvGrpSpPr>
      <p:grpSpPr>
        <a:xfrm>
          <a:off x="0" y="0"/>
          <a:ext cx="0" cy="0"/>
          <a:chOff x="0" y="0"/>
          <a:chExt cx="0" cy="0"/>
        </a:xfrm>
      </p:grpSpPr>
      <p:sp>
        <p:nvSpPr>
          <p:cNvPr id="930" name="Google Shape;930;p106"/>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931" name="Google Shape;931;p106"/>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it"/>
              <a:t>EMG Based Pattern Recognition Control: Review(2019)</a:t>
            </a:r>
            <a:endParaRPr/>
          </a:p>
        </p:txBody>
      </p:sp>
      <p:sp>
        <p:nvSpPr>
          <p:cNvPr id="932" name="Google Shape;932;p106"/>
          <p:cNvSpPr txBox="1"/>
          <p:nvPr/>
        </p:nvSpPr>
        <p:spPr>
          <a:xfrm>
            <a:off x="311700" y="1192700"/>
            <a:ext cx="1882800" cy="31326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0" lvl="0" marL="342900" rtl="0" algn="l">
              <a:lnSpc>
                <a:spcPct val="130000"/>
              </a:lnSpc>
              <a:spcBef>
                <a:spcPts val="480"/>
              </a:spcBef>
              <a:spcAft>
                <a:spcPts val="0"/>
              </a:spcAft>
              <a:buNone/>
            </a:pPr>
            <a:r>
              <a:t/>
            </a:r>
            <a:endParaRPr sz="1100"/>
          </a:p>
        </p:txBody>
      </p:sp>
      <p:pic>
        <p:nvPicPr>
          <p:cNvPr id="933" name="Google Shape;933;p106" title="Screenshot from 2025-10-10 12-02-58.png"/>
          <p:cNvPicPr preferRelativeResize="0"/>
          <p:nvPr/>
        </p:nvPicPr>
        <p:blipFill>
          <a:blip r:embed="rId3">
            <a:alphaModFix/>
          </a:blip>
          <a:stretch>
            <a:fillRect/>
          </a:stretch>
        </p:blipFill>
        <p:spPr>
          <a:xfrm>
            <a:off x="5954350" y="956088"/>
            <a:ext cx="2482100" cy="3231325"/>
          </a:xfrm>
          <a:prstGeom prst="rect">
            <a:avLst/>
          </a:prstGeom>
          <a:noFill/>
          <a:ln>
            <a:noFill/>
          </a:ln>
        </p:spPr>
      </p:pic>
      <p:pic>
        <p:nvPicPr>
          <p:cNvPr id="934" name="Google Shape;934;p106" title="Screenshot from 2025-10-10 12-07-55.png"/>
          <p:cNvPicPr preferRelativeResize="0"/>
          <p:nvPr/>
        </p:nvPicPr>
        <p:blipFill>
          <a:blip r:embed="rId4">
            <a:alphaModFix/>
          </a:blip>
          <a:stretch>
            <a:fillRect/>
          </a:stretch>
        </p:blipFill>
        <p:spPr>
          <a:xfrm>
            <a:off x="2571775" y="875988"/>
            <a:ext cx="3089905" cy="339155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8" name="Shape 938"/>
        <p:cNvGrpSpPr/>
        <p:nvPr/>
      </p:nvGrpSpPr>
      <p:grpSpPr>
        <a:xfrm>
          <a:off x="0" y="0"/>
          <a:ext cx="0" cy="0"/>
          <a:chOff x="0" y="0"/>
          <a:chExt cx="0" cy="0"/>
        </a:xfrm>
      </p:grpSpPr>
      <p:sp>
        <p:nvSpPr>
          <p:cNvPr id="939" name="Google Shape;939;p107"/>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940" name="Google Shape;940;p107"/>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None/>
            </a:pPr>
            <a:r>
              <a:rPr lang="it"/>
              <a:t> A synergy-based hand control is encoded in human motor cortical areas</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p:txBody>
      </p:sp>
      <p:sp>
        <p:nvSpPr>
          <p:cNvPr id="941" name="Google Shape;941;p107"/>
          <p:cNvSpPr txBox="1"/>
          <p:nvPr/>
        </p:nvSpPr>
        <p:spPr>
          <a:xfrm>
            <a:off x="311700" y="774450"/>
            <a:ext cx="8387100" cy="21516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60350" lvl="0" marL="342900" rtl="0" algn="l">
              <a:lnSpc>
                <a:spcPct val="130000"/>
              </a:lnSpc>
              <a:spcBef>
                <a:spcPts val="480"/>
              </a:spcBef>
              <a:spcAft>
                <a:spcPts val="0"/>
              </a:spcAft>
              <a:buClr>
                <a:schemeClr val="dk1"/>
              </a:buClr>
              <a:buSzPts val="1100"/>
              <a:buChar char="➔"/>
            </a:pPr>
            <a:r>
              <a:rPr lang="it" sz="1100"/>
              <a:t> suggerisce che il comando corticale (il "pensiero" del movimento) è più fedelmente rappresentato dalle </a:t>
            </a:r>
            <a:r>
              <a:rPr b="1" lang="it" sz="1100"/>
              <a:t>sinergie cinematiche</a:t>
            </a:r>
            <a:r>
              <a:rPr lang="it" sz="1100"/>
              <a:t> (come le dita </a:t>
            </a:r>
            <a:r>
              <a:rPr i="1" lang="it" sz="1100"/>
              <a:t>dovrebbero</a:t>
            </a:r>
            <a:r>
              <a:rPr lang="it" sz="1100"/>
              <a:t> muoversi) che dalle </a:t>
            </a:r>
            <a:r>
              <a:rPr b="1" lang="it" sz="1100"/>
              <a:t>sinergie muscolari</a:t>
            </a:r>
            <a:r>
              <a:rPr lang="it" sz="1100"/>
              <a:t> (come i muscoli </a:t>
            </a:r>
            <a:r>
              <a:rPr i="1" lang="it" sz="1100"/>
              <a:t>si attivano</a:t>
            </a:r>
            <a:r>
              <a:rPr lang="it" sz="1100"/>
              <a:t>).</a:t>
            </a:r>
            <a:endParaRPr sz="1100"/>
          </a:p>
          <a:p>
            <a:pPr indent="-260350" lvl="0" marL="342900" rtl="0" algn="l">
              <a:lnSpc>
                <a:spcPct val="130000"/>
              </a:lnSpc>
              <a:spcBef>
                <a:spcPts val="480"/>
              </a:spcBef>
              <a:spcAft>
                <a:spcPts val="0"/>
              </a:spcAft>
              <a:buClr>
                <a:schemeClr val="dk1"/>
              </a:buClr>
              <a:buSzPts val="1100"/>
              <a:buChar char="➔"/>
            </a:pPr>
            <a:r>
              <a:rPr lang="it" sz="1100"/>
              <a:t>Grasp Aperture Synergies, Fingertip Orientation Synergies, Force Control Synergies</a:t>
            </a:r>
            <a:endParaRPr sz="1100"/>
          </a:p>
          <a:p>
            <a:pPr indent="0" lvl="0" marL="0" rtl="0" algn="l">
              <a:lnSpc>
                <a:spcPct val="130000"/>
              </a:lnSpc>
              <a:spcBef>
                <a:spcPts val="480"/>
              </a:spcBef>
              <a:spcAft>
                <a:spcPts val="0"/>
              </a:spcAft>
              <a:buNone/>
            </a:pPr>
            <a:r>
              <a:t/>
            </a:r>
            <a:endParaRPr sz="1100"/>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5" name="Shape 945"/>
        <p:cNvGrpSpPr/>
        <p:nvPr/>
      </p:nvGrpSpPr>
      <p:grpSpPr>
        <a:xfrm>
          <a:off x="0" y="0"/>
          <a:ext cx="0" cy="0"/>
          <a:chOff x="0" y="0"/>
          <a:chExt cx="0" cy="0"/>
        </a:xfrm>
      </p:grpSpPr>
      <p:sp>
        <p:nvSpPr>
          <p:cNvPr id="946" name="Google Shape;946;p108"/>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947" name="Google Shape;947;p108"/>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None/>
            </a:pPr>
            <a:r>
              <a:rPr lang="it"/>
              <a:t> Neural bases of hand synergies</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p:txBody>
      </p:sp>
      <p:sp>
        <p:nvSpPr>
          <p:cNvPr id="948" name="Google Shape;948;p108"/>
          <p:cNvSpPr txBox="1"/>
          <p:nvPr/>
        </p:nvSpPr>
        <p:spPr>
          <a:xfrm>
            <a:off x="445200" y="2991900"/>
            <a:ext cx="8387100" cy="21516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60350" lvl="0" marL="342900" rtl="0" algn="l">
              <a:lnSpc>
                <a:spcPct val="130000"/>
              </a:lnSpc>
              <a:spcBef>
                <a:spcPts val="480"/>
              </a:spcBef>
              <a:spcAft>
                <a:spcPts val="0"/>
              </a:spcAft>
              <a:buClr>
                <a:schemeClr val="dk1"/>
              </a:buClr>
              <a:buSzPts val="1100"/>
              <a:buChar char="➔"/>
            </a:pPr>
            <a:r>
              <a:rPr lang="it" sz="1100"/>
              <a:t> The main goal of our study was to examine how combined kinematic and kinetic grip constraints are reflected in kinematic synergies and in muscle synergies. synergies of muscular activation are at least in part at the origin of kinematic synergies during upper limb reach-and-grasp movements.</a:t>
            </a:r>
            <a:endParaRPr sz="1100"/>
          </a:p>
          <a:p>
            <a:pPr indent="-260350" lvl="0" marL="342900" rtl="0" algn="l">
              <a:lnSpc>
                <a:spcPct val="130000"/>
              </a:lnSpc>
              <a:spcBef>
                <a:spcPts val="480"/>
              </a:spcBef>
              <a:spcAft>
                <a:spcPts val="0"/>
              </a:spcAft>
              <a:buClr>
                <a:schemeClr val="dk1"/>
              </a:buClr>
              <a:buSzPts val="1100"/>
              <a:buChar char="➔"/>
            </a:pPr>
            <a:r>
              <a:t/>
            </a:r>
            <a:endParaRPr sz="1100"/>
          </a:p>
          <a:p>
            <a:pPr indent="-260350" lvl="0" marL="342900" rtl="0" algn="l">
              <a:lnSpc>
                <a:spcPct val="130000"/>
              </a:lnSpc>
              <a:spcBef>
                <a:spcPts val="480"/>
              </a:spcBef>
              <a:spcAft>
                <a:spcPts val="0"/>
              </a:spcAft>
              <a:buClr>
                <a:schemeClr val="dk1"/>
              </a:buClr>
              <a:buSzPts val="1100"/>
              <a:buChar char="➔"/>
            </a:pPr>
            <a:r>
              <a:t/>
            </a:r>
            <a:endParaRPr sz="1100"/>
          </a:p>
          <a:p>
            <a:pPr indent="0" lvl="0" marL="0" rtl="0" algn="l">
              <a:lnSpc>
                <a:spcPct val="130000"/>
              </a:lnSpc>
              <a:spcBef>
                <a:spcPts val="480"/>
              </a:spcBef>
              <a:spcAft>
                <a:spcPts val="0"/>
              </a:spcAft>
              <a:buNone/>
            </a:pPr>
            <a:r>
              <a:t/>
            </a:r>
            <a:endParaRPr sz="1100"/>
          </a:p>
        </p:txBody>
      </p:sp>
      <p:sp>
        <p:nvSpPr>
          <p:cNvPr id="949" name="Google Shape;949;p108"/>
          <p:cNvSpPr txBox="1"/>
          <p:nvPr>
            <p:ph type="title"/>
          </p:nvPr>
        </p:nvSpPr>
        <p:spPr>
          <a:xfrm>
            <a:off x="445200" y="2672767"/>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None/>
            </a:pPr>
            <a:r>
              <a:rPr lang="it"/>
              <a:t> </a:t>
            </a:r>
            <a:r>
              <a:rPr lang="it"/>
              <a:t>Differences between kinematic synergies and muscle synergies during two-digit grasping</a:t>
            </a:r>
            <a:endParaRPr/>
          </a:p>
          <a:p>
            <a:pPr indent="0" lvl="0" marL="0" rtl="0" algn="ctr">
              <a:spcBef>
                <a:spcPts val="0"/>
              </a:spcBef>
              <a:spcAft>
                <a:spcPts val="0"/>
              </a:spcAft>
              <a:buNone/>
            </a:pPr>
            <a:r>
              <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3" name="Shape 953"/>
        <p:cNvGrpSpPr/>
        <p:nvPr/>
      </p:nvGrpSpPr>
      <p:grpSpPr>
        <a:xfrm>
          <a:off x="0" y="0"/>
          <a:ext cx="0" cy="0"/>
          <a:chOff x="0" y="0"/>
          <a:chExt cx="0" cy="0"/>
        </a:xfrm>
      </p:grpSpPr>
      <p:sp>
        <p:nvSpPr>
          <p:cNvPr id="954" name="Google Shape;954;p109"/>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rPr lang="it"/>
              <a:t>Kinematic and Dynamic Synergies of Human Precision-Grip Movements</a:t>
            </a:r>
            <a:endParaRPr/>
          </a:p>
          <a:p>
            <a:pPr indent="0" lvl="0" marL="0" rtl="0" algn="ctr">
              <a:spcBef>
                <a:spcPts val="0"/>
              </a:spcBef>
              <a:spcAft>
                <a:spcPts val="0"/>
              </a:spcAft>
              <a:buClr>
                <a:schemeClr val="dk1"/>
              </a:buClr>
              <a:buSzPts val="1100"/>
              <a:buFont typeface="Arial"/>
              <a:buNone/>
            </a:pPr>
            <a:r>
              <a:t/>
            </a:r>
            <a:endParaRPr/>
          </a:p>
        </p:txBody>
      </p:sp>
      <p:sp>
        <p:nvSpPr>
          <p:cNvPr id="955" name="Google Shape;955;p109"/>
          <p:cNvSpPr txBox="1"/>
          <p:nvPr/>
        </p:nvSpPr>
        <p:spPr>
          <a:xfrm>
            <a:off x="311700" y="774450"/>
            <a:ext cx="8387100" cy="21516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60350" lvl="0" marL="342900" rtl="0" algn="l">
              <a:lnSpc>
                <a:spcPct val="130000"/>
              </a:lnSpc>
              <a:spcBef>
                <a:spcPts val="480"/>
              </a:spcBef>
              <a:spcAft>
                <a:spcPts val="0"/>
              </a:spcAft>
              <a:buClr>
                <a:schemeClr val="dk1"/>
              </a:buClr>
              <a:buSzPts val="1100"/>
              <a:buChar char="➔"/>
            </a:pPr>
            <a:r>
              <a:rPr lang="it" sz="1100"/>
              <a:t>For fast precision grip they demonstrate that synergies are dynamic, they use PCA to track how the influence of each synergy changes in each ms of the movement. They divided cinematic synergies and dynamic synergies, the latter dominates the final phase of contact and </a:t>
            </a:r>
            <a:r>
              <a:rPr lang="it" sz="1100"/>
              <a:t>manipulation</a:t>
            </a:r>
            <a:r>
              <a:rPr lang="it" sz="1100"/>
              <a:t>. </a:t>
            </a:r>
            <a:r>
              <a:rPr b="1" lang="it" sz="1100"/>
              <a:t>Fase Iniziale:</a:t>
            </a:r>
            <a:r>
              <a:rPr lang="it" sz="1100"/>
              <a:t> I coefficienti delle sinergie cinematiche (legate all'apertura e alla forma della mano) mostrano un aumento rapido e poi un rallentamento. Questa sinergia è "accesa" per impostare la geometria della mano. </a:t>
            </a:r>
            <a:r>
              <a:rPr b="1" lang="it" sz="1100"/>
              <a:t>Fase Intermedia (Transizione):</a:t>
            </a:r>
            <a:r>
              <a:rPr lang="it" sz="1100"/>
              <a:t> Man mano che la mano si avvicina all'oggetto, il </a:t>
            </a:r>
            <a:r>
              <a:rPr b="1" lang="it" sz="1100"/>
              <a:t>controllo si sposta</a:t>
            </a:r>
            <a:r>
              <a:rPr lang="it" sz="1100"/>
              <a:t>. L'influenza dei coefficienti cinematici diminuisce, mentre i coefficienti delle sinergie dinamiche (legate alle forze esercitate) iniziano ad aumentare. </a:t>
            </a:r>
            <a:r>
              <a:rPr b="1" lang="it" sz="1100"/>
              <a:t>Fase Finale:</a:t>
            </a:r>
            <a:r>
              <a:rPr lang="it" sz="1100"/>
              <a:t> La sinergia dinamica domina. I coefficienti di forza e coppia (</a:t>
            </a:r>
            <a:r>
              <a:rPr i="1" lang="it" sz="1100"/>
              <a:t>torque</a:t>
            </a:r>
            <a:r>
              <a:rPr lang="it" sz="1100"/>
              <a:t>) raggiungono il loro picco e si stabilizzano, riflettendo la fase di controllo della forza sull'oggetto.</a:t>
            </a:r>
            <a:endParaRPr sz="1100"/>
          </a:p>
          <a:p>
            <a:pPr indent="-260350" lvl="0" marL="342900" rtl="0" algn="l">
              <a:lnSpc>
                <a:spcPct val="130000"/>
              </a:lnSpc>
              <a:spcBef>
                <a:spcPts val="480"/>
              </a:spcBef>
              <a:spcAft>
                <a:spcPts val="0"/>
              </a:spcAft>
              <a:buClr>
                <a:schemeClr val="dk1"/>
              </a:buClr>
              <a:buSzPts val="1100"/>
              <a:buChar char="➔"/>
            </a:pPr>
            <a:r>
              <a:t/>
            </a:r>
            <a:endParaRPr sz="1100"/>
          </a:p>
          <a:p>
            <a:pPr indent="0" lvl="0" marL="0" rtl="0" algn="l">
              <a:lnSpc>
                <a:spcPct val="130000"/>
              </a:lnSpc>
              <a:spcBef>
                <a:spcPts val="480"/>
              </a:spcBef>
              <a:spcAft>
                <a:spcPts val="0"/>
              </a:spcAft>
              <a:buNone/>
            </a:pPr>
            <a:r>
              <a:t/>
            </a:r>
            <a:endParaRPr sz="11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9" name="Shape 959"/>
        <p:cNvGrpSpPr/>
        <p:nvPr/>
      </p:nvGrpSpPr>
      <p:grpSpPr>
        <a:xfrm>
          <a:off x="0" y="0"/>
          <a:ext cx="0" cy="0"/>
          <a:chOff x="0" y="0"/>
          <a:chExt cx="0" cy="0"/>
        </a:xfrm>
      </p:grpSpPr>
      <p:sp>
        <p:nvSpPr>
          <p:cNvPr id="960" name="Google Shape;960;p110"/>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it">
                <a:solidFill>
                  <a:schemeClr val="dk1"/>
                </a:solidFill>
              </a:rPr>
              <a:t>Wearable and Ultra-Low-Power Fusion of EMG and</a:t>
            </a:r>
            <a:endParaRPr>
              <a:solidFill>
                <a:schemeClr val="dk1"/>
              </a:solidFill>
            </a:endParaRPr>
          </a:p>
          <a:p>
            <a:pPr indent="0" lvl="0" marL="0" rtl="0" algn="ctr">
              <a:spcBef>
                <a:spcPts val="0"/>
              </a:spcBef>
              <a:spcAft>
                <a:spcPts val="0"/>
              </a:spcAft>
              <a:buNone/>
            </a:pPr>
            <a:r>
              <a:rPr lang="it">
                <a:solidFill>
                  <a:schemeClr val="dk1"/>
                </a:solidFill>
              </a:rPr>
              <a:t>A-Mode US for Hand-Wrist Kinematic Tracking</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p:txBody>
      </p:sp>
      <p:sp>
        <p:nvSpPr>
          <p:cNvPr id="961" name="Google Shape;961;p110"/>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962" name="Google Shape;962;p110"/>
          <p:cNvSpPr txBox="1"/>
          <p:nvPr/>
        </p:nvSpPr>
        <p:spPr>
          <a:xfrm>
            <a:off x="311700" y="787200"/>
            <a:ext cx="4091700" cy="41412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160"/>
              <a:t>ultra-low- power (sub-50 mW) system for concurrent acquisition of 8 channel EMG and 4-channel A-mode US signals, integrating two state-of-the-art platforms into fully wearable, dry-contact armbands. We propose a framework for continuous tracking of 23 degrees of freedom (DoFs), 20 for the hand and 3 for the wrist, using a kinematic glove for ground-truth labeling.</a:t>
            </a:r>
            <a:endParaRPr sz="1160"/>
          </a:p>
          <a:p>
            <a:pPr indent="0" lvl="0" marL="0" rtl="0" algn="l">
              <a:lnSpc>
                <a:spcPct val="130000"/>
              </a:lnSpc>
              <a:spcBef>
                <a:spcPts val="480"/>
              </a:spcBef>
              <a:spcAft>
                <a:spcPts val="0"/>
              </a:spcAft>
              <a:buNone/>
            </a:pPr>
            <a:r>
              <a:rPr lang="it" sz="1160"/>
              <a:t>EMG and US have independently been explored for regression, to the best of our knowledge, no studies have combined them for wearable HGR regression.</a:t>
            </a:r>
            <a:endParaRPr sz="1160"/>
          </a:p>
          <a:p>
            <a:pPr indent="0" lvl="0" marL="0" rtl="0" algn="l">
              <a:lnSpc>
                <a:spcPct val="130000"/>
              </a:lnSpc>
              <a:spcBef>
                <a:spcPts val="480"/>
              </a:spcBef>
              <a:spcAft>
                <a:spcPts val="0"/>
              </a:spcAft>
              <a:buNone/>
            </a:pPr>
            <a:r>
              <a:rPr lang="it" sz="1160"/>
              <a:t>MANUS Quantum Metaglove</a:t>
            </a:r>
            <a:endParaRPr sz="1160"/>
          </a:p>
          <a:p>
            <a:pPr indent="0" lvl="0" marL="0" rtl="0" algn="l">
              <a:lnSpc>
                <a:spcPct val="130000"/>
              </a:lnSpc>
              <a:spcBef>
                <a:spcPts val="480"/>
              </a:spcBef>
              <a:spcAft>
                <a:spcPts val="0"/>
              </a:spcAft>
              <a:buNone/>
            </a:pPr>
            <a:r>
              <a:rPr lang="it" sz="1160"/>
              <a:t>compared to the original Neuropose that predicted only hand joint angles, we support simultaneous prediction of both hand and wrist angles through multitask learning</a:t>
            </a:r>
            <a:endParaRPr sz="1160"/>
          </a:p>
          <a:p>
            <a:pPr indent="0" lvl="0" marL="0" rtl="0" algn="l">
              <a:lnSpc>
                <a:spcPct val="130000"/>
              </a:lnSpc>
              <a:spcBef>
                <a:spcPts val="480"/>
              </a:spcBef>
              <a:spcAft>
                <a:spcPts val="0"/>
              </a:spcAft>
              <a:buNone/>
            </a:pPr>
            <a:r>
              <a:t/>
            </a:r>
            <a:endParaRPr sz="1160"/>
          </a:p>
          <a:p>
            <a:pPr indent="0" lvl="0" marL="0" rtl="0" algn="l">
              <a:lnSpc>
                <a:spcPct val="130000"/>
              </a:lnSpc>
              <a:spcBef>
                <a:spcPts val="480"/>
              </a:spcBef>
              <a:spcAft>
                <a:spcPts val="0"/>
              </a:spcAft>
              <a:buNone/>
            </a:pPr>
            <a:r>
              <a:t/>
            </a:r>
            <a:endParaRPr sz="1160"/>
          </a:p>
          <a:p>
            <a:pPr indent="0" lvl="0" marL="0" rtl="0" algn="l">
              <a:lnSpc>
                <a:spcPct val="130000"/>
              </a:lnSpc>
              <a:spcBef>
                <a:spcPts val="480"/>
              </a:spcBef>
              <a:spcAft>
                <a:spcPts val="0"/>
              </a:spcAft>
              <a:buNone/>
            </a:pPr>
            <a:r>
              <a:t/>
            </a:r>
            <a:endParaRPr sz="1160"/>
          </a:p>
        </p:txBody>
      </p:sp>
      <p:sp>
        <p:nvSpPr>
          <p:cNvPr id="963" name="Google Shape;963;p110"/>
          <p:cNvSpPr txBox="1"/>
          <p:nvPr/>
        </p:nvSpPr>
        <p:spPr>
          <a:xfrm>
            <a:off x="4846275" y="643975"/>
            <a:ext cx="3427200" cy="330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100"/>
              <a:t>1 soggetto, 3 sessioni (re-positioning dei sensori a ogni sessione).</a:t>
            </a:r>
            <a:br>
              <a:rPr lang="it" sz="1100"/>
            </a:br>
            <a:endParaRPr sz="1100"/>
          </a:p>
          <a:p>
            <a:pPr indent="0" lvl="0" marL="0" rtl="0" algn="l">
              <a:spcBef>
                <a:spcPts val="0"/>
              </a:spcBef>
              <a:spcAft>
                <a:spcPts val="0"/>
              </a:spcAft>
              <a:buNone/>
            </a:pPr>
            <a:r>
              <a:rPr lang="it" sz="1100"/>
              <a:t>11 gesture (6 mano, 5 polso):</a:t>
            </a:r>
            <a:br>
              <a:rPr lang="it" sz="1100"/>
            </a:br>
            <a:endParaRPr sz="1100"/>
          </a:p>
          <a:p>
            <a:pPr indent="-279400" lvl="0" marL="457200" rtl="0" algn="l">
              <a:lnSpc>
                <a:spcPct val="115000"/>
              </a:lnSpc>
              <a:spcBef>
                <a:spcPts val="1200"/>
              </a:spcBef>
              <a:spcAft>
                <a:spcPts val="0"/>
              </a:spcAft>
              <a:buSzPts val="800"/>
              <a:buChar char="●"/>
            </a:pPr>
            <a:r>
              <a:rPr lang="it" sz="1100"/>
              <a:t>Mano: open, fist, fine pinch, middle pinch, thumb up/down.</a:t>
            </a:r>
            <a:br>
              <a:rPr lang="it" sz="1100"/>
            </a:br>
            <a:endParaRPr sz="1100"/>
          </a:p>
          <a:p>
            <a:pPr indent="-279400" lvl="0" marL="457200" rtl="0" algn="l">
              <a:lnSpc>
                <a:spcPct val="115000"/>
              </a:lnSpc>
              <a:spcBef>
                <a:spcPts val="0"/>
              </a:spcBef>
              <a:spcAft>
                <a:spcPts val="0"/>
              </a:spcAft>
              <a:buSzPts val="800"/>
              <a:buChar char="●"/>
            </a:pPr>
            <a:r>
              <a:rPr lang="it" sz="1100"/>
              <a:t>Polso: flexion, extension, radial dev., ulnar dev., supination.</a:t>
            </a:r>
            <a:br>
              <a:rPr lang="it" sz="1100"/>
            </a:br>
            <a:endParaRPr sz="1100"/>
          </a:p>
          <a:p>
            <a:pPr indent="0" lvl="0" marL="0" rtl="0" algn="l">
              <a:lnSpc>
                <a:spcPct val="115000"/>
              </a:lnSpc>
              <a:spcBef>
                <a:spcPts val="1200"/>
              </a:spcBef>
              <a:spcAft>
                <a:spcPts val="0"/>
              </a:spcAft>
              <a:buNone/>
            </a:pPr>
            <a:r>
              <a:rPr lang="it" sz="1100"/>
              <a:t>Ogni gesto tenuto per 4 s × 6 ripetizioni per set × 5 set/sessione.</a:t>
            </a:r>
            <a:br>
              <a:rPr lang="it" sz="1100"/>
            </a:br>
            <a:endParaRPr sz="1100"/>
          </a:p>
          <a:p>
            <a:pPr indent="0" lvl="0" marL="0" rtl="0" algn="l">
              <a:spcBef>
                <a:spcPts val="0"/>
              </a:spcBef>
              <a:spcAft>
                <a:spcPts val="0"/>
              </a:spcAft>
              <a:buNone/>
            </a:pPr>
            <a:r>
              <a:rPr lang="it" sz="1100"/>
              <a:t>Totale ≈ 5.5 min per set, ≈ 16.5 </a:t>
            </a:r>
            <a:r>
              <a:rPr lang="it"/>
              <a:t>mis/sessione</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7" name="Shape 967"/>
        <p:cNvGrpSpPr/>
        <p:nvPr/>
      </p:nvGrpSpPr>
      <p:grpSpPr>
        <a:xfrm>
          <a:off x="0" y="0"/>
          <a:ext cx="0" cy="0"/>
          <a:chOff x="0" y="0"/>
          <a:chExt cx="0" cy="0"/>
        </a:xfrm>
      </p:grpSpPr>
      <p:sp>
        <p:nvSpPr>
          <p:cNvPr id="968" name="Google Shape;968;p111"/>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it">
                <a:solidFill>
                  <a:schemeClr val="dk1"/>
                </a:solidFill>
              </a:rPr>
              <a:t>Wearable and Ultra-Low-Power Fusion of EMG and</a:t>
            </a:r>
            <a:endParaRPr>
              <a:solidFill>
                <a:schemeClr val="dk1"/>
              </a:solidFill>
            </a:endParaRPr>
          </a:p>
          <a:p>
            <a:pPr indent="0" lvl="0" marL="0" rtl="0" algn="ctr">
              <a:spcBef>
                <a:spcPts val="0"/>
              </a:spcBef>
              <a:spcAft>
                <a:spcPts val="0"/>
              </a:spcAft>
              <a:buNone/>
            </a:pPr>
            <a:r>
              <a:rPr lang="it">
                <a:solidFill>
                  <a:schemeClr val="dk1"/>
                </a:solidFill>
              </a:rPr>
              <a:t>A-Mode US for Hand-Wrist Kinematic Tracking</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p:txBody>
      </p:sp>
      <p:sp>
        <p:nvSpPr>
          <p:cNvPr id="969" name="Google Shape;969;p111"/>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pic>
        <p:nvPicPr>
          <p:cNvPr id="970" name="Google Shape;970;p111" title="Screenshot from 2025-10-04 13-14-16.png"/>
          <p:cNvPicPr preferRelativeResize="0"/>
          <p:nvPr/>
        </p:nvPicPr>
        <p:blipFill>
          <a:blip r:embed="rId3">
            <a:alphaModFix/>
          </a:blip>
          <a:stretch>
            <a:fillRect/>
          </a:stretch>
        </p:blipFill>
        <p:spPr>
          <a:xfrm>
            <a:off x="6205625" y="2141050"/>
            <a:ext cx="2760503" cy="1194400"/>
          </a:xfrm>
          <a:prstGeom prst="rect">
            <a:avLst/>
          </a:prstGeom>
          <a:noFill/>
          <a:ln>
            <a:noFill/>
          </a:ln>
        </p:spPr>
      </p:pic>
      <p:pic>
        <p:nvPicPr>
          <p:cNvPr id="971" name="Google Shape;971;p111" title="Screenshot from 2025-10-04 13-22-45.png"/>
          <p:cNvPicPr preferRelativeResize="0"/>
          <p:nvPr/>
        </p:nvPicPr>
        <p:blipFill>
          <a:blip r:embed="rId4">
            <a:alphaModFix/>
          </a:blip>
          <a:stretch>
            <a:fillRect/>
          </a:stretch>
        </p:blipFill>
        <p:spPr>
          <a:xfrm>
            <a:off x="3290013" y="827738"/>
            <a:ext cx="2650626" cy="2467150"/>
          </a:xfrm>
          <a:prstGeom prst="rect">
            <a:avLst/>
          </a:prstGeom>
          <a:noFill/>
          <a:ln>
            <a:noFill/>
          </a:ln>
        </p:spPr>
      </p:pic>
      <p:pic>
        <p:nvPicPr>
          <p:cNvPr id="972" name="Google Shape;972;p111" title="Screenshot from 2025-10-18 11-38-55.png"/>
          <p:cNvPicPr preferRelativeResize="0"/>
          <p:nvPr/>
        </p:nvPicPr>
        <p:blipFill>
          <a:blip r:embed="rId5">
            <a:alphaModFix/>
          </a:blip>
          <a:stretch>
            <a:fillRect/>
          </a:stretch>
        </p:blipFill>
        <p:spPr>
          <a:xfrm>
            <a:off x="2790425" y="3335462"/>
            <a:ext cx="6241305" cy="1194387"/>
          </a:xfrm>
          <a:prstGeom prst="rect">
            <a:avLst/>
          </a:prstGeom>
          <a:noFill/>
          <a:ln>
            <a:noFill/>
          </a:ln>
        </p:spPr>
      </p:pic>
      <p:sp>
        <p:nvSpPr>
          <p:cNvPr id="973" name="Google Shape;973;p111"/>
          <p:cNvSpPr txBox="1"/>
          <p:nvPr/>
        </p:nvSpPr>
        <p:spPr>
          <a:xfrm>
            <a:off x="219625" y="918300"/>
            <a:ext cx="24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7" name="Shape 977"/>
        <p:cNvGrpSpPr/>
        <p:nvPr/>
      </p:nvGrpSpPr>
      <p:grpSpPr>
        <a:xfrm>
          <a:off x="0" y="0"/>
          <a:ext cx="0" cy="0"/>
          <a:chOff x="0" y="0"/>
          <a:chExt cx="0" cy="0"/>
        </a:xfrm>
      </p:grpSpPr>
      <p:sp>
        <p:nvSpPr>
          <p:cNvPr id="978" name="Google Shape;978;p112"/>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it">
                <a:solidFill>
                  <a:schemeClr val="dk1"/>
                </a:solidFill>
              </a:rPr>
              <a:t>Wearable and Ultra-Low-Power Fusion of EMG and</a:t>
            </a:r>
            <a:endParaRPr>
              <a:solidFill>
                <a:schemeClr val="dk1"/>
              </a:solidFill>
            </a:endParaRPr>
          </a:p>
          <a:p>
            <a:pPr indent="0" lvl="0" marL="0" rtl="0" algn="ctr">
              <a:spcBef>
                <a:spcPts val="0"/>
              </a:spcBef>
              <a:spcAft>
                <a:spcPts val="0"/>
              </a:spcAft>
              <a:buNone/>
            </a:pPr>
            <a:r>
              <a:rPr lang="it">
                <a:solidFill>
                  <a:schemeClr val="dk1"/>
                </a:solidFill>
              </a:rPr>
              <a:t>A-Mode US for Hand-Wrist Kinematic Tracking</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p:txBody>
      </p:sp>
      <p:sp>
        <p:nvSpPr>
          <p:cNvPr id="979" name="Google Shape;979;p112"/>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pic>
        <p:nvPicPr>
          <p:cNvPr id="980" name="Google Shape;980;p112" title="Screenshot from 2025-10-04 13-14-16.png"/>
          <p:cNvPicPr preferRelativeResize="0"/>
          <p:nvPr/>
        </p:nvPicPr>
        <p:blipFill>
          <a:blip r:embed="rId3">
            <a:alphaModFix/>
          </a:blip>
          <a:stretch>
            <a:fillRect/>
          </a:stretch>
        </p:blipFill>
        <p:spPr>
          <a:xfrm>
            <a:off x="4572000" y="2312150"/>
            <a:ext cx="4435800" cy="1919260"/>
          </a:xfrm>
          <a:prstGeom prst="rect">
            <a:avLst/>
          </a:prstGeom>
          <a:noFill/>
          <a:ln>
            <a:noFill/>
          </a:ln>
        </p:spPr>
      </p:pic>
      <p:pic>
        <p:nvPicPr>
          <p:cNvPr id="981" name="Google Shape;981;p112" title="Screenshot from 2025-10-04 13-22-45.png"/>
          <p:cNvPicPr preferRelativeResize="0"/>
          <p:nvPr/>
        </p:nvPicPr>
        <p:blipFill>
          <a:blip r:embed="rId4">
            <a:alphaModFix/>
          </a:blip>
          <a:stretch>
            <a:fillRect/>
          </a:stretch>
        </p:blipFill>
        <p:spPr>
          <a:xfrm>
            <a:off x="152400" y="939600"/>
            <a:ext cx="3722537" cy="346487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5" name="Shape 985"/>
        <p:cNvGrpSpPr/>
        <p:nvPr/>
      </p:nvGrpSpPr>
      <p:grpSpPr>
        <a:xfrm>
          <a:off x="0" y="0"/>
          <a:ext cx="0" cy="0"/>
          <a:chOff x="0" y="0"/>
          <a:chExt cx="0" cy="0"/>
        </a:xfrm>
      </p:grpSpPr>
      <p:sp>
        <p:nvSpPr>
          <p:cNvPr id="986" name="Google Shape;986;p113"/>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987" name="Google Shape;987;p113"/>
          <p:cNvSpPr txBox="1"/>
          <p:nvPr/>
        </p:nvSpPr>
        <p:spPr>
          <a:xfrm>
            <a:off x="4824175" y="0"/>
            <a:ext cx="4319700" cy="4557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360"/>
              <a:t>L is the total </a:t>
            </a:r>
            <a:r>
              <a:rPr lang="it" sz="1360"/>
              <a:t>length</a:t>
            </a:r>
            <a:r>
              <a:rPr lang="it" sz="1360"/>
              <a:t> of the original dataset collected. </a:t>
            </a:r>
            <a:endParaRPr sz="1360"/>
          </a:p>
          <a:p>
            <a:pPr indent="0" lvl="0" marL="0" rtl="0" algn="l">
              <a:lnSpc>
                <a:spcPct val="130000"/>
              </a:lnSpc>
              <a:spcBef>
                <a:spcPts val="480"/>
              </a:spcBef>
              <a:spcAft>
                <a:spcPts val="0"/>
              </a:spcAft>
              <a:buNone/>
            </a:pPr>
            <a:r>
              <a:rPr lang="it" sz="1360"/>
              <a:t>S number of synergies extracted. T number of tasks or hand postures for which the algorithm is trained. A dof of robot. </a:t>
            </a:r>
            <a:endParaRPr sz="1360"/>
          </a:p>
          <a:p>
            <a:pPr indent="0" lvl="0" marL="0" rtl="0" algn="l">
              <a:lnSpc>
                <a:spcPct val="130000"/>
              </a:lnSpc>
              <a:spcBef>
                <a:spcPts val="480"/>
              </a:spcBef>
              <a:spcAft>
                <a:spcPts val="0"/>
              </a:spcAft>
              <a:buNone/>
            </a:pPr>
            <a:r>
              <a:rPr lang="it" sz="1360"/>
              <a:t>Map activation signals H (SxL)  to commands fo the hand X (AxL). </a:t>
            </a:r>
            <a:endParaRPr sz="1360"/>
          </a:p>
          <a:p>
            <a:pPr indent="0" lvl="0" marL="0" rtl="0" algn="l">
              <a:lnSpc>
                <a:spcPct val="130000"/>
              </a:lnSpc>
              <a:spcBef>
                <a:spcPts val="480"/>
              </a:spcBef>
              <a:spcAft>
                <a:spcPts val="0"/>
              </a:spcAft>
              <a:buNone/>
            </a:pPr>
            <a:r>
              <a:rPr lang="it" sz="1360"/>
              <a:t>The trained hand postures were defined as P=KH  (TxL) so that ks are the weights of K and are initialized with the average activation of each corresponding active synergy per task. These weights are normalized per pi (hand task) by setting the sum of weights equal to 1. la divisione per P assicura che il modello sia robusto all'intensità: non importa quanto forte il soggetto pensi di muoversi; la mano assume sempre la postura corretta, determinata solo dal bilanciamento delle sinergie.</a:t>
            </a:r>
            <a:endParaRPr sz="1360"/>
          </a:p>
        </p:txBody>
      </p:sp>
      <p:pic>
        <p:nvPicPr>
          <p:cNvPr id="988" name="Google Shape;988;p113" title="Screenshot from 2025-10-05 22-13-50.png"/>
          <p:cNvPicPr preferRelativeResize="0"/>
          <p:nvPr/>
        </p:nvPicPr>
        <p:blipFill>
          <a:blip r:embed="rId3">
            <a:alphaModFix/>
          </a:blip>
          <a:stretch>
            <a:fillRect/>
          </a:stretch>
        </p:blipFill>
        <p:spPr>
          <a:xfrm>
            <a:off x="52625" y="758675"/>
            <a:ext cx="4519375" cy="3039644"/>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92" name="Shape 992"/>
        <p:cNvGrpSpPr/>
        <p:nvPr/>
      </p:nvGrpSpPr>
      <p:grpSpPr>
        <a:xfrm>
          <a:off x="0" y="0"/>
          <a:ext cx="0" cy="0"/>
          <a:chOff x="0" y="0"/>
          <a:chExt cx="0" cy="0"/>
        </a:xfrm>
      </p:grpSpPr>
      <p:sp>
        <p:nvSpPr>
          <p:cNvPr id="993" name="Google Shape;993;p114"/>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994" name="Google Shape;994;p114"/>
          <p:cNvSpPr txBox="1"/>
          <p:nvPr/>
        </p:nvSpPr>
        <p:spPr>
          <a:xfrm>
            <a:off x="4824175" y="0"/>
            <a:ext cx="4319700" cy="4557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100"/>
              <a:t>La </a:t>
            </a:r>
            <a:r>
              <a:rPr b="1" lang="it" sz="1100"/>
              <a:t>Relazione R</a:t>
            </a:r>
            <a:r>
              <a:rPr lang="it" sz="1100"/>
              <a:t> funge da </a:t>
            </a:r>
            <a:r>
              <a:rPr b="1" lang="it" sz="1100"/>
              <a:t>traduttore</a:t>
            </a:r>
            <a:r>
              <a:rPr lang="it" sz="1100"/>
              <a:t> meccanico: </a:t>
            </a:r>
            <a:endParaRPr sz="1100"/>
          </a:p>
          <a:p>
            <a:pPr indent="0" lvl="0" marL="0" rtl="0" algn="l">
              <a:lnSpc>
                <a:spcPct val="130000"/>
              </a:lnSpc>
              <a:spcBef>
                <a:spcPts val="480"/>
              </a:spcBef>
              <a:spcAft>
                <a:spcPts val="0"/>
              </a:spcAft>
              <a:buNone/>
            </a:pPr>
            <a:r>
              <a:rPr lang="it" sz="1100"/>
              <a:t>X = RP</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rPr lang="it" sz="1100"/>
              <a:t>il sistema utilizza i 192 elettrodi per isolare le scariche delle singole </a:t>
            </a:r>
            <a:r>
              <a:rPr b="1" lang="it" sz="1100"/>
              <a:t>Unità Motorie (MU)</a:t>
            </a:r>
            <a:r>
              <a:rPr lang="it" sz="1100"/>
              <a:t>. La decomposizione (separazione) avviene in tempo reale dopo una breve sessione di calibrazione iniziale (</a:t>
            </a:r>
            <a:r>
              <a:rPr i="1" lang="it" sz="1100"/>
              <a:t>training phase</a:t>
            </a:r>
            <a:r>
              <a:rPr lang="it" sz="1100"/>
              <a:t>).</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rPr b="1" lang="it" sz="1100"/>
              <a:t>Online Training Version of NMF for Synergies:</a:t>
            </a:r>
            <a:r>
              <a:rPr lang="it" sz="1100"/>
              <a:t> Una volta che il segnale neurale (le scariche delle MU) è pronto, l'algoritmo </a:t>
            </a:r>
            <a:r>
              <a:rPr b="1" lang="it" sz="1100"/>
              <a:t>NMF (Non-negative Matrix Factorization)</a:t>
            </a:r>
            <a:r>
              <a:rPr lang="it" sz="1100"/>
              <a:t> viene applicato </a:t>
            </a:r>
            <a:r>
              <a:rPr b="1" lang="it" sz="1100"/>
              <a:t>continuamente</a:t>
            </a:r>
            <a:r>
              <a:rPr lang="it" sz="1100"/>
              <a:t> (online). Questo algoritmo estrae in modo dinamico i segnali di attivazione H (le </a:t>
            </a:r>
            <a:r>
              <a:rPr b="1" lang="it" sz="1100"/>
              <a:t>Sinergie di Motoneuroni</a:t>
            </a:r>
            <a:r>
              <a:rPr lang="it" sz="1100"/>
              <a:t> o MNS) che rappresentano il comando neurale intenzionale dell'utente.</a:t>
            </a:r>
            <a:endParaRPr sz="1100"/>
          </a:p>
          <a:p>
            <a:pPr indent="0" lvl="0" marL="0" rtl="0" algn="l">
              <a:lnSpc>
                <a:spcPct val="130000"/>
              </a:lnSpc>
              <a:spcBef>
                <a:spcPts val="480"/>
              </a:spcBef>
              <a:spcAft>
                <a:spcPts val="0"/>
              </a:spcAft>
              <a:buNone/>
            </a:pPr>
            <a:r>
              <a:rPr lang="it" sz="1100"/>
              <a:t>testano il controllo su un </a:t>
            </a:r>
            <a:r>
              <a:rPr b="1" lang="it" sz="1100"/>
              <a:t>cursore in uno spazio 2D</a:t>
            </a:r>
            <a:r>
              <a:rPr lang="it" sz="1100"/>
              <a:t> (il </a:t>
            </a:r>
            <a:r>
              <a:rPr i="1" lang="it" sz="1100"/>
              <a:t>Target Reaching Task</a:t>
            </a:r>
            <a:r>
              <a:rPr lang="it" sz="1100"/>
              <a:t>) </a:t>
            </a:r>
            <a:endParaRPr sz="1100"/>
          </a:p>
        </p:txBody>
      </p:sp>
      <p:pic>
        <p:nvPicPr>
          <p:cNvPr id="995" name="Google Shape;995;p114" title="Screenshot from 2025-10-05 22-13-50.png"/>
          <p:cNvPicPr preferRelativeResize="0"/>
          <p:nvPr/>
        </p:nvPicPr>
        <p:blipFill>
          <a:blip r:embed="rId3">
            <a:alphaModFix/>
          </a:blip>
          <a:stretch>
            <a:fillRect/>
          </a:stretch>
        </p:blipFill>
        <p:spPr>
          <a:xfrm>
            <a:off x="52625" y="758675"/>
            <a:ext cx="4519375" cy="3039644"/>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99" name="Shape 999"/>
        <p:cNvGrpSpPr/>
        <p:nvPr/>
      </p:nvGrpSpPr>
      <p:grpSpPr>
        <a:xfrm>
          <a:off x="0" y="0"/>
          <a:ext cx="0" cy="0"/>
          <a:chOff x="0" y="0"/>
          <a:chExt cx="0" cy="0"/>
        </a:xfrm>
      </p:grpSpPr>
      <p:sp>
        <p:nvSpPr>
          <p:cNvPr id="1000" name="Google Shape;1000;p115"/>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001" name="Google Shape;1001;p115"/>
          <p:cNvSpPr txBox="1"/>
          <p:nvPr/>
        </p:nvSpPr>
        <p:spPr>
          <a:xfrm>
            <a:off x="4824175" y="0"/>
            <a:ext cx="4319700" cy="4557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100"/>
              <a:t>Five point Likert scale, participants preferred MN synergies. </a:t>
            </a:r>
            <a:endParaRPr sz="1100"/>
          </a:p>
          <a:p>
            <a:pPr indent="0" lvl="0" marL="0" rtl="0" algn="l">
              <a:lnSpc>
                <a:spcPct val="130000"/>
              </a:lnSpc>
              <a:spcBef>
                <a:spcPts val="480"/>
              </a:spcBef>
              <a:spcAft>
                <a:spcPts val="0"/>
              </a:spcAft>
              <a:buNone/>
            </a:pPr>
            <a:r>
              <a:rPr lang="it" sz="1100"/>
              <a:t>On amputhees the number of </a:t>
            </a:r>
            <a:r>
              <a:rPr lang="it" sz="1100"/>
              <a:t>synergies</a:t>
            </a:r>
            <a:r>
              <a:rPr lang="it" sz="1100"/>
              <a:t> </a:t>
            </a:r>
            <a:r>
              <a:rPr lang="it" sz="1100"/>
              <a:t>recorded for both MN and Ms are the same. date for them were recorded by analyzing first the intact arm and then the residual limb, 36 of 40 targets and 33 of 40 target hit for MNs, vs 16 out of 40 for Ms. also MN in shorter time. </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rPr lang="it" sz="1100"/>
              <a:t>They believe that the continuous and proportional control of multiple DOFs with various synergies is better for in hand manipulation that the pattern classification which sequentially swittchs between DOFs or grasps. </a:t>
            </a:r>
            <a:endParaRPr sz="1100"/>
          </a:p>
          <a:p>
            <a:pPr indent="0" lvl="0" marL="0" rtl="0" algn="l">
              <a:lnSpc>
                <a:spcPct val="130000"/>
              </a:lnSpc>
              <a:spcBef>
                <a:spcPts val="480"/>
              </a:spcBef>
              <a:spcAft>
                <a:spcPts val="0"/>
              </a:spcAft>
              <a:buNone/>
            </a:pPr>
            <a:r>
              <a:rPr lang="it" sz="1100"/>
              <a:t>Also a generic map between MU spike trains and hand activation commands would need to be retrained for each use, whereas the identification of the latent small dimensionality in MU control can be done from any MU because the latent low-dimensional modules are invariant across the subset of units used for their determination</a:t>
            </a:r>
            <a:endParaRPr sz="1100"/>
          </a:p>
        </p:txBody>
      </p:sp>
      <p:pic>
        <p:nvPicPr>
          <p:cNvPr id="1002" name="Google Shape;1002;p115" title="Screenshot from 2025-10-06 00-07-17.png"/>
          <p:cNvPicPr preferRelativeResize="0"/>
          <p:nvPr/>
        </p:nvPicPr>
        <p:blipFill>
          <a:blip r:embed="rId3">
            <a:alphaModFix/>
          </a:blip>
          <a:stretch>
            <a:fillRect/>
          </a:stretch>
        </p:blipFill>
        <p:spPr>
          <a:xfrm>
            <a:off x="152400" y="1098325"/>
            <a:ext cx="4519375" cy="2600947"/>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6" name="Shape 1006"/>
        <p:cNvGrpSpPr/>
        <p:nvPr/>
      </p:nvGrpSpPr>
      <p:grpSpPr>
        <a:xfrm>
          <a:off x="0" y="0"/>
          <a:ext cx="0" cy="0"/>
          <a:chOff x="0" y="0"/>
          <a:chExt cx="0" cy="0"/>
        </a:xfrm>
      </p:grpSpPr>
      <p:sp>
        <p:nvSpPr>
          <p:cNvPr id="1007" name="Google Shape;1007;p116"/>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008" name="Google Shape;1008;p116"/>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Merging motoneuron and postural synergies in prosthetic hand design for natural bionic interfacing</a:t>
            </a:r>
            <a:endParaRPr/>
          </a:p>
        </p:txBody>
      </p:sp>
      <p:sp>
        <p:nvSpPr>
          <p:cNvPr id="1009" name="Google Shape;1009;p116"/>
          <p:cNvSpPr txBox="1"/>
          <p:nvPr/>
        </p:nvSpPr>
        <p:spPr>
          <a:xfrm>
            <a:off x="311700" y="874225"/>
            <a:ext cx="8778900" cy="4021500"/>
          </a:xfrm>
          <a:prstGeom prst="rect">
            <a:avLst/>
          </a:prstGeom>
          <a:noFill/>
          <a:ln>
            <a:noFill/>
          </a:ln>
        </p:spPr>
        <p:txBody>
          <a:bodyPr anchorCtr="0" anchor="t" bIns="91425" lIns="91425" spcFirstLastPara="1" rIns="91425" wrap="square" tIns="91425">
            <a:noAutofit/>
          </a:bodyPr>
          <a:lstStyle/>
          <a:p>
            <a:pPr indent="0" lvl="0" marL="342900" rtl="0" algn="l">
              <a:lnSpc>
                <a:spcPct val="130000"/>
              </a:lnSpc>
              <a:spcBef>
                <a:spcPts val="480"/>
              </a:spcBef>
              <a:spcAft>
                <a:spcPts val="0"/>
              </a:spcAft>
              <a:buNone/>
            </a:pPr>
            <a:r>
              <a:rPr lang="it" sz="1360"/>
              <a:t>seven grip types</a:t>
            </a:r>
            <a:endParaRPr sz="1360"/>
          </a:p>
          <a:p>
            <a:pPr indent="0" lvl="0" marL="342900" rtl="0" algn="l">
              <a:lnSpc>
                <a:spcPct val="130000"/>
              </a:lnSpc>
              <a:spcBef>
                <a:spcPts val="480"/>
              </a:spcBef>
              <a:spcAft>
                <a:spcPts val="0"/>
              </a:spcAft>
              <a:buNone/>
            </a:pPr>
            <a:r>
              <a:rPr lang="it" sz="1360"/>
              <a:t>particular attention for participants with smaller forearm circumference</a:t>
            </a:r>
            <a:endParaRPr sz="1360"/>
          </a:p>
          <a:p>
            <a:pPr indent="0" lvl="0" marL="342900" rtl="0" algn="l">
              <a:lnSpc>
                <a:spcPct val="130000"/>
              </a:lnSpc>
              <a:spcBef>
                <a:spcPts val="480"/>
              </a:spcBef>
              <a:spcAft>
                <a:spcPts val="0"/>
              </a:spcAft>
              <a:buNone/>
            </a:pPr>
            <a:r>
              <a:rPr lang="it" sz="1360"/>
              <a:t>Monopolar HD-sEMG recorded, amplified with a gain of 150, bandpass filtered between 10 and 500 H, sampled at 2028 Hz, A/D converted to 16 bits. then a 20 to 500 Hz digital bandpass filter applied. </a:t>
            </a:r>
            <a:endParaRPr sz="1360"/>
          </a:p>
          <a:p>
            <a:pPr indent="0" lvl="0" marL="342900" rtl="0" algn="l">
              <a:lnSpc>
                <a:spcPct val="130000"/>
              </a:lnSpc>
              <a:spcBef>
                <a:spcPts val="480"/>
              </a:spcBef>
              <a:spcAft>
                <a:spcPts val="0"/>
              </a:spcAft>
              <a:buNone/>
            </a:pPr>
            <a:r>
              <a:rPr lang="it" sz="1360"/>
              <a:t>MVC of each grip is measured though estimated emg amplitude from each emg window (128 samples, 62.5 ms) by first computing the root-mean-square value of each emg channel and then selecting the median value. this signal is lowpass filtered with fourth order butterworth filter with cutoff frequency of 2.5 Hz. participants can see the percentage of force on the screen. 63 recordings. </a:t>
            </a:r>
            <a:endParaRPr sz="1360"/>
          </a:p>
          <a:p>
            <a:pPr indent="0" lvl="0" marL="342900" rtl="0" algn="l">
              <a:lnSpc>
                <a:spcPct val="130000"/>
              </a:lnSpc>
              <a:spcBef>
                <a:spcPts val="480"/>
              </a:spcBef>
              <a:spcAft>
                <a:spcPts val="0"/>
              </a:spcAft>
              <a:buNone/>
            </a:pPr>
            <a:r>
              <a:rPr lang="it" sz="1360"/>
              <a:t>raw emg signals are digitally band pass filtered concatenated across all grip types and decomposed to extract the piking activity of individual Mu. </a:t>
            </a:r>
            <a:endParaRPr sz="1360"/>
          </a:p>
          <a:p>
            <a:pPr indent="0" lvl="0" marL="342900" rtl="0" algn="l">
              <a:lnSpc>
                <a:spcPct val="130000"/>
              </a:lnSpc>
              <a:spcBef>
                <a:spcPts val="480"/>
              </a:spcBef>
              <a:spcAft>
                <a:spcPts val="0"/>
              </a:spcAft>
              <a:buNone/>
            </a:pPr>
            <a:r>
              <a:rPr lang="it" sz="1360"/>
              <a:t>during decomposition they compute SDR of the spikes with Filtro Lowpass Butterworth del Quarto Ordine (2.5 Hz): it focuses on the density of the spikes during time. </a:t>
            </a:r>
            <a:endParaRPr sz="1360"/>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13" name="Shape 1013"/>
        <p:cNvGrpSpPr/>
        <p:nvPr/>
      </p:nvGrpSpPr>
      <p:grpSpPr>
        <a:xfrm>
          <a:off x="0" y="0"/>
          <a:ext cx="0" cy="0"/>
          <a:chOff x="0" y="0"/>
          <a:chExt cx="0" cy="0"/>
        </a:xfrm>
      </p:grpSpPr>
      <p:sp>
        <p:nvSpPr>
          <p:cNvPr id="1014" name="Google Shape;1014;p117"/>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015" name="Google Shape;1015;p117"/>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Merging motoneuron and postural synergies in prosthetic hand design for natural bionic interfacing</a:t>
            </a:r>
            <a:endParaRPr/>
          </a:p>
        </p:txBody>
      </p:sp>
      <p:sp>
        <p:nvSpPr>
          <p:cNvPr id="1016" name="Google Shape;1016;p117"/>
          <p:cNvSpPr txBox="1"/>
          <p:nvPr/>
        </p:nvSpPr>
        <p:spPr>
          <a:xfrm>
            <a:off x="311700" y="874225"/>
            <a:ext cx="8778900" cy="4021500"/>
          </a:xfrm>
          <a:prstGeom prst="rect">
            <a:avLst/>
          </a:prstGeom>
          <a:noFill/>
          <a:ln>
            <a:noFill/>
          </a:ln>
        </p:spPr>
        <p:txBody>
          <a:bodyPr anchorCtr="0" anchor="t" bIns="91425" lIns="91425" spcFirstLastPara="1" rIns="91425" wrap="square" tIns="91425">
            <a:noAutofit/>
          </a:bodyPr>
          <a:lstStyle/>
          <a:p>
            <a:pPr indent="0" lvl="0" marL="342900" rtl="0" algn="l">
              <a:lnSpc>
                <a:spcPct val="130000"/>
              </a:lnSpc>
              <a:spcBef>
                <a:spcPts val="480"/>
              </a:spcBef>
              <a:spcAft>
                <a:spcPts val="0"/>
              </a:spcAft>
              <a:buNone/>
            </a:pPr>
            <a:r>
              <a:rPr lang="it" sz="1360"/>
              <a:t>NMF is the iterative process that minimizes the euclidean distance between the original signals V and the reconstruction obtained by the multiplicazion of W and H. 100 iterations repeated 10 times for each number of synergies. the greatest r2 among the 10 repetitions was retained for each number of synergies. </a:t>
            </a:r>
            <a:endParaRPr sz="1360"/>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0" name="Shape 1020"/>
        <p:cNvGrpSpPr/>
        <p:nvPr/>
      </p:nvGrpSpPr>
      <p:grpSpPr>
        <a:xfrm>
          <a:off x="0" y="0"/>
          <a:ext cx="0" cy="0"/>
          <a:chOff x="0" y="0"/>
          <a:chExt cx="0" cy="0"/>
        </a:xfrm>
      </p:grpSpPr>
      <p:sp>
        <p:nvSpPr>
          <p:cNvPr id="1021" name="Google Shape;1021;p118"/>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022" name="Google Shape;1022;p118"/>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Regression of Hand Movements from sEMG Data</a:t>
            </a:r>
            <a:endParaRPr/>
          </a:p>
          <a:p>
            <a:pPr indent="0" lvl="0" marL="0" rtl="0" algn="ctr">
              <a:spcBef>
                <a:spcPts val="0"/>
              </a:spcBef>
              <a:spcAft>
                <a:spcPts val="0"/>
              </a:spcAft>
              <a:buNone/>
            </a:pPr>
            <a:r>
              <a:rPr lang="it"/>
              <a:t>with Recurrent Neural Networks</a:t>
            </a:r>
            <a:endParaRPr/>
          </a:p>
          <a:p>
            <a:pPr indent="0" lvl="0" marL="0" rtl="0" algn="ctr">
              <a:spcBef>
                <a:spcPts val="0"/>
              </a:spcBef>
              <a:spcAft>
                <a:spcPts val="0"/>
              </a:spcAft>
              <a:buClr>
                <a:schemeClr val="dk1"/>
              </a:buClr>
              <a:buSzPts val="1100"/>
              <a:buFont typeface="Arial"/>
              <a:buNone/>
            </a:pPr>
            <a:r>
              <a:t/>
            </a:r>
            <a:endParaRPr/>
          </a:p>
        </p:txBody>
      </p:sp>
      <p:sp>
        <p:nvSpPr>
          <p:cNvPr id="1023" name="Google Shape;1023;p118"/>
          <p:cNvSpPr txBox="1"/>
          <p:nvPr/>
        </p:nvSpPr>
        <p:spPr>
          <a:xfrm>
            <a:off x="311700" y="874225"/>
            <a:ext cx="8778900" cy="4021500"/>
          </a:xfrm>
          <a:prstGeom prst="rect">
            <a:avLst/>
          </a:prstGeom>
          <a:noFill/>
          <a:ln>
            <a:noFill/>
          </a:ln>
        </p:spPr>
        <p:txBody>
          <a:bodyPr anchorCtr="0" anchor="t" bIns="91425" lIns="91425" spcFirstLastPara="1" rIns="91425" wrap="square" tIns="91425">
            <a:noAutofit/>
          </a:bodyPr>
          <a:lstStyle/>
          <a:p>
            <a:pPr indent="0" lvl="0" marL="342900" rtl="0" algn="l">
              <a:lnSpc>
                <a:spcPct val="130000"/>
              </a:lnSpc>
              <a:spcBef>
                <a:spcPts val="480"/>
              </a:spcBef>
              <a:spcAft>
                <a:spcPts val="0"/>
              </a:spcAft>
              <a:buNone/>
            </a:pPr>
            <a:r>
              <a:rPr lang="it" sz="1360"/>
              <a:t>for medical applications requiring a reliable hand gesture recognition like upper limb prostheses [3] or exoskeletons [4], [5] both optical tracking systems as well as data gloves are not suitable.it is worth investigating whether the classification can be replaced by a movement regression of all the different movable hand parts.</a:t>
            </a:r>
            <a:endParaRPr sz="1360"/>
          </a:p>
          <a:p>
            <a:pPr indent="0" lvl="0" marL="342900" rtl="0" algn="l">
              <a:lnSpc>
                <a:spcPct val="130000"/>
              </a:lnSpc>
              <a:spcBef>
                <a:spcPts val="480"/>
              </a:spcBef>
              <a:spcAft>
                <a:spcPts val="0"/>
              </a:spcAft>
              <a:buNone/>
            </a:pPr>
            <a:r>
              <a:rPr lang="it" sz="1360"/>
              <a:t>Usano Correctness Score per l error measurement </a:t>
            </a:r>
            <a:endParaRPr sz="1360"/>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7" name="Shape 1027"/>
        <p:cNvGrpSpPr/>
        <p:nvPr/>
      </p:nvGrpSpPr>
      <p:grpSpPr>
        <a:xfrm>
          <a:off x="0" y="0"/>
          <a:ext cx="0" cy="0"/>
          <a:chOff x="0" y="0"/>
          <a:chExt cx="0" cy="0"/>
        </a:xfrm>
      </p:grpSpPr>
      <p:sp>
        <p:nvSpPr>
          <p:cNvPr id="1028" name="Google Shape;1028;p119"/>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029" name="Google Shape;1029;p119"/>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MANUS</a:t>
            </a:r>
            <a:endParaRPr/>
          </a:p>
        </p:txBody>
      </p:sp>
      <p:sp>
        <p:nvSpPr>
          <p:cNvPr id="1030" name="Google Shape;1030;p119"/>
          <p:cNvSpPr txBox="1"/>
          <p:nvPr/>
        </p:nvSpPr>
        <p:spPr>
          <a:xfrm>
            <a:off x="311700" y="874225"/>
            <a:ext cx="8778900" cy="2724000"/>
          </a:xfrm>
          <a:prstGeom prst="rect">
            <a:avLst/>
          </a:prstGeom>
          <a:noFill/>
          <a:ln>
            <a:noFill/>
          </a:ln>
        </p:spPr>
        <p:txBody>
          <a:bodyPr anchorCtr="0" anchor="t" bIns="91425" lIns="91425" spcFirstLastPara="1" rIns="91425" wrap="square" tIns="91425">
            <a:noAutofit/>
          </a:bodyPr>
          <a:lstStyle/>
          <a:p>
            <a:pPr indent="0" lvl="0" marL="342900" rtl="0" algn="l">
              <a:lnSpc>
                <a:spcPct val="130000"/>
              </a:lnSpc>
              <a:spcBef>
                <a:spcPts val="480"/>
              </a:spcBef>
              <a:spcAft>
                <a:spcPts val="0"/>
              </a:spcAft>
              <a:buNone/>
            </a:pPr>
            <a:r>
              <a:rPr lang="it" sz="1360"/>
              <a:t>A proprietary algorithm calculates 20 finger</a:t>
            </a:r>
            <a:endParaRPr sz="1360"/>
          </a:p>
          <a:p>
            <a:pPr indent="0" lvl="0" marL="342900" rtl="0" algn="l">
              <a:lnSpc>
                <a:spcPct val="130000"/>
              </a:lnSpc>
              <a:spcBef>
                <a:spcPts val="480"/>
              </a:spcBef>
              <a:spcAft>
                <a:spcPts val="0"/>
              </a:spcAft>
              <a:buNone/>
            </a:pPr>
            <a:r>
              <a:rPr lang="it" sz="1360"/>
              <a:t>joint angles: for each finger, the spread of the carpometacarpal</a:t>
            </a:r>
            <a:endParaRPr sz="1360"/>
          </a:p>
          <a:p>
            <a:pPr indent="0" lvl="0" marL="342900" rtl="0" algn="l">
              <a:lnSpc>
                <a:spcPct val="130000"/>
              </a:lnSpc>
              <a:spcBef>
                <a:spcPts val="480"/>
              </a:spcBef>
              <a:spcAft>
                <a:spcPts val="0"/>
              </a:spcAft>
              <a:buNone/>
            </a:pPr>
            <a:r>
              <a:rPr lang="it" sz="1360"/>
              <a:t>joint (CMC), the flexion of the CMC, the flexion of the</a:t>
            </a:r>
            <a:endParaRPr sz="1360"/>
          </a:p>
          <a:p>
            <a:pPr indent="0" lvl="0" marL="342900" rtl="0" algn="l">
              <a:lnSpc>
                <a:spcPct val="130000"/>
              </a:lnSpc>
              <a:spcBef>
                <a:spcPts val="480"/>
              </a:spcBef>
              <a:spcAft>
                <a:spcPts val="0"/>
              </a:spcAft>
              <a:buNone/>
            </a:pPr>
            <a:r>
              <a:rPr lang="it" sz="1360"/>
              <a:t>proximal interphalangeal joint (PIP) and the flexion of the</a:t>
            </a:r>
            <a:endParaRPr sz="1360"/>
          </a:p>
          <a:p>
            <a:pPr indent="0" lvl="0" marL="342900" rtl="0" algn="l">
              <a:lnSpc>
                <a:spcPct val="130000"/>
              </a:lnSpc>
              <a:spcBef>
                <a:spcPts val="480"/>
              </a:spcBef>
              <a:spcAft>
                <a:spcPts val="0"/>
              </a:spcAft>
              <a:buNone/>
            </a:pPr>
            <a:r>
              <a:rPr lang="it" sz="1360"/>
              <a:t>distal interphalangeal joint (DIP). To represent the 3-axis wrist</a:t>
            </a:r>
            <a:endParaRPr sz="1360"/>
          </a:p>
          <a:p>
            <a:pPr indent="0" lvl="0" marL="342900" rtl="0" algn="l">
              <a:lnSpc>
                <a:spcPct val="130000"/>
              </a:lnSpc>
              <a:spcBef>
                <a:spcPts val="480"/>
              </a:spcBef>
              <a:spcAft>
                <a:spcPts val="0"/>
              </a:spcAft>
              <a:buNone/>
            </a:pPr>
            <a:r>
              <a:rPr lang="it" sz="1360"/>
              <a:t>rotation, the algorithm computes quaternions, acceleration, and</a:t>
            </a:r>
            <a:endParaRPr sz="1360"/>
          </a:p>
          <a:p>
            <a:pPr indent="0" lvl="0" marL="342900" rtl="0" algn="l">
              <a:lnSpc>
                <a:spcPct val="130000"/>
              </a:lnSpc>
              <a:spcBef>
                <a:spcPts val="480"/>
              </a:spcBef>
              <a:spcAft>
                <a:spcPts val="0"/>
              </a:spcAft>
              <a:buNone/>
            </a:pPr>
            <a:r>
              <a:rPr lang="it" sz="1360"/>
              <a:t>absolute heading from the 9-axis IMU data. In addition, the</a:t>
            </a:r>
            <a:endParaRPr sz="1360"/>
          </a:p>
          <a:p>
            <a:pPr indent="0" lvl="0" marL="342900" rtl="0" algn="l">
              <a:lnSpc>
                <a:spcPct val="130000"/>
              </a:lnSpc>
              <a:spcBef>
                <a:spcPts val="480"/>
              </a:spcBef>
              <a:spcAft>
                <a:spcPts val="0"/>
              </a:spcAft>
              <a:buNone/>
            </a:pPr>
            <a:r>
              <a:rPr lang="it" sz="1360"/>
              <a:t>Core provides timestamps. The MANUS SDK [31], developed</a:t>
            </a:r>
            <a:endParaRPr sz="1360"/>
          </a:p>
          <a:p>
            <a:pPr indent="0" lvl="0" marL="342900" rtl="0" algn="l">
              <a:lnSpc>
                <a:spcPct val="130000"/>
              </a:lnSpc>
              <a:spcBef>
                <a:spcPts val="480"/>
              </a:spcBef>
              <a:spcAft>
                <a:spcPts val="0"/>
              </a:spcAft>
              <a:buNone/>
            </a:pPr>
            <a:r>
              <a:rPr lang="it" sz="1360"/>
              <a:t>in C++, provides an interface to access MANUS Core data.</a:t>
            </a:r>
            <a:endParaRPr sz="1360"/>
          </a:p>
          <a:p>
            <a:pPr indent="0" lvl="0" marL="342900" rtl="0" algn="l">
              <a:lnSpc>
                <a:spcPct val="130000"/>
              </a:lnSpc>
              <a:spcBef>
                <a:spcPts val="480"/>
              </a:spcBef>
              <a:spcAft>
                <a:spcPts val="0"/>
              </a:spcAft>
              <a:buNone/>
            </a:pPr>
            <a:r>
              <a:t/>
            </a:r>
            <a:endParaRPr sz="1660"/>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4" name="Shape 1034"/>
        <p:cNvGrpSpPr/>
        <p:nvPr/>
      </p:nvGrpSpPr>
      <p:grpSpPr>
        <a:xfrm>
          <a:off x="0" y="0"/>
          <a:ext cx="0" cy="0"/>
          <a:chOff x="0" y="0"/>
          <a:chExt cx="0" cy="0"/>
        </a:xfrm>
      </p:grpSpPr>
      <p:sp>
        <p:nvSpPr>
          <p:cNvPr id="1035" name="Google Shape;1035;p120"/>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036" name="Google Shape;1036;p120"/>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HAPTICS</a:t>
            </a:r>
            <a:endParaRPr/>
          </a:p>
        </p:txBody>
      </p:sp>
      <p:sp>
        <p:nvSpPr>
          <p:cNvPr id="1037" name="Google Shape;1037;p120"/>
          <p:cNvSpPr txBox="1"/>
          <p:nvPr/>
        </p:nvSpPr>
        <p:spPr>
          <a:xfrm>
            <a:off x="311700" y="874225"/>
            <a:ext cx="4260300" cy="2724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260"/>
              <a:t>Analisi percettiva: quale canale aptico aiuta di più il recupero motorio? </a:t>
            </a:r>
            <a:endParaRPr sz="1260"/>
          </a:p>
          <a:p>
            <a:pPr indent="0" lvl="0" marL="342900" rtl="0" algn="l">
              <a:lnSpc>
                <a:spcPct val="130000"/>
              </a:lnSpc>
              <a:spcBef>
                <a:spcPts val="480"/>
              </a:spcBef>
              <a:spcAft>
                <a:spcPts val="0"/>
              </a:spcAft>
              <a:buNone/>
            </a:pPr>
            <a:r>
              <a:rPr lang="it" sz="1260"/>
              <a:t>Confronta vibrazione vs forza vs termico (TouchDiver supporta più modalità) per capire quale aiuta più nel migliorare accuratezza o velocità di apprendimento. Ottimo contributo scientifico e pratico.</a:t>
            </a:r>
            <a:endParaRPr sz="1260"/>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1" name="Shape 1041"/>
        <p:cNvGrpSpPr/>
        <p:nvPr/>
      </p:nvGrpSpPr>
      <p:grpSpPr>
        <a:xfrm>
          <a:off x="0" y="0"/>
          <a:ext cx="0" cy="0"/>
          <a:chOff x="0" y="0"/>
          <a:chExt cx="0" cy="0"/>
        </a:xfrm>
      </p:grpSpPr>
      <p:sp>
        <p:nvSpPr>
          <p:cNvPr id="1042" name="Google Shape;1042;p121"/>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043" name="Google Shape;1043;p121"/>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long term session</a:t>
            </a:r>
            <a:endParaRPr/>
          </a:p>
        </p:txBody>
      </p:sp>
      <p:sp>
        <p:nvSpPr>
          <p:cNvPr id="1044" name="Google Shape;1044;p121"/>
          <p:cNvSpPr txBox="1"/>
          <p:nvPr/>
        </p:nvSpPr>
        <p:spPr>
          <a:xfrm>
            <a:off x="311700" y="874225"/>
            <a:ext cx="4260300" cy="2724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308610" lvl="0" marL="457200" rtl="0" algn="l">
              <a:lnSpc>
                <a:spcPct val="130000"/>
              </a:lnSpc>
              <a:spcBef>
                <a:spcPts val="480"/>
              </a:spcBef>
              <a:spcAft>
                <a:spcPts val="0"/>
              </a:spcAft>
              <a:buClr>
                <a:schemeClr val="dk1"/>
              </a:buClr>
              <a:buSzPts val="1260"/>
              <a:buChar char="➔"/>
            </a:pPr>
            <a:r>
              <a:rPr lang="it" sz="1260"/>
              <a:t>Temporal stability: come l’errore cambia nel tempo durante sessioni lunghe, eventuale drift. Spesso il confronto è solo “within-session breve”; se fai cross-session o monitoraggio lungo, potrebbe essere nuovo.</a:t>
            </a:r>
            <a:endParaRPr sz="1260"/>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8" name="Shape 1048"/>
        <p:cNvGrpSpPr/>
        <p:nvPr/>
      </p:nvGrpSpPr>
      <p:grpSpPr>
        <a:xfrm>
          <a:off x="0" y="0"/>
          <a:ext cx="0" cy="0"/>
          <a:chOff x="0" y="0"/>
          <a:chExt cx="0" cy="0"/>
        </a:xfrm>
      </p:grpSpPr>
      <p:sp>
        <p:nvSpPr>
          <p:cNvPr id="1049" name="Google Shape;1049;p122"/>
          <p:cNvSpPr txBox="1"/>
          <p:nvPr/>
        </p:nvSpPr>
        <p:spPr>
          <a:xfrm>
            <a:off x="378900" y="655338"/>
            <a:ext cx="8765100" cy="3635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95910" lvl="0" marL="342900" rtl="0" algn="l">
              <a:lnSpc>
                <a:spcPct val="130000"/>
              </a:lnSpc>
              <a:spcBef>
                <a:spcPts val="480"/>
              </a:spcBef>
              <a:spcAft>
                <a:spcPts val="0"/>
              </a:spcAft>
              <a:buClr>
                <a:schemeClr val="dk1"/>
              </a:buClr>
              <a:buSzPts val="1660"/>
              <a:buChar char="●"/>
            </a:pPr>
            <a:r>
              <a:rPr lang="it" sz="1660"/>
              <a:t>Sparse multi-channel sEMG: less data to transfer and low cost of but sensitive to the domain change of sEMG signal. </a:t>
            </a:r>
            <a:endParaRPr sz="1660"/>
          </a:p>
          <a:p>
            <a:pPr indent="-295910" lvl="0" marL="342900" rtl="0" algn="l">
              <a:lnSpc>
                <a:spcPct val="130000"/>
              </a:lnSpc>
              <a:spcBef>
                <a:spcPts val="480"/>
              </a:spcBef>
              <a:spcAft>
                <a:spcPts val="0"/>
              </a:spcAft>
              <a:buClr>
                <a:schemeClr val="dk1"/>
              </a:buClr>
              <a:buSzPts val="1660"/>
              <a:buChar char="●"/>
            </a:pPr>
            <a:r>
              <a:rPr lang="it" sz="1660">
                <a:solidFill>
                  <a:schemeClr val="dk1"/>
                </a:solidFill>
              </a:rPr>
              <a:t>HD-sEMG</a:t>
            </a:r>
            <a:r>
              <a:rPr lang="it" sz="1660"/>
              <a:t> captures the spatial and temporal distribution of motor unit action potentials in muscles through a two-dimensional array of electrodes. This technique increases the amount of data collected and has high recognition efficiency and control quality. For DL, the final prediction results are immediately affected by the quality and quantity of inputs, so the application of HD-sEMG seems to be an effective method to solve myoelectric control problems.</a:t>
            </a:r>
            <a:endParaRPr sz="1660"/>
          </a:p>
          <a:p>
            <a:pPr indent="0" lvl="0" marL="342900" rtl="0" algn="l">
              <a:lnSpc>
                <a:spcPct val="130000"/>
              </a:lnSpc>
              <a:spcBef>
                <a:spcPts val="480"/>
              </a:spcBef>
              <a:spcAft>
                <a:spcPts val="0"/>
              </a:spcAft>
              <a:buNone/>
            </a:pPr>
            <a:r>
              <a:rPr lang="it" sz="1660"/>
              <a:t>cit. </a:t>
            </a:r>
            <a:r>
              <a:rPr lang="it" sz="1060"/>
              <a:t>Gesture Recognition Using Surface Electromyography and Deep Learning for Prostheses Hand: State-of-the-Art, Challenges, and Future</a:t>
            </a:r>
            <a:endParaRPr sz="1060"/>
          </a:p>
          <a:p>
            <a:pPr indent="0" lvl="0" marL="0" rtl="0" algn="l">
              <a:lnSpc>
                <a:spcPct val="130000"/>
              </a:lnSpc>
              <a:spcBef>
                <a:spcPts val="480"/>
              </a:spcBef>
              <a:spcAft>
                <a:spcPts val="0"/>
              </a:spcAft>
              <a:buNone/>
            </a:pPr>
            <a:r>
              <a:t/>
            </a:r>
            <a:endParaRPr sz="1660"/>
          </a:p>
        </p:txBody>
      </p:sp>
      <p:sp>
        <p:nvSpPr>
          <p:cNvPr id="1050" name="Google Shape;1050;p122"/>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Sparse sEMG or HD-sEMG?</a:t>
            </a:r>
            <a:endParaRPr>
              <a:solidFill>
                <a:schemeClr val="dk1"/>
              </a:solidFill>
            </a:endParaRPr>
          </a:p>
        </p:txBody>
      </p:sp>
      <p:sp>
        <p:nvSpPr>
          <p:cNvPr id="1051" name="Google Shape;1051;p122"/>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5" name="Shape 1055"/>
        <p:cNvGrpSpPr/>
        <p:nvPr/>
      </p:nvGrpSpPr>
      <p:grpSpPr>
        <a:xfrm>
          <a:off x="0" y="0"/>
          <a:ext cx="0" cy="0"/>
          <a:chOff x="0" y="0"/>
          <a:chExt cx="0" cy="0"/>
        </a:xfrm>
      </p:grpSpPr>
      <p:sp>
        <p:nvSpPr>
          <p:cNvPr id="1056" name="Google Shape;1056;p123"/>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general considerations</a:t>
            </a:r>
            <a:endParaRPr>
              <a:solidFill>
                <a:schemeClr val="dk1"/>
              </a:solidFill>
            </a:endParaRPr>
          </a:p>
        </p:txBody>
      </p:sp>
      <p:sp>
        <p:nvSpPr>
          <p:cNvPr id="1057" name="Google Shape;1057;p123"/>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058" name="Google Shape;1058;p123"/>
          <p:cNvSpPr txBox="1"/>
          <p:nvPr/>
        </p:nvSpPr>
        <p:spPr>
          <a:xfrm>
            <a:off x="311700" y="665600"/>
            <a:ext cx="3392100" cy="37878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70510" lvl="0" marL="342900" rtl="0" algn="l">
              <a:lnSpc>
                <a:spcPct val="130000"/>
              </a:lnSpc>
              <a:spcBef>
                <a:spcPts val="480"/>
              </a:spcBef>
              <a:spcAft>
                <a:spcPts val="0"/>
              </a:spcAft>
              <a:buClr>
                <a:schemeClr val="dk1"/>
              </a:buClr>
              <a:buSzPts val="1260"/>
              <a:buChar char="➔"/>
            </a:pPr>
            <a:r>
              <a:rPr lang="it" sz="1260"/>
              <a:t>use of EMG signals recorded from the skin surface remains today the most clinically viable approach for controlling transradial hand prostheses</a:t>
            </a:r>
            <a:endParaRPr sz="1260"/>
          </a:p>
          <a:p>
            <a:pPr indent="-270510" lvl="0" marL="342900" rtl="0" algn="l">
              <a:lnSpc>
                <a:spcPct val="130000"/>
              </a:lnSpc>
              <a:spcBef>
                <a:spcPts val="480"/>
              </a:spcBef>
              <a:spcAft>
                <a:spcPts val="0"/>
              </a:spcAft>
              <a:buClr>
                <a:schemeClr val="dk1"/>
              </a:buClr>
              <a:buSzPts val="1260"/>
              <a:buChar char="➔"/>
            </a:pPr>
            <a:r>
              <a:rPr lang="it" sz="1260"/>
              <a:t>The sEMG signal is a multi-channel biomedical signal, its datarecording is easily affected by the external environment, biological tissue interference, muscle fatigue, electrode displacement, so there is a lot of noise and non-stationarity, which may obscure important information about muscle electrical activity.</a:t>
            </a:r>
            <a:endParaRPr sz="1260"/>
          </a:p>
          <a:p>
            <a:pPr indent="0" lvl="0" marL="0" rtl="0" algn="l">
              <a:lnSpc>
                <a:spcPct val="130000"/>
              </a:lnSpc>
              <a:spcBef>
                <a:spcPts val="480"/>
              </a:spcBef>
              <a:spcAft>
                <a:spcPts val="0"/>
              </a:spcAft>
              <a:buNone/>
            </a:pPr>
            <a:r>
              <a:t/>
            </a:r>
            <a:endParaRPr sz="1260"/>
          </a:p>
        </p:txBody>
      </p:sp>
      <p:sp>
        <p:nvSpPr>
          <p:cNvPr id="1059" name="Google Shape;1059;p123"/>
          <p:cNvSpPr txBox="1"/>
          <p:nvPr/>
        </p:nvSpPr>
        <p:spPr>
          <a:xfrm>
            <a:off x="4118000" y="1228800"/>
            <a:ext cx="3392100" cy="1797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260"/>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3" name="Shape 1063"/>
        <p:cNvGrpSpPr/>
        <p:nvPr/>
      </p:nvGrpSpPr>
      <p:grpSpPr>
        <a:xfrm>
          <a:off x="0" y="0"/>
          <a:ext cx="0" cy="0"/>
          <a:chOff x="0" y="0"/>
          <a:chExt cx="0" cy="0"/>
        </a:xfrm>
      </p:grpSpPr>
      <p:sp>
        <p:nvSpPr>
          <p:cNvPr id="1064" name="Google Shape;1064;p124"/>
          <p:cNvSpPr txBox="1"/>
          <p:nvPr/>
        </p:nvSpPr>
        <p:spPr>
          <a:xfrm>
            <a:off x="963900" y="981850"/>
            <a:ext cx="6973200" cy="2977500"/>
          </a:xfrm>
          <a:prstGeom prst="rect">
            <a:avLst/>
          </a:prstGeom>
          <a:solidFill>
            <a:schemeClr val="lt1"/>
          </a:solid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Char char="➔"/>
            </a:pPr>
            <a:r>
              <a:rPr lang="it" sz="1600">
                <a:solidFill>
                  <a:schemeClr val="dk2"/>
                </a:solidFill>
              </a:rPr>
              <a:t>sEMG Tracking</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it" sz="1600">
                <a:solidFill>
                  <a:schemeClr val="dk2"/>
                </a:solidFill>
              </a:rPr>
              <a:t>Filter</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it" sz="1600">
                <a:solidFill>
                  <a:schemeClr val="dk2"/>
                </a:solidFill>
              </a:rPr>
              <a:t>Segmentation</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it" sz="1600">
                <a:solidFill>
                  <a:schemeClr val="dk2"/>
                </a:solidFill>
              </a:rPr>
              <a:t>Muscolare Features</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it" sz="1600">
                <a:solidFill>
                  <a:schemeClr val="dk2"/>
                </a:solidFill>
              </a:rPr>
              <a:t>MANUS</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it" sz="1600">
                <a:solidFill>
                  <a:schemeClr val="dk1"/>
                </a:solidFill>
              </a:rPr>
              <a:t>Synchronization</a:t>
            </a:r>
            <a:r>
              <a:rPr lang="it" sz="1600">
                <a:solidFill>
                  <a:schemeClr val="dk1"/>
                </a:solidFill>
              </a:rPr>
              <a:t> and Mapping</a:t>
            </a:r>
            <a:endParaRPr sz="1600">
              <a:solidFill>
                <a:schemeClr val="dk2"/>
              </a:solidFill>
            </a:endParaRPr>
          </a:p>
          <a:p>
            <a:pPr indent="0" lvl="0" marL="457200" rtl="0" algn="l">
              <a:spcBef>
                <a:spcPts val="0"/>
              </a:spcBef>
              <a:spcAft>
                <a:spcPts val="0"/>
              </a:spcAft>
              <a:buNone/>
            </a:pPr>
            <a:r>
              <a:t/>
            </a:r>
            <a:endParaRPr sz="1600">
              <a:solidFill>
                <a:schemeClr val="dk2"/>
              </a:solidFill>
            </a:endParaRPr>
          </a:p>
        </p:txBody>
      </p:sp>
      <p:sp>
        <p:nvSpPr>
          <p:cNvPr id="1065" name="Google Shape;1065;p124"/>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r>
              <a:rPr lang="it" sz="1000">
                <a:solidFill>
                  <a:schemeClr val="lt1"/>
                </a:solidFill>
              </a:rPr>
              <a:t>                  </a:t>
            </a:r>
            <a:endParaRPr sz="1000">
              <a:solidFill>
                <a:schemeClr val="lt1"/>
              </a:solidFill>
            </a:endParaRPr>
          </a:p>
        </p:txBody>
      </p:sp>
      <p:sp>
        <p:nvSpPr>
          <p:cNvPr id="1066" name="Google Shape;1066;p124"/>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0" name="Shape 1070"/>
        <p:cNvGrpSpPr/>
        <p:nvPr/>
      </p:nvGrpSpPr>
      <p:grpSpPr>
        <a:xfrm>
          <a:off x="0" y="0"/>
          <a:ext cx="0" cy="0"/>
          <a:chOff x="0" y="0"/>
          <a:chExt cx="0" cy="0"/>
        </a:xfrm>
      </p:grpSpPr>
      <p:sp>
        <p:nvSpPr>
          <p:cNvPr id="1071" name="Google Shape;1071;p125"/>
          <p:cNvSpPr txBox="1"/>
          <p:nvPr/>
        </p:nvSpPr>
        <p:spPr>
          <a:xfrm>
            <a:off x="378900" y="854188"/>
            <a:ext cx="8765100" cy="3635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660"/>
              <a:t>STEADY STATE: very little temporal structure due to the active modification of recruitment</a:t>
            </a:r>
            <a:endParaRPr sz="1660"/>
          </a:p>
          <a:p>
            <a:pPr indent="0" lvl="0" marL="0" rtl="0" algn="l">
              <a:lnSpc>
                <a:spcPct val="130000"/>
              </a:lnSpc>
              <a:spcBef>
                <a:spcPts val="480"/>
              </a:spcBef>
              <a:spcAft>
                <a:spcPts val="0"/>
              </a:spcAft>
              <a:buNone/>
            </a:pPr>
            <a:r>
              <a:rPr lang="it" sz="1660"/>
              <a:t>and of the firing patterns needed to sustain the contraction. No ODA</a:t>
            </a:r>
            <a:endParaRPr sz="1660"/>
          </a:p>
          <a:p>
            <a:pPr indent="0" lvl="0" marL="0" rtl="0" algn="l">
              <a:lnSpc>
                <a:spcPct val="130000"/>
              </a:lnSpc>
              <a:spcBef>
                <a:spcPts val="480"/>
              </a:spcBef>
              <a:spcAft>
                <a:spcPts val="0"/>
              </a:spcAft>
              <a:buNone/>
            </a:pPr>
            <a:r>
              <a:rPr lang="it" sz="1660"/>
              <a:t>TRANSIENT STATE: shows a more deterministic structure, likely due to the orderly recruitment of the Motor Units. ODA algorithm</a:t>
            </a:r>
            <a:endParaRPr sz="1660"/>
          </a:p>
          <a:p>
            <a:pPr indent="0" lvl="0" marL="0" rtl="0" algn="l">
              <a:lnSpc>
                <a:spcPct val="130000"/>
              </a:lnSpc>
              <a:spcBef>
                <a:spcPts val="480"/>
              </a:spcBef>
              <a:spcAft>
                <a:spcPts val="0"/>
              </a:spcAft>
              <a:buNone/>
            </a:pPr>
            <a:r>
              <a:rPr lang="it" sz="1660"/>
              <a:t>In general they can be both used for pattern recognition, by extracting the time and frequency features with ML, or through CNN. Transient is better then steady, and CNN methods are better than machine learning ones as LDA or ECOC classifiers. </a:t>
            </a:r>
            <a:endParaRPr sz="1660"/>
          </a:p>
          <a:p>
            <a:pPr indent="0" lvl="0" marL="0" rtl="0" algn="l">
              <a:lnSpc>
                <a:spcPct val="130000"/>
              </a:lnSpc>
              <a:spcBef>
                <a:spcPts val="480"/>
              </a:spcBef>
              <a:spcAft>
                <a:spcPts val="0"/>
              </a:spcAft>
              <a:buNone/>
            </a:pPr>
            <a:r>
              <a:t/>
            </a:r>
            <a:endParaRPr sz="1660"/>
          </a:p>
          <a:p>
            <a:pPr indent="0" lvl="0" marL="0" rtl="0" algn="l">
              <a:lnSpc>
                <a:spcPct val="130000"/>
              </a:lnSpc>
              <a:spcBef>
                <a:spcPts val="480"/>
              </a:spcBef>
              <a:spcAft>
                <a:spcPts val="0"/>
              </a:spcAft>
              <a:buNone/>
            </a:pPr>
            <a:r>
              <a:t/>
            </a:r>
            <a:endParaRPr sz="1660"/>
          </a:p>
        </p:txBody>
      </p:sp>
      <p:sp>
        <p:nvSpPr>
          <p:cNvPr id="1072" name="Google Shape;1072;p125"/>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chemeClr val="dk1"/>
                </a:solidFill>
              </a:rPr>
              <a:t>skeletal muscle contraction: STEADY AND TRANSIENT</a:t>
            </a:r>
            <a:endParaRPr>
              <a:solidFill>
                <a:schemeClr val="dk1"/>
              </a:solidFill>
            </a:endParaRPr>
          </a:p>
        </p:txBody>
      </p:sp>
      <p:sp>
        <p:nvSpPr>
          <p:cNvPr id="1073" name="Google Shape;1073;p125"/>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7" name="Shape 1077"/>
        <p:cNvGrpSpPr/>
        <p:nvPr/>
      </p:nvGrpSpPr>
      <p:grpSpPr>
        <a:xfrm>
          <a:off x="0" y="0"/>
          <a:ext cx="0" cy="0"/>
          <a:chOff x="0" y="0"/>
          <a:chExt cx="0" cy="0"/>
        </a:xfrm>
      </p:grpSpPr>
      <p:sp>
        <p:nvSpPr>
          <p:cNvPr id="1078" name="Google Shape;1078;p126"/>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solidFill>
                  <a:srgbClr val="0071BC"/>
                </a:solidFill>
              </a:rPr>
              <a:t>Recent trends and challenges of sEMG(2023)</a:t>
            </a:r>
            <a:endParaRPr>
              <a:solidFill>
                <a:schemeClr val="dk1"/>
              </a:solidFill>
            </a:endParaRPr>
          </a:p>
        </p:txBody>
      </p:sp>
      <p:sp>
        <p:nvSpPr>
          <p:cNvPr id="1079" name="Google Shape;1079;p126"/>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080" name="Google Shape;1080;p126"/>
          <p:cNvSpPr txBox="1"/>
          <p:nvPr/>
        </p:nvSpPr>
        <p:spPr>
          <a:xfrm>
            <a:off x="311700" y="787200"/>
            <a:ext cx="8520600" cy="41412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100"/>
              <a:t>sEMG signals offer reasonably high signal-to-noise ratio in comparison of other biosignals. This documentation give a comparison with visual-based control, EEG-based control and controlling action via movements of the eye, and voice control. When compared to voice control, sEMG control has just a minor delay. Furthermore, sEMG control is robust to and insensitive to changes in ambient sound.</a:t>
            </a:r>
            <a:endParaRPr sz="1100"/>
          </a:p>
          <a:p>
            <a:pPr indent="0" lvl="0" marL="0" rtl="0" algn="l">
              <a:lnSpc>
                <a:spcPct val="130000"/>
              </a:lnSpc>
              <a:spcBef>
                <a:spcPts val="480"/>
              </a:spcBef>
              <a:spcAft>
                <a:spcPts val="0"/>
              </a:spcAft>
              <a:buNone/>
            </a:pPr>
            <a:r>
              <a:rPr lang="it" sz="1100"/>
              <a:t>In general, sEMG feature extraction can be categorized into three methods: (1) time domain, (2) frequency domain, and (2) time–frequency domain. Common time domain features include Mean Absolute Value, Mean Absolute Value Slope, Zero Crossings, Slope Sign Changes, Waveform Length, Root Mean Square, Histogram, etc.</a:t>
            </a:r>
            <a:endParaRPr sz="1100"/>
          </a:p>
          <a:p>
            <a:pPr indent="0" lvl="0" marL="0" rtl="0" algn="l">
              <a:lnSpc>
                <a:spcPct val="130000"/>
              </a:lnSpc>
              <a:spcBef>
                <a:spcPts val="480"/>
              </a:spcBef>
              <a:spcAft>
                <a:spcPts val="0"/>
              </a:spcAft>
              <a:buNone/>
            </a:pPr>
            <a:r>
              <a:rPr lang="it" sz="1100"/>
              <a:t>most of the frequency domain features are normally based on the signal's power spectral density (PSD). Frequency domain features include mean frequency, median frequency, peak frequency, mean power, total power, the 1st, 2nd, and 3rd spectral moments, frequency ratio, power spectrum ratio, the variance of central frequency, etc.</a:t>
            </a:r>
            <a:endParaRPr sz="1100"/>
          </a:p>
          <a:p>
            <a:pPr indent="0" lvl="0" marL="0" rtl="0" algn="l">
              <a:lnSpc>
                <a:spcPct val="130000"/>
              </a:lnSpc>
              <a:spcBef>
                <a:spcPts val="480"/>
              </a:spcBef>
              <a:spcAft>
                <a:spcPts val="0"/>
              </a:spcAft>
              <a:buNone/>
            </a:pPr>
            <a:r>
              <a:rPr lang="it" sz="1100"/>
              <a:t>Time frequency domain features are more advantageous than time and frequency domain features alone. the drawback is that these features require more resources and time for their computation. The features from the time–frequency domain include, but are not limited to, short-time Fourier Transform, wavelet transform, and wavelet packet transform.</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a:p>
            <a:pPr indent="0" lvl="0" marL="0" rtl="0" algn="l">
              <a:lnSpc>
                <a:spcPct val="130000"/>
              </a:lnSpc>
              <a:spcBef>
                <a:spcPts val="480"/>
              </a:spcBef>
              <a:spcAft>
                <a:spcPts val="0"/>
              </a:spcAft>
              <a:buNone/>
            </a:pPr>
            <a:r>
              <a:t/>
            </a:r>
            <a:endParaRPr sz="1100"/>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4" name="Shape 1084"/>
        <p:cNvGrpSpPr/>
        <p:nvPr/>
      </p:nvGrpSpPr>
      <p:grpSpPr>
        <a:xfrm>
          <a:off x="0" y="0"/>
          <a:ext cx="0" cy="0"/>
          <a:chOff x="0" y="0"/>
          <a:chExt cx="0" cy="0"/>
        </a:xfrm>
      </p:grpSpPr>
      <p:sp>
        <p:nvSpPr>
          <p:cNvPr id="1085" name="Google Shape;1085;p127"/>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086" name="Google Shape;1086;p127"/>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Merging motoneuron and postural synergies in prosthetic hand design for natural bionic interfacing</a:t>
            </a:r>
            <a:endParaRPr/>
          </a:p>
        </p:txBody>
      </p:sp>
      <p:sp>
        <p:nvSpPr>
          <p:cNvPr id="1087" name="Google Shape;1087;p127"/>
          <p:cNvSpPr txBox="1"/>
          <p:nvPr/>
        </p:nvSpPr>
        <p:spPr>
          <a:xfrm>
            <a:off x="311700" y="874225"/>
            <a:ext cx="8778900" cy="4021500"/>
          </a:xfrm>
          <a:prstGeom prst="rect">
            <a:avLst/>
          </a:prstGeom>
          <a:noFill/>
          <a:ln>
            <a:noFill/>
          </a:ln>
        </p:spPr>
        <p:txBody>
          <a:bodyPr anchorCtr="0" anchor="t" bIns="91425" lIns="91425" spcFirstLastPara="1" rIns="91425" wrap="square" tIns="91425">
            <a:noAutofit/>
          </a:bodyPr>
          <a:lstStyle/>
          <a:p>
            <a:pPr indent="0" lvl="0" marL="342900" rtl="0" algn="l">
              <a:lnSpc>
                <a:spcPct val="130000"/>
              </a:lnSpc>
              <a:spcBef>
                <a:spcPts val="480"/>
              </a:spcBef>
              <a:spcAft>
                <a:spcPts val="0"/>
              </a:spcAft>
              <a:buNone/>
            </a:pPr>
            <a:r>
              <a:rPr lang="it" sz="1360"/>
              <a:t>different from the traditional designs, multisynergistic soft robotic hands would permit the continuous mapping of different grasp patterns and their transitions. the adaptive implementation of kinematic templates in the interaction with objects, through the softness </a:t>
            </a:r>
            <a:r>
              <a:rPr lang="it" sz="1360"/>
              <a:t>property, is key to providing versatile grasping patterns. It is simpler to do continuous proportional control strategies than for fully actuated systems. But in order to do this the modular organization of neural variables should be matched with the postural synergistic structure of the robotic limb. </a:t>
            </a:r>
            <a:endParaRPr sz="1360"/>
          </a:p>
          <a:p>
            <a:pPr indent="0" lvl="0" marL="342900" rtl="0" algn="l">
              <a:lnSpc>
                <a:spcPct val="130000"/>
              </a:lnSpc>
              <a:spcBef>
                <a:spcPts val="480"/>
              </a:spcBef>
              <a:spcAft>
                <a:spcPts val="0"/>
              </a:spcAft>
              <a:buNone/>
            </a:pPr>
            <a:r>
              <a:rPr lang="it" sz="1360"/>
              <a:t>The number of spinal MNs is orders of magnitude greater than the number of muscles involved in a motor task. </a:t>
            </a:r>
            <a:endParaRPr sz="1360"/>
          </a:p>
          <a:p>
            <a:pPr indent="0" lvl="0" marL="342900" rtl="0" algn="l">
              <a:lnSpc>
                <a:spcPct val="130000"/>
              </a:lnSpc>
              <a:spcBef>
                <a:spcPts val="480"/>
              </a:spcBef>
              <a:spcAft>
                <a:spcPts val="0"/>
              </a:spcAft>
              <a:buNone/>
            </a:pPr>
            <a:r>
              <a:rPr lang="it" sz="1360"/>
              <a:t>prosthetic hand with two inputs than can change two kinematic synergies. their combo span a similar linear space of postures as those generated by the two first postural synergies observed in human hands. this design allows for the grasp and in hand manipulation of objects of different shapes with almost full hans mobility. Grasping actions can be described by two or three postural synergies which justify the implementation of only two independent actuation signals.  </a:t>
            </a:r>
            <a:endParaRPr sz="1360"/>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1" name="Shape 1091"/>
        <p:cNvGrpSpPr/>
        <p:nvPr/>
      </p:nvGrpSpPr>
      <p:grpSpPr>
        <a:xfrm>
          <a:off x="0" y="0"/>
          <a:ext cx="0" cy="0"/>
          <a:chOff x="0" y="0"/>
          <a:chExt cx="0" cy="0"/>
        </a:xfrm>
      </p:grpSpPr>
      <p:sp>
        <p:nvSpPr>
          <p:cNvPr id="1092" name="Google Shape;1092;p128"/>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093" name="Google Shape;1093;p128"/>
          <p:cNvSpPr txBox="1"/>
          <p:nvPr/>
        </p:nvSpPr>
        <p:spPr>
          <a:xfrm>
            <a:off x="6027725" y="238450"/>
            <a:ext cx="3029700" cy="34455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360"/>
              <a:t>They identified MN synergies in several hand-grasping activities. </a:t>
            </a:r>
            <a:endParaRPr sz="1360"/>
          </a:p>
          <a:p>
            <a:pPr indent="0" lvl="0" marL="0" rtl="0" algn="l">
              <a:lnSpc>
                <a:spcPct val="130000"/>
              </a:lnSpc>
              <a:spcBef>
                <a:spcPts val="480"/>
              </a:spcBef>
              <a:spcAft>
                <a:spcPts val="0"/>
              </a:spcAft>
              <a:buNone/>
            </a:pPr>
            <a:r>
              <a:rPr lang="it" sz="1360"/>
              <a:t>SoftHand Pro-2: 15 joints with flection/extension. One tendon. one revolute joiny at the thumb. fingers are connected through two motors wich are the dof.</a:t>
            </a:r>
            <a:endParaRPr sz="1360"/>
          </a:p>
          <a:p>
            <a:pPr indent="0" lvl="0" marL="0" rtl="0" algn="l">
              <a:lnSpc>
                <a:spcPct val="130000"/>
              </a:lnSpc>
              <a:spcBef>
                <a:spcPts val="480"/>
              </a:spcBef>
              <a:spcAft>
                <a:spcPts val="0"/>
              </a:spcAft>
              <a:buNone/>
            </a:pPr>
            <a:r>
              <a:rPr lang="it" sz="1360"/>
              <a:t>9 participants  </a:t>
            </a:r>
            <a:endParaRPr sz="1360"/>
          </a:p>
        </p:txBody>
      </p:sp>
      <p:pic>
        <p:nvPicPr>
          <p:cNvPr id="1094" name="Google Shape;1094;p128" title="Screenshot from 2025-10-05 12-37-38.png"/>
          <p:cNvPicPr preferRelativeResize="0"/>
          <p:nvPr/>
        </p:nvPicPr>
        <p:blipFill>
          <a:blip r:embed="rId3">
            <a:alphaModFix/>
          </a:blip>
          <a:stretch>
            <a:fillRect/>
          </a:stretch>
        </p:blipFill>
        <p:spPr>
          <a:xfrm>
            <a:off x="289325" y="238438"/>
            <a:ext cx="5317349" cy="2982425"/>
          </a:xfrm>
          <a:prstGeom prst="rect">
            <a:avLst/>
          </a:prstGeom>
          <a:noFill/>
          <a:ln>
            <a:noFill/>
          </a:ln>
        </p:spPr>
      </p:pic>
      <p:sp>
        <p:nvSpPr>
          <p:cNvPr id="1095" name="Google Shape;1095;p128"/>
          <p:cNvSpPr txBox="1"/>
          <p:nvPr/>
        </p:nvSpPr>
        <p:spPr>
          <a:xfrm>
            <a:off x="66875" y="3295875"/>
            <a:ext cx="8990400" cy="12609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360"/>
              <a:t>They identified MN synergies in several hand-grasping activities. </a:t>
            </a:r>
            <a:endParaRPr sz="1360"/>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9" name="Shape 1099"/>
        <p:cNvGrpSpPr/>
        <p:nvPr/>
      </p:nvGrpSpPr>
      <p:grpSpPr>
        <a:xfrm>
          <a:off x="0" y="0"/>
          <a:ext cx="0" cy="0"/>
          <a:chOff x="0" y="0"/>
          <a:chExt cx="0" cy="0"/>
        </a:xfrm>
      </p:grpSpPr>
      <p:sp>
        <p:nvSpPr>
          <p:cNvPr id="1100" name="Google Shape;1100;p129"/>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101" name="Google Shape;1101;p129"/>
          <p:cNvSpPr txBox="1"/>
          <p:nvPr/>
        </p:nvSpPr>
        <p:spPr>
          <a:xfrm>
            <a:off x="6366225" y="109050"/>
            <a:ext cx="2732700" cy="4382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360"/>
              <a:t>They used HD electrodes 192 channels to decompose the </a:t>
            </a:r>
            <a:r>
              <a:rPr lang="it" sz="1360"/>
              <a:t>signal</a:t>
            </a:r>
            <a:r>
              <a:rPr lang="it" sz="1360"/>
              <a:t>. </a:t>
            </a:r>
            <a:endParaRPr sz="1360"/>
          </a:p>
          <a:p>
            <a:pPr indent="0" lvl="0" marL="0" rtl="0" algn="l">
              <a:lnSpc>
                <a:spcPct val="130000"/>
              </a:lnSpc>
              <a:spcBef>
                <a:spcPts val="480"/>
              </a:spcBef>
              <a:spcAft>
                <a:spcPts val="0"/>
              </a:spcAft>
              <a:buNone/>
            </a:pPr>
            <a:r>
              <a:rPr lang="it" sz="1360"/>
              <a:t>- </a:t>
            </a:r>
            <a:r>
              <a:rPr lang="it" sz="1360"/>
              <a:t>NMF( Non negative matrix factorization) extracts the synergies weights (this is a static pattern of connection between a synergy and specific neuromotors, a higher weight on a MN means that that synergy activates it a lot) for each MU.</a:t>
            </a:r>
            <a:endParaRPr sz="1360"/>
          </a:p>
          <a:p>
            <a:pPr indent="0" lvl="0" marL="0" rtl="0" algn="l">
              <a:lnSpc>
                <a:spcPct val="130000"/>
              </a:lnSpc>
              <a:spcBef>
                <a:spcPts val="480"/>
              </a:spcBef>
              <a:spcAft>
                <a:spcPts val="0"/>
              </a:spcAft>
              <a:buNone/>
            </a:pPr>
            <a:r>
              <a:rPr lang="it" sz="1360"/>
              <a:t>- </a:t>
            </a:r>
            <a:r>
              <a:rPr lang="it" sz="1360"/>
              <a:t>Activation Primitive: temporal signal that decided how much a synergy must be activated in a certain moment, it’s the voluntary command of the user. </a:t>
            </a:r>
            <a:endParaRPr sz="1360"/>
          </a:p>
        </p:txBody>
      </p:sp>
      <p:pic>
        <p:nvPicPr>
          <p:cNvPr id="1102" name="Google Shape;1102;p129" title="Screenshot from 2025-10-05 18-12-09.png"/>
          <p:cNvPicPr preferRelativeResize="0"/>
          <p:nvPr/>
        </p:nvPicPr>
        <p:blipFill>
          <a:blip r:embed="rId3">
            <a:alphaModFix/>
          </a:blip>
          <a:stretch>
            <a:fillRect/>
          </a:stretch>
        </p:blipFill>
        <p:spPr>
          <a:xfrm>
            <a:off x="152400" y="152400"/>
            <a:ext cx="6213826" cy="4339054"/>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06" name="Shape 1106"/>
        <p:cNvGrpSpPr/>
        <p:nvPr/>
      </p:nvGrpSpPr>
      <p:grpSpPr>
        <a:xfrm>
          <a:off x="0" y="0"/>
          <a:ext cx="0" cy="0"/>
          <a:chOff x="0" y="0"/>
          <a:chExt cx="0" cy="0"/>
        </a:xfrm>
      </p:grpSpPr>
      <p:sp>
        <p:nvSpPr>
          <p:cNvPr id="1107" name="Google Shape;1107;p130"/>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108" name="Google Shape;1108;p130"/>
          <p:cNvSpPr txBox="1"/>
          <p:nvPr/>
        </p:nvSpPr>
        <p:spPr>
          <a:xfrm>
            <a:off x="6366225" y="0"/>
            <a:ext cx="2777700" cy="43824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360"/>
              <a:t> ABCD: Extraction of motoneuron synergies</a:t>
            </a:r>
            <a:endParaRPr sz="1360"/>
          </a:p>
          <a:p>
            <a:pPr indent="0" lvl="0" marL="0" rtl="0" algn="l">
              <a:lnSpc>
                <a:spcPct val="130000"/>
              </a:lnSpc>
              <a:spcBef>
                <a:spcPts val="480"/>
              </a:spcBef>
              <a:spcAft>
                <a:spcPts val="0"/>
              </a:spcAft>
              <a:buNone/>
            </a:pPr>
            <a:r>
              <a:rPr lang="it" sz="1360"/>
              <a:t>Multiple channels allow for signal decomposition. </a:t>
            </a:r>
            <a:endParaRPr sz="1360"/>
          </a:p>
          <a:p>
            <a:pPr indent="0" lvl="0" marL="0" rtl="0" algn="l">
              <a:lnSpc>
                <a:spcPct val="130000"/>
              </a:lnSpc>
              <a:spcBef>
                <a:spcPts val="480"/>
              </a:spcBef>
              <a:spcAft>
                <a:spcPts val="0"/>
              </a:spcAft>
              <a:buNone/>
            </a:pPr>
            <a:r>
              <a:rPr lang="it" sz="1360"/>
              <a:t>B… EMG decomposition: transform electrical signal in neural signal, so in temporal strikes of the singol MUs. </a:t>
            </a:r>
            <a:endParaRPr sz="1360"/>
          </a:p>
          <a:p>
            <a:pPr indent="0" lvl="0" marL="0" rtl="0" algn="l">
              <a:lnSpc>
                <a:spcPct val="130000"/>
              </a:lnSpc>
              <a:spcBef>
                <a:spcPts val="480"/>
              </a:spcBef>
              <a:spcAft>
                <a:spcPts val="0"/>
              </a:spcAft>
              <a:buNone/>
            </a:pPr>
            <a:r>
              <a:rPr lang="it" sz="1360"/>
              <a:t>C.. Lowpass Filter and Normalize </a:t>
            </a:r>
            <a:endParaRPr sz="1360"/>
          </a:p>
          <a:p>
            <a:pPr indent="0" lvl="0" marL="0" rtl="0" algn="l">
              <a:lnSpc>
                <a:spcPct val="130000"/>
              </a:lnSpc>
              <a:spcBef>
                <a:spcPts val="480"/>
              </a:spcBef>
              <a:spcAft>
                <a:spcPts val="0"/>
              </a:spcAft>
              <a:buNone/>
            </a:pPr>
            <a:r>
              <a:rPr lang="it" sz="1360"/>
              <a:t>D…NMF decompose the signal strikes in two matrices M=WH, W is the synergy weights (shows which MU is involved in each synergy. H is represents the activation Primitive (how much a synergy is activated). </a:t>
            </a:r>
            <a:endParaRPr sz="1360"/>
          </a:p>
        </p:txBody>
      </p:sp>
      <p:pic>
        <p:nvPicPr>
          <p:cNvPr id="1109" name="Google Shape;1109;p130" title="Screenshot from 2025-10-05 18-12-09.png"/>
          <p:cNvPicPr preferRelativeResize="0"/>
          <p:nvPr/>
        </p:nvPicPr>
        <p:blipFill>
          <a:blip r:embed="rId3">
            <a:alphaModFix/>
          </a:blip>
          <a:stretch>
            <a:fillRect/>
          </a:stretch>
        </p:blipFill>
        <p:spPr>
          <a:xfrm>
            <a:off x="152400" y="152400"/>
            <a:ext cx="6213826" cy="433905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3" name="Shape 1113"/>
        <p:cNvGrpSpPr/>
        <p:nvPr/>
      </p:nvGrpSpPr>
      <p:grpSpPr>
        <a:xfrm>
          <a:off x="0" y="0"/>
          <a:ext cx="0" cy="0"/>
          <a:chOff x="0" y="0"/>
          <a:chExt cx="0" cy="0"/>
        </a:xfrm>
      </p:grpSpPr>
      <p:sp>
        <p:nvSpPr>
          <p:cNvPr id="1114" name="Google Shape;1114;p131"/>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115" name="Google Shape;1115;p131"/>
          <p:cNvSpPr txBox="1"/>
          <p:nvPr/>
        </p:nvSpPr>
        <p:spPr>
          <a:xfrm>
            <a:off x="6366225" y="0"/>
            <a:ext cx="2777700" cy="49932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360"/>
              <a:t> AEF: Extraction of Muscolar Synergy </a:t>
            </a:r>
            <a:endParaRPr sz="1360"/>
          </a:p>
          <a:p>
            <a:pPr indent="0" lvl="0" marL="0" rtl="0" algn="l">
              <a:lnSpc>
                <a:spcPct val="130000"/>
              </a:lnSpc>
              <a:spcBef>
                <a:spcPts val="480"/>
              </a:spcBef>
              <a:spcAft>
                <a:spcPts val="0"/>
              </a:spcAft>
              <a:buNone/>
            </a:pPr>
            <a:r>
              <a:rPr lang="it" sz="1360"/>
              <a:t>E..Envelope Extraction and Normalizatiom: extract amplitude of sEMG for each channel </a:t>
            </a:r>
            <a:endParaRPr sz="1360"/>
          </a:p>
          <a:p>
            <a:pPr indent="0" lvl="0" marL="0" rtl="0" algn="l">
              <a:lnSpc>
                <a:spcPct val="130000"/>
              </a:lnSpc>
              <a:spcBef>
                <a:spcPts val="480"/>
              </a:spcBef>
              <a:spcAft>
                <a:spcPts val="0"/>
              </a:spcAft>
              <a:buNone/>
            </a:pPr>
            <a:r>
              <a:rPr lang="it" sz="1360"/>
              <a:t>F.. Apply NMF to those </a:t>
            </a:r>
            <a:r>
              <a:rPr lang="it" sz="1360"/>
              <a:t>amplitude</a:t>
            </a:r>
            <a:r>
              <a:rPr lang="it" sz="1360"/>
              <a:t>. W represents </a:t>
            </a:r>
            <a:r>
              <a:rPr lang="it" sz="1360"/>
              <a:t>muscular</a:t>
            </a:r>
            <a:r>
              <a:rPr lang="it" sz="1360"/>
              <a:t> weights so how much each EMG channel influences a certain synergy. </a:t>
            </a:r>
            <a:endParaRPr sz="1360"/>
          </a:p>
          <a:p>
            <a:pPr indent="0" lvl="0" marL="0" rtl="0" algn="l">
              <a:lnSpc>
                <a:spcPct val="130000"/>
              </a:lnSpc>
              <a:spcBef>
                <a:spcPts val="480"/>
              </a:spcBef>
              <a:spcAft>
                <a:spcPts val="0"/>
              </a:spcAft>
              <a:buNone/>
            </a:pPr>
            <a:r>
              <a:t/>
            </a:r>
            <a:endParaRPr sz="1360"/>
          </a:p>
          <a:p>
            <a:pPr indent="0" lvl="0" marL="0" rtl="0" algn="l">
              <a:lnSpc>
                <a:spcPct val="130000"/>
              </a:lnSpc>
              <a:spcBef>
                <a:spcPts val="480"/>
              </a:spcBef>
              <a:spcAft>
                <a:spcPts val="0"/>
              </a:spcAft>
              <a:buNone/>
            </a:pPr>
            <a:r>
              <a:rPr lang="it" sz="1360"/>
              <a:t>63 MU synergies are the maximum number of mu decomposed in </a:t>
            </a:r>
            <a:r>
              <a:rPr lang="it" sz="1360"/>
              <a:t>their</a:t>
            </a:r>
            <a:r>
              <a:rPr lang="it" sz="1360"/>
              <a:t> pipeline and they are </a:t>
            </a:r>
            <a:r>
              <a:rPr lang="it" sz="1360"/>
              <a:t>sufficient</a:t>
            </a:r>
            <a:r>
              <a:rPr lang="it" sz="1360"/>
              <a:t> to extract neural synergies. </a:t>
            </a:r>
            <a:endParaRPr sz="1360"/>
          </a:p>
        </p:txBody>
      </p:sp>
      <p:pic>
        <p:nvPicPr>
          <p:cNvPr id="1116" name="Google Shape;1116;p131" title="Screenshot from 2025-10-05 18-12-09.png"/>
          <p:cNvPicPr preferRelativeResize="0"/>
          <p:nvPr/>
        </p:nvPicPr>
        <p:blipFill>
          <a:blip r:embed="rId3">
            <a:alphaModFix/>
          </a:blip>
          <a:stretch>
            <a:fillRect/>
          </a:stretch>
        </p:blipFill>
        <p:spPr>
          <a:xfrm>
            <a:off x="152400" y="152400"/>
            <a:ext cx="6213826" cy="4339054"/>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20" name="Shape 1120"/>
        <p:cNvGrpSpPr/>
        <p:nvPr/>
      </p:nvGrpSpPr>
      <p:grpSpPr>
        <a:xfrm>
          <a:off x="0" y="0"/>
          <a:ext cx="0" cy="0"/>
          <a:chOff x="0" y="0"/>
          <a:chExt cx="0" cy="0"/>
        </a:xfrm>
      </p:grpSpPr>
      <p:sp>
        <p:nvSpPr>
          <p:cNvPr id="1121" name="Google Shape;1121;p132"/>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122" name="Google Shape;1122;p132"/>
          <p:cNvSpPr txBox="1"/>
          <p:nvPr/>
        </p:nvSpPr>
        <p:spPr>
          <a:xfrm>
            <a:off x="6366225" y="0"/>
            <a:ext cx="2777700" cy="4557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360"/>
              <a:t> G and H shows how good is the </a:t>
            </a:r>
            <a:r>
              <a:rPr lang="it" sz="1360"/>
              <a:t>reconstruction</a:t>
            </a:r>
            <a:r>
              <a:rPr lang="it" sz="1360"/>
              <a:t>. in particular for the </a:t>
            </a:r>
            <a:r>
              <a:rPr lang="it" sz="1360"/>
              <a:t>muscular</a:t>
            </a:r>
            <a:r>
              <a:rPr lang="it" sz="1360"/>
              <a:t> analysis they use 48 bipolar electrodes. </a:t>
            </a:r>
            <a:endParaRPr sz="1360"/>
          </a:p>
        </p:txBody>
      </p:sp>
      <p:pic>
        <p:nvPicPr>
          <p:cNvPr id="1123" name="Google Shape;1123;p132" title="Screenshot from 2025-10-05 18-12-09.png"/>
          <p:cNvPicPr preferRelativeResize="0"/>
          <p:nvPr/>
        </p:nvPicPr>
        <p:blipFill>
          <a:blip r:embed="rId3">
            <a:alphaModFix/>
          </a:blip>
          <a:stretch>
            <a:fillRect/>
          </a:stretch>
        </p:blipFill>
        <p:spPr>
          <a:xfrm>
            <a:off x="152400" y="152400"/>
            <a:ext cx="6213826" cy="4339054"/>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27" name="Shape 1127"/>
        <p:cNvGrpSpPr/>
        <p:nvPr/>
      </p:nvGrpSpPr>
      <p:grpSpPr>
        <a:xfrm>
          <a:off x="0" y="0"/>
          <a:ext cx="0" cy="0"/>
          <a:chOff x="0" y="0"/>
          <a:chExt cx="0" cy="0"/>
        </a:xfrm>
      </p:grpSpPr>
      <p:sp>
        <p:nvSpPr>
          <p:cNvPr id="1128" name="Google Shape;1128;p133"/>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129" name="Google Shape;1129;p133"/>
          <p:cNvSpPr txBox="1"/>
          <p:nvPr/>
        </p:nvSpPr>
        <p:spPr>
          <a:xfrm>
            <a:off x="4824175" y="0"/>
            <a:ext cx="4319700" cy="4557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rPr lang="it" sz="1360"/>
              <a:t> R2 tell us the minimum number of synergies necessary to capture the majority of the variance. </a:t>
            </a:r>
            <a:endParaRPr sz="1360"/>
          </a:p>
          <a:p>
            <a:pPr indent="0" lvl="0" marL="0" rtl="0" algn="l">
              <a:lnSpc>
                <a:spcPct val="130000"/>
              </a:lnSpc>
              <a:spcBef>
                <a:spcPts val="480"/>
              </a:spcBef>
              <a:spcAft>
                <a:spcPts val="0"/>
              </a:spcAft>
              <a:buNone/>
            </a:pPr>
            <a:r>
              <a:rPr lang="it" sz="1360"/>
              <a:t>The histogram tell us that MNS capture more synergies. Also, computing the degree of orthogonality among pairs of synergies, the MN synergies have a higher degree of ortho than muscle synergies which means that the synergies that they can control are very specific, this allows for particular movement. </a:t>
            </a:r>
            <a:endParaRPr sz="1360"/>
          </a:p>
          <a:p>
            <a:pPr indent="0" lvl="0" marL="0" rtl="0" algn="l">
              <a:lnSpc>
                <a:spcPct val="130000"/>
              </a:lnSpc>
              <a:spcBef>
                <a:spcPts val="480"/>
              </a:spcBef>
              <a:spcAft>
                <a:spcPts val="0"/>
              </a:spcAft>
              <a:buNone/>
            </a:pPr>
            <a:r>
              <a:rPr lang="it" sz="1360"/>
              <a:t>D shows not all MN synergies could be matched with corresponding muscle synergies. </a:t>
            </a:r>
            <a:endParaRPr sz="1360"/>
          </a:p>
        </p:txBody>
      </p:sp>
      <p:pic>
        <p:nvPicPr>
          <p:cNvPr id="1130" name="Google Shape;1130;p133" title="Screenshot from 2025-10-05 19-18-11.png"/>
          <p:cNvPicPr preferRelativeResize="0"/>
          <p:nvPr/>
        </p:nvPicPr>
        <p:blipFill>
          <a:blip r:embed="rId3">
            <a:alphaModFix/>
          </a:blip>
          <a:stretch>
            <a:fillRect/>
          </a:stretch>
        </p:blipFill>
        <p:spPr>
          <a:xfrm>
            <a:off x="384850" y="152400"/>
            <a:ext cx="4187148" cy="4404599"/>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4" name="Shape 1134"/>
        <p:cNvGrpSpPr/>
        <p:nvPr/>
      </p:nvGrpSpPr>
      <p:grpSpPr>
        <a:xfrm>
          <a:off x="0" y="0"/>
          <a:ext cx="0" cy="0"/>
          <a:chOff x="0" y="0"/>
          <a:chExt cx="0" cy="0"/>
        </a:xfrm>
      </p:grpSpPr>
      <p:sp>
        <p:nvSpPr>
          <p:cNvPr id="1135" name="Google Shape;1135;p134"/>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136" name="Google Shape;1136;p134"/>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rPr lang="it"/>
              <a:t>Multiday EMG-Based Classification of Hand Motions</a:t>
            </a:r>
            <a:endParaRPr/>
          </a:p>
          <a:p>
            <a:pPr indent="0" lvl="0" marL="0" rtl="0" algn="ctr">
              <a:spcBef>
                <a:spcPts val="0"/>
              </a:spcBef>
              <a:spcAft>
                <a:spcPts val="0"/>
              </a:spcAft>
              <a:buNone/>
            </a:pPr>
            <a:r>
              <a:rPr lang="it"/>
              <a:t>with Deep Learning Techniques</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p:txBody>
      </p:sp>
      <p:sp>
        <p:nvSpPr>
          <p:cNvPr id="1137" name="Google Shape;1137;p134"/>
          <p:cNvSpPr txBox="1"/>
          <p:nvPr/>
        </p:nvSpPr>
        <p:spPr>
          <a:xfrm>
            <a:off x="311700" y="774450"/>
            <a:ext cx="8387100" cy="21516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60350" lvl="0" marL="342900" rtl="0" algn="l">
              <a:lnSpc>
                <a:spcPct val="130000"/>
              </a:lnSpc>
              <a:spcBef>
                <a:spcPts val="480"/>
              </a:spcBef>
              <a:spcAft>
                <a:spcPts val="0"/>
              </a:spcAft>
              <a:buClr>
                <a:schemeClr val="dk1"/>
              </a:buClr>
              <a:buSzPts val="1100"/>
              <a:buChar char="➔"/>
            </a:pPr>
            <a:r>
              <a:rPr lang="it" sz="1100"/>
              <a:t>This study demonstrated that deep learning techniques outperformed the classical machine learning algorithm using both handcrafted features and raw EMG signals as inputs. The results of intra/intersessions and between-days analyses imply that CNN has the potential to recognize EMG patterns even from raw bipolar EMG data for long-term classification notwithstanding the stochastic nature of the EMG signals.</a:t>
            </a:r>
            <a:endParaRPr sz="1100"/>
          </a:p>
          <a:p>
            <a:pPr indent="-260350" lvl="0" marL="342900" rtl="0" algn="l">
              <a:lnSpc>
                <a:spcPct val="130000"/>
              </a:lnSpc>
              <a:spcBef>
                <a:spcPts val="480"/>
              </a:spcBef>
              <a:spcAft>
                <a:spcPts val="0"/>
              </a:spcAft>
              <a:buClr>
                <a:schemeClr val="dk1"/>
              </a:buClr>
              <a:buSzPts val="1100"/>
              <a:buChar char="➔"/>
            </a:pPr>
            <a:r>
              <a:rPr lang="it" sz="1100"/>
              <a:t>l </a:t>
            </a:r>
            <a:r>
              <a:rPr i="1" lang="it" sz="1100"/>
              <a:t>paper</a:t>
            </a:r>
            <a:r>
              <a:rPr lang="it" sz="1100"/>
              <a:t> di Al-Angari dimostra che, nell'era del </a:t>
            </a:r>
            <a:r>
              <a:rPr i="1" lang="it" sz="1100"/>
              <a:t>Pattern Recognition</a:t>
            </a:r>
            <a:r>
              <a:rPr lang="it" sz="1100"/>
              <a:t> classico (LDA, SVM), i ricercatori erano costretti a dedicare sforzi enormi per trovare il </a:t>
            </a:r>
            <a:r>
              <a:rPr b="1" lang="it" sz="1100"/>
              <a:t>sottinsieme di dati ottimale</a:t>
            </a:r>
            <a:r>
              <a:rPr lang="it" sz="1100"/>
              <a:t> (</a:t>
            </a:r>
            <a:r>
              <a:rPr i="1" lang="it" sz="1100"/>
              <a:t>feature</a:t>
            </a:r>
            <a:r>
              <a:rPr lang="it" sz="1100"/>
              <a:t> e canali) da dare in pasto al classificatore. Questo processo era lento, manuale e basato su calcoli statistici espliciti.</a:t>
            </a:r>
            <a:endParaRPr sz="1100"/>
          </a:p>
          <a:p>
            <a:pPr indent="0" lvl="0" marL="0" rtl="0" algn="l">
              <a:lnSpc>
                <a:spcPct val="130000"/>
              </a:lnSpc>
              <a:spcBef>
                <a:spcPts val="480"/>
              </a:spcBef>
              <a:spcAft>
                <a:spcPts val="0"/>
              </a:spcAft>
              <a:buNone/>
            </a:pPr>
            <a:r>
              <a:t/>
            </a:r>
            <a:endParaRPr sz="1100"/>
          </a:p>
        </p:txBody>
      </p:sp>
      <p:sp>
        <p:nvSpPr>
          <p:cNvPr id="1138" name="Google Shape;1138;p134"/>
          <p:cNvSpPr txBox="1"/>
          <p:nvPr>
            <p:ph type="title"/>
          </p:nvPr>
        </p:nvSpPr>
        <p:spPr>
          <a:xfrm>
            <a:off x="311700" y="292605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rPr lang="it"/>
              <a:t>Deep Learning with Convolutional Neural Networks Applied to Electromyography Data</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p:txBody>
      </p:sp>
      <p:sp>
        <p:nvSpPr>
          <p:cNvPr id="1139" name="Google Shape;1139;p134"/>
          <p:cNvSpPr txBox="1"/>
          <p:nvPr/>
        </p:nvSpPr>
        <p:spPr>
          <a:xfrm>
            <a:off x="378450" y="3276100"/>
            <a:ext cx="8387100" cy="12042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480"/>
              </a:spcBef>
              <a:spcAft>
                <a:spcPts val="0"/>
              </a:spcAft>
              <a:buNone/>
            </a:pPr>
            <a:r>
              <a:t/>
            </a:r>
            <a:endParaRPr sz="1660"/>
          </a:p>
          <a:p>
            <a:pPr indent="-260350" lvl="0" marL="342900" rtl="0" algn="l">
              <a:lnSpc>
                <a:spcPct val="130000"/>
              </a:lnSpc>
              <a:spcBef>
                <a:spcPts val="480"/>
              </a:spcBef>
              <a:spcAft>
                <a:spcPts val="0"/>
              </a:spcAft>
              <a:buClr>
                <a:schemeClr val="dk1"/>
              </a:buClr>
              <a:buSzPts val="1100"/>
              <a:buChar char="➔"/>
            </a:pPr>
            <a:r>
              <a:rPr lang="it" sz="1100"/>
              <a:t>The paper demonstrated that CNNs are highly effective at learning relevant features directly from the complex, high-dimensional EMG data (often treating the signal as a </a:t>
            </a:r>
            <a:r>
              <a:rPr b="1" lang="it" sz="1100"/>
              <a:t>time-channel structure</a:t>
            </a:r>
            <a:r>
              <a:rPr lang="it" sz="1100"/>
              <a:t>). This automatically learned representation proved superior to traditional methods like LDA or SVM using hand-crafted features. achieved high accuracy, particularly on large-scale datasets such as the </a:t>
            </a:r>
            <a:r>
              <a:rPr b="1" lang="it" sz="1100"/>
              <a:t>NinaPro series</a:t>
            </a:r>
            <a:r>
              <a:rPr lang="it" sz="1100"/>
              <a:t>. </a:t>
            </a:r>
            <a:endParaRPr sz="1100"/>
          </a:p>
          <a:p>
            <a:pPr indent="0" lvl="0" marL="0" rtl="0" algn="l">
              <a:lnSpc>
                <a:spcPct val="130000"/>
              </a:lnSpc>
              <a:spcBef>
                <a:spcPts val="480"/>
              </a:spcBef>
              <a:spcAft>
                <a:spcPts val="0"/>
              </a:spcAft>
              <a:buNone/>
            </a:pPr>
            <a:r>
              <a:t/>
            </a:r>
            <a:endParaRPr sz="1100"/>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43" name="Shape 1143"/>
        <p:cNvGrpSpPr/>
        <p:nvPr/>
      </p:nvGrpSpPr>
      <p:grpSpPr>
        <a:xfrm>
          <a:off x="0" y="0"/>
          <a:ext cx="0" cy="0"/>
          <a:chOff x="0" y="0"/>
          <a:chExt cx="0" cy="0"/>
        </a:xfrm>
      </p:grpSpPr>
      <p:sp>
        <p:nvSpPr>
          <p:cNvPr id="1144" name="Google Shape;1144;p135"/>
          <p:cNvSpPr txBox="1"/>
          <p:nvPr/>
        </p:nvSpPr>
        <p:spPr>
          <a:xfrm>
            <a:off x="1217425" y="4556875"/>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solidFill>
                  <a:schemeClr val="lt1"/>
                </a:solidFill>
              </a:rPr>
              <a:t>EMG-DRIVEN HAND GRASP PREDICTION                   </a:t>
            </a:r>
            <a:endParaRPr sz="1000">
              <a:solidFill>
                <a:schemeClr val="lt1"/>
              </a:solidFill>
            </a:endParaRPr>
          </a:p>
        </p:txBody>
      </p:sp>
      <p:sp>
        <p:nvSpPr>
          <p:cNvPr id="1145" name="Google Shape;1145;p135"/>
          <p:cNvSpPr txBox="1"/>
          <p:nvPr>
            <p:ph type="title"/>
          </p:nvPr>
        </p:nvSpPr>
        <p:spPr>
          <a:xfrm>
            <a:off x="311700" y="214500"/>
            <a:ext cx="8520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it"/>
              <a:t>Gesture Recognition Using EMG and DL for prostheses</a:t>
            </a:r>
            <a:endParaRPr/>
          </a:p>
        </p:txBody>
      </p:sp>
      <p:pic>
        <p:nvPicPr>
          <p:cNvPr id="1146" name="Google Shape;1146;p135" title="Screenshot from 2025-10-09 14-37-55.png"/>
          <p:cNvPicPr preferRelativeResize="0"/>
          <p:nvPr/>
        </p:nvPicPr>
        <p:blipFill>
          <a:blip r:embed="rId3">
            <a:alphaModFix/>
          </a:blip>
          <a:stretch>
            <a:fillRect/>
          </a:stretch>
        </p:blipFill>
        <p:spPr>
          <a:xfrm>
            <a:off x="1761525" y="839313"/>
            <a:ext cx="5620951" cy="3464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a sapienza">
  <a:themeElements>
    <a:clrScheme name="">
      <a:dk1>
        <a:srgbClr val="822433"/>
      </a:dk1>
      <a:lt1>
        <a:srgbClr val="FFFFFF"/>
      </a:lt1>
      <a:dk2>
        <a:srgbClr val="822433"/>
      </a:dk2>
      <a:lt2>
        <a:srgbClr val="808080"/>
      </a:lt2>
      <a:accent1>
        <a:srgbClr val="BBE0E3"/>
      </a:accent1>
      <a:accent2>
        <a:srgbClr val="FFFF00"/>
      </a:accent2>
      <a:accent3>
        <a:srgbClr val="FFFFFF"/>
      </a:accent3>
      <a:accent4>
        <a:srgbClr val="6E1D2A"/>
      </a:accent4>
      <a:accent5>
        <a:srgbClr val="DAEDEF"/>
      </a:accent5>
      <a:accent6>
        <a:srgbClr val="E7E700"/>
      </a:accent6>
      <a:hlink>
        <a:srgbClr val="0000FF"/>
      </a:hlink>
      <a:folHlink>
        <a:srgbClr val="FF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